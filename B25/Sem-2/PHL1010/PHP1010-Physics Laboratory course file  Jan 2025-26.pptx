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3200"/>
  <p:notesSz cx="6858000" cy="9144000"/>
  <p:embeddedFontLst>
    <p:embeddedFont>
      <p:font typeface="Book Antiqua"/>
      <p:regular r:id="rId23"/>
      <p:bold r:id="rId24"/>
      <p:italic r:id="rId25"/>
      <p:boldItalic r:id="rId26"/>
    </p:embeddedFont>
    <p:embeddedFont>
      <p:font typeface="Quattrocento Sans"/>
      <p:regular r:id="rId27"/>
      <p:bold r:id="rId28"/>
      <p:italic r:id="rId29"/>
      <p:boldItalic r:id="rId30"/>
    </p:embeddedFont>
    <p:embeddedFont>
      <p:font typeface="Helvetica Neue"/>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g7yLR7NX9DHc8Lae5XhEU/FdXj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4C6E77-F3E5-476C-8E42-A64DBB4C294B}">
  <a:tblStyle styleId="{554C6E77-F3E5-476C-8E42-A64DBB4C294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95E9B5AD-1943-4672-A89F-F14E48F57FD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BookAntiqua-bold.fntdata"/><Relationship Id="rId23" Type="http://schemas.openxmlformats.org/officeDocument/2006/relationships/font" Target="fonts/BookAntiqu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ookAntiqua-boldItalic.fntdata"/><Relationship Id="rId25" Type="http://schemas.openxmlformats.org/officeDocument/2006/relationships/font" Target="fonts/BookAntiqua-italic.fntdata"/><Relationship Id="rId28" Type="http://schemas.openxmlformats.org/officeDocument/2006/relationships/font" Target="fonts/QuattrocentoSans-bold.fntdata"/><Relationship Id="rId27" Type="http://schemas.openxmlformats.org/officeDocument/2006/relationships/font" Target="fonts/Quattrocento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QuattrocentoSans-boldItalic.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3: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4: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6: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7: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8: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d7ae8eeb1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g2ed7ae8eeb1_0_3: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9: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0: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1: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12: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3: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4: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18: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15:notes"/>
          <p:cNvSpPr/>
          <p:nvPr>
            <p:ph idx="2" type="sldImg"/>
          </p:nvPr>
        </p:nvSpPr>
        <p:spPr>
          <a:xfrm>
            <a:off x="685530" y="1143000"/>
            <a:ext cx="54870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3"/>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3"/>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3"/>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4"/>
          <p:cNvSpPr txBox="1"/>
          <p:nvPr>
            <p:ph type="title"/>
          </p:nvPr>
        </p:nvSpPr>
        <p:spPr>
          <a:xfrm>
            <a:off x="838282" y="365126"/>
            <a:ext cx="10516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4"/>
          <p:cNvSpPr txBox="1"/>
          <p:nvPr>
            <p:ph idx="1" type="body"/>
          </p:nvPr>
        </p:nvSpPr>
        <p:spPr>
          <a:xfrm>
            <a:off x="838282" y="1825625"/>
            <a:ext cx="105165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4"/>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4"/>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5"/>
          <p:cNvSpPr txBox="1"/>
          <p:nvPr>
            <p:ph type="title"/>
          </p:nvPr>
        </p:nvSpPr>
        <p:spPr>
          <a:xfrm>
            <a:off x="838282" y="365126"/>
            <a:ext cx="10516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26"/>
          <p:cNvSpPr txBox="1"/>
          <p:nvPr>
            <p:ph type="ctrTitle"/>
          </p:nvPr>
        </p:nvSpPr>
        <p:spPr>
          <a:xfrm>
            <a:off x="914490" y="1122363"/>
            <a:ext cx="103641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subTitle"/>
          </p:nvPr>
        </p:nvSpPr>
        <p:spPr>
          <a:xfrm>
            <a:off x="1524150" y="3602038"/>
            <a:ext cx="91449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3" name="Google Shape;33;p26"/>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6"/>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27"/>
          <p:cNvSpPr txBox="1"/>
          <p:nvPr>
            <p:ph type="title"/>
          </p:nvPr>
        </p:nvSpPr>
        <p:spPr>
          <a:xfrm>
            <a:off x="831933" y="1709739"/>
            <a:ext cx="105165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7"/>
          <p:cNvSpPr txBox="1"/>
          <p:nvPr>
            <p:ph idx="1" type="body"/>
          </p:nvPr>
        </p:nvSpPr>
        <p:spPr>
          <a:xfrm>
            <a:off x="831933" y="4589464"/>
            <a:ext cx="105165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27"/>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8"/>
          <p:cNvSpPr txBox="1"/>
          <p:nvPr>
            <p:ph type="title"/>
          </p:nvPr>
        </p:nvSpPr>
        <p:spPr>
          <a:xfrm>
            <a:off x="838282" y="365126"/>
            <a:ext cx="10516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8"/>
          <p:cNvSpPr txBox="1"/>
          <p:nvPr>
            <p:ph idx="1" type="body"/>
          </p:nvPr>
        </p:nvSpPr>
        <p:spPr>
          <a:xfrm>
            <a:off x="838282" y="1825625"/>
            <a:ext cx="51822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8"/>
          <p:cNvSpPr txBox="1"/>
          <p:nvPr>
            <p:ph idx="2" type="body"/>
          </p:nvPr>
        </p:nvSpPr>
        <p:spPr>
          <a:xfrm>
            <a:off x="6172808" y="1825625"/>
            <a:ext cx="51822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8"/>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9"/>
          <p:cNvSpPr txBox="1"/>
          <p:nvPr>
            <p:ph type="title"/>
          </p:nvPr>
        </p:nvSpPr>
        <p:spPr>
          <a:xfrm>
            <a:off x="839871" y="365126"/>
            <a:ext cx="10516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9"/>
          <p:cNvSpPr txBox="1"/>
          <p:nvPr>
            <p:ph idx="1" type="body"/>
          </p:nvPr>
        </p:nvSpPr>
        <p:spPr>
          <a:xfrm>
            <a:off x="839872" y="1681163"/>
            <a:ext cx="51582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9"/>
          <p:cNvSpPr txBox="1"/>
          <p:nvPr>
            <p:ph idx="2" type="body"/>
          </p:nvPr>
        </p:nvSpPr>
        <p:spPr>
          <a:xfrm>
            <a:off x="839872" y="2505075"/>
            <a:ext cx="51582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9"/>
          <p:cNvSpPr txBox="1"/>
          <p:nvPr>
            <p:ph idx="3" type="body"/>
          </p:nvPr>
        </p:nvSpPr>
        <p:spPr>
          <a:xfrm>
            <a:off x="6172808" y="1681163"/>
            <a:ext cx="51837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9"/>
          <p:cNvSpPr txBox="1"/>
          <p:nvPr>
            <p:ph idx="4" type="body"/>
          </p:nvPr>
        </p:nvSpPr>
        <p:spPr>
          <a:xfrm>
            <a:off x="6172808" y="2505075"/>
            <a:ext cx="51837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9"/>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839871" y="457200"/>
            <a:ext cx="39327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 type="body"/>
          </p:nvPr>
        </p:nvSpPr>
        <p:spPr>
          <a:xfrm>
            <a:off x="5183698" y="987426"/>
            <a:ext cx="61728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0"/>
          <p:cNvSpPr txBox="1"/>
          <p:nvPr>
            <p:ph idx="2" type="body"/>
          </p:nvPr>
        </p:nvSpPr>
        <p:spPr>
          <a:xfrm>
            <a:off x="839871" y="2057400"/>
            <a:ext cx="39327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0"/>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839871" y="457200"/>
            <a:ext cx="39327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p:nvPr>
            <p:ph idx="2" type="pic"/>
          </p:nvPr>
        </p:nvSpPr>
        <p:spPr>
          <a:xfrm>
            <a:off x="5183698" y="987426"/>
            <a:ext cx="6172800" cy="4873500"/>
          </a:xfrm>
          <a:prstGeom prst="rect">
            <a:avLst/>
          </a:prstGeom>
          <a:noFill/>
          <a:ln>
            <a:noFill/>
          </a:ln>
        </p:spPr>
      </p:sp>
      <p:sp>
        <p:nvSpPr>
          <p:cNvPr id="68" name="Google Shape;68;p31"/>
          <p:cNvSpPr txBox="1"/>
          <p:nvPr>
            <p:ph idx="1" type="body"/>
          </p:nvPr>
        </p:nvSpPr>
        <p:spPr>
          <a:xfrm>
            <a:off x="839871" y="2057400"/>
            <a:ext cx="39327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1"/>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1"/>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1"/>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838282" y="365126"/>
            <a:ext cx="10516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 type="body"/>
          </p:nvPr>
        </p:nvSpPr>
        <p:spPr>
          <a:xfrm rot="5400000">
            <a:off x="3921068" y="-1257025"/>
            <a:ext cx="4351200" cy="10516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2"/>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7134368" y="1956475"/>
            <a:ext cx="5811900" cy="2629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rot="5400000">
            <a:off x="1799794" y="-596525"/>
            <a:ext cx="5811900" cy="7735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3"/>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3"/>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84" name="Shape 84"/>
        <p:cNvGrpSpPr/>
        <p:nvPr/>
      </p:nvGrpSpPr>
      <p:grpSpPr>
        <a:xfrm>
          <a:off x="0" y="0"/>
          <a:ext cx="0" cy="0"/>
          <a:chOff x="0" y="0"/>
          <a:chExt cx="0" cy="0"/>
        </a:xfrm>
      </p:grpSpPr>
      <p:sp>
        <p:nvSpPr>
          <p:cNvPr id="85" name="Google Shape;85;g2ee9050d812_0_49"/>
          <p:cNvSpPr/>
          <p:nvPr/>
        </p:nvSpPr>
        <p:spPr>
          <a:xfrm>
            <a:off x="256057" y="265176"/>
            <a:ext cx="11683800" cy="6332400"/>
          </a:xfrm>
          <a:prstGeom prst="rect">
            <a:avLst/>
          </a:prstGeom>
          <a:solidFill>
            <a:srgbClr val="F5F5F5"/>
          </a:solid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86" name="Google Shape;86;g2ee9050d812_0_49"/>
          <p:cNvCxnSpPr/>
          <p:nvPr/>
        </p:nvCxnSpPr>
        <p:spPr>
          <a:xfrm>
            <a:off x="604493" y="1196392"/>
            <a:ext cx="10984200" cy="0"/>
          </a:xfrm>
          <a:prstGeom prst="straightConnector1">
            <a:avLst/>
          </a:prstGeom>
          <a:noFill/>
          <a:ln cap="flat" cmpd="sng" w="25400">
            <a:solidFill>
              <a:srgbClr val="D24726"/>
            </a:solidFill>
            <a:prstDash val="solid"/>
            <a:miter lim="800000"/>
            <a:headEnd len="sm" w="sm" type="none"/>
            <a:tailEnd len="sm" w="sm" type="none"/>
          </a:ln>
        </p:spPr>
      </p:cxnSp>
      <p:sp>
        <p:nvSpPr>
          <p:cNvPr id="87" name="Google Shape;87;g2ee9050d812_0_49"/>
          <p:cNvSpPr txBox="1"/>
          <p:nvPr>
            <p:ph type="title"/>
          </p:nvPr>
        </p:nvSpPr>
        <p:spPr>
          <a:xfrm>
            <a:off x="521258" y="448056"/>
            <a:ext cx="6877800" cy="64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A3838"/>
              </a:buClr>
              <a:buSzPts val="2800"/>
              <a:buFont typeface="Quattrocento Sans"/>
              <a:buNone/>
              <a:defRPr sz="2800">
                <a:solidFill>
                  <a:srgbClr val="3A383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2ee9050d812_0_49"/>
          <p:cNvSpPr txBox="1"/>
          <p:nvPr>
            <p:ph idx="1" type="body"/>
          </p:nvPr>
        </p:nvSpPr>
        <p:spPr>
          <a:xfrm>
            <a:off x="539549" y="1435608"/>
            <a:ext cx="4417200" cy="3977700"/>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rgbClr val="3F3F3F"/>
              </a:buClr>
              <a:buSzPts val="1200"/>
              <a:buFont typeface="Quattrocento Sans"/>
              <a:buNone/>
              <a:defRPr sz="1200">
                <a:solidFill>
                  <a:srgbClr val="3F3F3F"/>
                </a:solidFill>
              </a:defRPr>
            </a:lvl1pPr>
            <a:lvl2pPr indent="-304800" lvl="1" marL="914400" algn="l">
              <a:lnSpc>
                <a:spcPct val="150000"/>
              </a:lnSpc>
              <a:spcBef>
                <a:spcPts val="1200"/>
              </a:spcBef>
              <a:spcAft>
                <a:spcPts val="0"/>
              </a:spcAft>
              <a:buClr>
                <a:srgbClr val="3F3F3F"/>
              </a:buClr>
              <a:buSzPts val="1200"/>
              <a:buChar char="•"/>
              <a:defRPr sz="1200">
                <a:solidFill>
                  <a:srgbClr val="3F3F3F"/>
                </a:solidFill>
              </a:defRPr>
            </a:lvl2pPr>
            <a:lvl3pPr indent="-304800" lvl="2" marL="1371600" algn="l">
              <a:lnSpc>
                <a:spcPct val="150000"/>
              </a:lnSpc>
              <a:spcBef>
                <a:spcPts val="1200"/>
              </a:spcBef>
              <a:spcAft>
                <a:spcPts val="0"/>
              </a:spcAft>
              <a:buClr>
                <a:srgbClr val="3F3F3F"/>
              </a:buClr>
              <a:buSzPts val="1200"/>
              <a:buChar char="•"/>
              <a:defRPr sz="1200">
                <a:solidFill>
                  <a:srgbClr val="3F3F3F"/>
                </a:solidFill>
              </a:defRPr>
            </a:lvl3pPr>
            <a:lvl4pPr indent="-304800" lvl="3" marL="1828800" algn="l">
              <a:lnSpc>
                <a:spcPct val="150000"/>
              </a:lnSpc>
              <a:spcBef>
                <a:spcPts val="1200"/>
              </a:spcBef>
              <a:spcAft>
                <a:spcPts val="0"/>
              </a:spcAft>
              <a:buClr>
                <a:srgbClr val="3F3F3F"/>
              </a:buClr>
              <a:buSzPts val="1200"/>
              <a:buChar char="•"/>
              <a:defRPr sz="1200">
                <a:solidFill>
                  <a:srgbClr val="3F3F3F"/>
                </a:solidFill>
              </a:defRPr>
            </a:lvl4pPr>
            <a:lvl5pPr indent="-304800" lvl="4" marL="2286000" algn="l">
              <a:lnSpc>
                <a:spcPct val="150000"/>
              </a:lnSpc>
              <a:spcBef>
                <a:spcPts val="1200"/>
              </a:spcBef>
              <a:spcAft>
                <a:spcPts val="0"/>
              </a:spcAft>
              <a:buClr>
                <a:srgbClr val="3F3F3F"/>
              </a:buClr>
              <a:buSzPts val="1200"/>
              <a:buChar char="•"/>
              <a:defRPr sz="1200">
                <a:solidFill>
                  <a:srgbClr val="3F3F3F"/>
                </a:solidFill>
              </a:defRPr>
            </a:lvl5pPr>
            <a:lvl6pPr indent="-342900" lvl="5" marL="2743200" algn="l">
              <a:lnSpc>
                <a:spcPct val="150000"/>
              </a:lnSpc>
              <a:spcBef>
                <a:spcPts val="1200"/>
              </a:spcBef>
              <a:spcAft>
                <a:spcPts val="0"/>
              </a:spcAft>
              <a:buClr>
                <a:schemeClr val="dk1"/>
              </a:buClr>
              <a:buSzPts val="1800"/>
              <a:buChar char="•"/>
              <a:defRPr/>
            </a:lvl6pPr>
            <a:lvl7pPr indent="-342900" lvl="6" marL="3200400" algn="l">
              <a:lnSpc>
                <a:spcPct val="150000"/>
              </a:lnSpc>
              <a:spcBef>
                <a:spcPts val="1200"/>
              </a:spcBef>
              <a:spcAft>
                <a:spcPts val="0"/>
              </a:spcAft>
              <a:buClr>
                <a:schemeClr val="dk1"/>
              </a:buClr>
              <a:buSzPts val="1800"/>
              <a:buChar char="•"/>
              <a:defRPr/>
            </a:lvl7pPr>
            <a:lvl8pPr indent="-342900" lvl="7" marL="3657600" algn="l">
              <a:lnSpc>
                <a:spcPct val="150000"/>
              </a:lnSpc>
              <a:spcBef>
                <a:spcPts val="1200"/>
              </a:spcBef>
              <a:spcAft>
                <a:spcPts val="0"/>
              </a:spcAft>
              <a:buClr>
                <a:schemeClr val="dk1"/>
              </a:buClr>
              <a:buSzPts val="1800"/>
              <a:buChar char="•"/>
              <a:defRPr/>
            </a:lvl8pPr>
            <a:lvl9pPr indent="-228600" lvl="8" marL="4114800" algn="l">
              <a:lnSpc>
                <a:spcPct val="90000"/>
              </a:lnSpc>
              <a:spcBef>
                <a:spcPts val="1200"/>
              </a:spcBef>
              <a:spcAft>
                <a:spcPts val="0"/>
              </a:spcAft>
              <a:buClr>
                <a:schemeClr val="dk1"/>
              </a:buClr>
              <a:buSzPts val="1800"/>
              <a:buNone/>
              <a:defRPr/>
            </a:lvl9pPr>
          </a:lstStyle>
          <a:p/>
        </p:txBody>
      </p:sp>
      <p:sp>
        <p:nvSpPr>
          <p:cNvPr id="89" name="Google Shape;89;g2ee9050d812_0_49"/>
          <p:cNvSpPr txBox="1"/>
          <p:nvPr>
            <p:ph idx="10" type="dt"/>
          </p:nvPr>
        </p:nvSpPr>
        <p:spPr>
          <a:xfrm>
            <a:off x="539549" y="6203952"/>
            <a:ext cx="3277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2ee9050d812_0_49"/>
          <p:cNvSpPr txBox="1"/>
          <p:nvPr>
            <p:ph idx="11" type="ftr"/>
          </p:nvPr>
        </p:nvSpPr>
        <p:spPr>
          <a:xfrm>
            <a:off x="4648658" y="6203952"/>
            <a:ext cx="28959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2ee9050d812_0_49"/>
          <p:cNvSpPr txBox="1"/>
          <p:nvPr>
            <p:ph idx="12" type="sldNum"/>
          </p:nvPr>
        </p:nvSpPr>
        <p:spPr>
          <a:xfrm>
            <a:off x="8372750" y="6203952"/>
            <a:ext cx="3277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595959"/>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82" y="365126"/>
            <a:ext cx="105165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2"/>
          <p:cNvSpPr txBox="1"/>
          <p:nvPr>
            <p:ph idx="1" type="body"/>
          </p:nvPr>
        </p:nvSpPr>
        <p:spPr>
          <a:xfrm>
            <a:off x="838282" y="1825625"/>
            <a:ext cx="105165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838283" y="6356351"/>
            <a:ext cx="27435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4038997" y="6356351"/>
            <a:ext cx="4115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8611448" y="6356351"/>
            <a:ext cx="27435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nvSpPr>
        <p:spPr>
          <a:xfrm>
            <a:off x="1591285" y="2700416"/>
            <a:ext cx="9239700" cy="750000"/>
          </a:xfrm>
          <a:prstGeom prst="rect">
            <a:avLst/>
          </a:prstGeom>
          <a:noFill/>
          <a:ln>
            <a:noFill/>
          </a:ln>
        </p:spPr>
        <p:txBody>
          <a:bodyPr anchorCtr="0" anchor="ctr" bIns="25700" lIns="51425" spcFirstLastPara="1" rIns="51425" wrap="square" tIns="25700">
            <a:noAutofit/>
          </a:bodyPr>
          <a:lstStyle/>
          <a:p>
            <a:pPr indent="0" lvl="0" marL="0" marR="0" rtl="0" algn="ctr">
              <a:lnSpc>
                <a:spcPct val="90000"/>
              </a:lnSpc>
              <a:spcBef>
                <a:spcPts val="0"/>
              </a:spcBef>
              <a:spcAft>
                <a:spcPts val="0"/>
              </a:spcAft>
              <a:buClr>
                <a:srgbClr val="002060"/>
              </a:buClr>
              <a:buSzPts val="4000"/>
              <a:buFont typeface="Arial"/>
              <a:buNone/>
            </a:pPr>
            <a:r>
              <a:rPr b="1" i="0" lang="en-IN" sz="4000" u="none" cap="none" strike="noStrike">
                <a:solidFill>
                  <a:srgbClr val="002060"/>
                </a:solidFill>
                <a:latin typeface="Calibri"/>
                <a:ea typeface="Calibri"/>
                <a:cs typeface="Calibri"/>
                <a:sym typeface="Calibri"/>
              </a:rPr>
              <a:t>B. Tech. Ist Year (Semester-II)</a:t>
            </a:r>
            <a:endParaRPr b="0" i="0" sz="1400" u="none" cap="none" strike="noStrike">
              <a:solidFill>
                <a:srgbClr val="000000"/>
              </a:solidFill>
              <a:latin typeface="Arial"/>
              <a:ea typeface="Arial"/>
              <a:cs typeface="Arial"/>
              <a:sym typeface="Arial"/>
            </a:endParaRPr>
          </a:p>
        </p:txBody>
      </p:sp>
      <p:sp>
        <p:nvSpPr>
          <p:cNvPr id="97" name="Google Shape;97;p1"/>
          <p:cNvSpPr txBox="1"/>
          <p:nvPr/>
        </p:nvSpPr>
        <p:spPr>
          <a:xfrm>
            <a:off x="1541460" y="674312"/>
            <a:ext cx="8947800" cy="745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Book Antiqua"/>
              <a:buNone/>
            </a:pPr>
            <a:r>
              <a:rPr b="1" i="0" lang="en-IN" sz="3600" u="none" cap="none" strike="noStrike">
                <a:solidFill>
                  <a:schemeClr val="dk1"/>
                </a:solidFill>
                <a:latin typeface="Book Antiqua"/>
                <a:ea typeface="Book Antiqua"/>
                <a:cs typeface="Book Antiqua"/>
                <a:sym typeface="Book Antiqua"/>
              </a:rPr>
              <a:t>Physics Laboratory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800"/>
              <a:buFont typeface="Book Antiqua"/>
              <a:buNone/>
            </a:pPr>
            <a:r>
              <a:rPr b="1" i="0" lang="en-IN" sz="2800" u="none" cap="none" strike="noStrike">
                <a:solidFill>
                  <a:schemeClr val="dk1"/>
                </a:solidFill>
                <a:latin typeface="Book Antiqua"/>
                <a:ea typeface="Book Antiqua"/>
                <a:cs typeface="Book Antiqua"/>
                <a:sym typeface="Book Antiqua"/>
              </a:rPr>
              <a:t>[PHP1010]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600"/>
              <a:buFont typeface="Calibri"/>
              <a:buNone/>
            </a:pPr>
            <a:r>
              <a:t/>
            </a:r>
            <a:endParaRPr b="1" i="0" sz="3600" u="none" cap="none" strike="noStrike">
              <a:solidFill>
                <a:schemeClr val="dk1"/>
              </a:solidFill>
              <a:latin typeface="Book Antiqua"/>
              <a:ea typeface="Book Antiqua"/>
              <a:cs typeface="Book Antiqua"/>
              <a:sym typeface="Book Antiqua"/>
            </a:endParaRPr>
          </a:p>
        </p:txBody>
      </p:sp>
      <p:sp>
        <p:nvSpPr>
          <p:cNvPr id="98" name="Google Shape;98;p1"/>
          <p:cNvSpPr txBox="1"/>
          <p:nvPr/>
        </p:nvSpPr>
        <p:spPr>
          <a:xfrm>
            <a:off x="2667263" y="5419206"/>
            <a:ext cx="6858600" cy="843000"/>
          </a:xfrm>
          <a:prstGeom prst="rect">
            <a:avLst/>
          </a:prstGeom>
          <a:noFill/>
          <a:ln>
            <a:noFill/>
          </a:ln>
        </p:spPr>
        <p:txBody>
          <a:bodyPr anchorCtr="0" anchor="ctr" bIns="25700" lIns="51425" spcFirstLastPara="1" rIns="51425" wrap="square" tIns="25700">
            <a:noAutofit/>
          </a:bodyPr>
          <a:lstStyle/>
          <a:p>
            <a:pPr indent="0" lvl="0" marL="0" marR="0" rtl="0" algn="ctr">
              <a:lnSpc>
                <a:spcPct val="90000"/>
              </a:lnSpc>
              <a:spcBef>
                <a:spcPts val="0"/>
              </a:spcBef>
              <a:spcAft>
                <a:spcPts val="0"/>
              </a:spcAft>
              <a:buClr>
                <a:schemeClr val="dk1"/>
              </a:buClr>
              <a:buSzPts val="2250"/>
              <a:buFont typeface="Arial"/>
              <a:buNone/>
            </a:pPr>
            <a:r>
              <a:rPr b="0" i="0" lang="en-IN" sz="2250" u="none" cap="none" strike="noStrike">
                <a:solidFill>
                  <a:schemeClr val="dk1"/>
                </a:solidFill>
                <a:latin typeface="Book Antiqua"/>
                <a:ea typeface="Book Antiqua"/>
                <a:cs typeface="Book Antiqua"/>
                <a:sym typeface="Book Antiqua"/>
              </a:rPr>
              <a:t>Department of Physics</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1000"/>
              </a:spcBef>
              <a:spcAft>
                <a:spcPts val="0"/>
              </a:spcAft>
              <a:buClr>
                <a:schemeClr val="dk1"/>
              </a:buClr>
              <a:buSzPts val="2250"/>
              <a:buFont typeface="Arial"/>
              <a:buNone/>
            </a:pPr>
            <a:r>
              <a:rPr b="0" i="0" lang="en-IN" sz="2250" u="none" cap="none" strike="noStrike">
                <a:solidFill>
                  <a:schemeClr val="dk1"/>
                </a:solidFill>
                <a:latin typeface="Book Antiqua"/>
                <a:ea typeface="Book Antiqua"/>
                <a:cs typeface="Book Antiqua"/>
                <a:sym typeface="Book Antiqua"/>
              </a:rPr>
              <a:t>Indian Institute of Technology Jodhpur</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3163854" y="2094515"/>
            <a:ext cx="5994900" cy="435000"/>
          </a:xfrm>
          <a:prstGeom prst="rect">
            <a:avLst/>
          </a:prstGeom>
          <a:noFill/>
          <a:ln>
            <a:noFill/>
          </a:ln>
        </p:spPr>
        <p:txBody>
          <a:bodyPr anchorCtr="0" anchor="ctr" bIns="25700" lIns="51425" spcFirstLastPara="1" rIns="51425" wrap="square" tIns="25700">
            <a:noAutofit/>
          </a:bodyPr>
          <a:lstStyle/>
          <a:p>
            <a:pPr indent="0" lvl="0" marL="0" marR="0" rtl="0" algn="ctr">
              <a:lnSpc>
                <a:spcPct val="90000"/>
              </a:lnSpc>
              <a:spcBef>
                <a:spcPts val="0"/>
              </a:spcBef>
              <a:spcAft>
                <a:spcPts val="0"/>
              </a:spcAft>
              <a:buClr>
                <a:schemeClr val="dk1"/>
              </a:buClr>
              <a:buSzPts val="1800"/>
              <a:buFont typeface="Arial"/>
              <a:buNone/>
            </a:pPr>
            <a:r>
              <a:rPr b="0" i="0" lang="en-IN" sz="1800" u="none" cap="none" strike="noStrike">
                <a:solidFill>
                  <a:schemeClr val="dk1"/>
                </a:solidFill>
                <a:latin typeface="Calibri"/>
                <a:ea typeface="Calibri"/>
                <a:cs typeface="Calibri"/>
                <a:sym typeface="Calibri"/>
              </a:rPr>
              <a:t>Academic Year 202</a:t>
            </a:r>
            <a:r>
              <a:rPr lang="en-IN" sz="1800">
                <a:solidFill>
                  <a:schemeClr val="dk1"/>
                </a:solidFill>
                <a:latin typeface="Calibri"/>
                <a:ea typeface="Calibri"/>
                <a:cs typeface="Calibri"/>
                <a:sym typeface="Calibri"/>
              </a:rPr>
              <a:t>5-26</a:t>
            </a:r>
            <a:endParaRPr b="0" i="0" sz="1400" u="none" cap="none" strike="noStrike">
              <a:solidFill>
                <a:srgbClr val="000000"/>
              </a:solidFill>
              <a:latin typeface="Arial"/>
              <a:ea typeface="Arial"/>
              <a:cs typeface="Arial"/>
              <a:sym typeface="Arial"/>
            </a:endParaRPr>
          </a:p>
        </p:txBody>
      </p:sp>
      <p:pic>
        <p:nvPicPr>
          <p:cNvPr id="100" name="Google Shape;100;p1"/>
          <p:cNvPicPr preferRelativeResize="0"/>
          <p:nvPr/>
        </p:nvPicPr>
        <p:blipFill rotWithShape="1">
          <a:blip r:embed="rId3">
            <a:alphaModFix/>
          </a:blip>
          <a:srcRect b="8218" l="15138" r="14318" t="9436"/>
          <a:stretch/>
        </p:blipFill>
        <p:spPr>
          <a:xfrm>
            <a:off x="5105000" y="3388799"/>
            <a:ext cx="1958323" cy="20304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graphicFrame>
        <p:nvGraphicFramePr>
          <p:cNvPr id="106" name="Google Shape;106;p2"/>
          <p:cNvGraphicFramePr/>
          <p:nvPr/>
        </p:nvGraphicFramePr>
        <p:xfrm>
          <a:off x="530190" y="605565"/>
          <a:ext cx="3000000" cy="3000000"/>
        </p:xfrm>
        <a:graphic>
          <a:graphicData uri="http://schemas.openxmlformats.org/drawingml/2006/table">
            <a:tbl>
              <a:tblPr>
                <a:noFill/>
                <a:tableStyleId>{554C6E77-F3E5-476C-8E42-A64DBB4C294B}</a:tableStyleId>
              </a:tblPr>
              <a:tblGrid>
                <a:gridCol w="1413300"/>
                <a:gridCol w="806525"/>
                <a:gridCol w="858975"/>
                <a:gridCol w="930675"/>
                <a:gridCol w="907525"/>
                <a:gridCol w="908725"/>
                <a:gridCol w="861800"/>
                <a:gridCol w="1038675"/>
                <a:gridCol w="1038675"/>
                <a:gridCol w="1038675"/>
                <a:gridCol w="952125"/>
              </a:tblGrid>
              <a:tr h="282275">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t> </a:t>
                      </a:r>
                      <a:endParaRPr b="1" i="0" sz="1600" u="none" cap="none" strike="noStrike">
                        <a:solidFill>
                          <a:srgbClr val="000000"/>
                        </a:solidFill>
                        <a:latin typeface="Book Antiqua"/>
                        <a:ea typeface="Book Antiqua"/>
                        <a:cs typeface="Book Antiqua"/>
                        <a:sym typeface="Book Antiqua"/>
                      </a:endParaRPr>
                    </a:p>
                  </a:txBody>
                  <a:tcPr marT="5375" marB="0" marR="5375" marL="5375" anchor="ctr"/>
                </a:tc>
                <a:tc gridSpan="2">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Mon</a:t>
                      </a:r>
                      <a:endParaRPr b="1" i="0" sz="1600" u="none" cap="none" strike="noStrike">
                        <a:solidFill>
                          <a:srgbClr val="000000"/>
                        </a:solidFill>
                        <a:latin typeface="Book Antiqua"/>
                        <a:ea typeface="Book Antiqua"/>
                        <a:cs typeface="Book Antiqua"/>
                        <a:sym typeface="Book Antiqua"/>
                      </a:endParaRPr>
                    </a:p>
                  </a:txBody>
                  <a:tcPr marT="5375" marB="0" marR="5375" marL="5375" anchor="ctr">
                    <a:lnB cap="flat" cmpd="sng" w="12700">
                      <a:solidFill>
                        <a:schemeClr val="lt1"/>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t>TUE</a:t>
                      </a:r>
                      <a:endParaRPr b="1" i="0" sz="1600" u="none" cap="none" strike="noStrike">
                        <a:solidFill>
                          <a:srgbClr val="000000"/>
                        </a:solidFill>
                        <a:latin typeface="Book Antiqua"/>
                        <a:ea typeface="Book Antiqua"/>
                        <a:cs typeface="Book Antiqua"/>
                        <a:sym typeface="Book Antiqua"/>
                      </a:endParaRPr>
                    </a:p>
                  </a:txBody>
                  <a:tcPr marT="5375" marB="0" marR="5375" marL="5375" anchor="ctr"/>
                </a:tc>
                <a:tc hMerge="1"/>
                <a:tc gridSpan="2">
                  <a:txBody>
                    <a:bodyPr/>
                    <a:lstStyle/>
                    <a:p>
                      <a:pPr indent="0" lvl="0" marL="0" marR="0" rtl="0" algn="ctr">
                        <a:lnSpc>
                          <a:spcPct val="100000"/>
                        </a:lnSpc>
                        <a:spcBef>
                          <a:spcPts val="0"/>
                        </a:spcBef>
                        <a:spcAft>
                          <a:spcPts val="0"/>
                        </a:spcAft>
                        <a:buClr>
                          <a:srgbClr val="000000"/>
                        </a:buClr>
                        <a:buSzPts val="1600"/>
                        <a:buFont typeface="Arial"/>
                        <a:buNone/>
                      </a:pPr>
                      <a:r>
                        <a:rPr b="1" lang="en-IN" sz="1600">
                          <a:solidFill>
                            <a:srgbClr val="000000"/>
                          </a:solidFill>
                          <a:latin typeface="Book Antiqua"/>
                          <a:ea typeface="Book Antiqua"/>
                          <a:cs typeface="Book Antiqua"/>
                          <a:sym typeface="Book Antiqua"/>
                        </a:rPr>
                        <a:t>WED</a:t>
                      </a:r>
                      <a:endParaRPr b="1" i="0" sz="1600" u="none" cap="none" strike="noStrike">
                        <a:solidFill>
                          <a:srgbClr val="000000"/>
                        </a:solidFill>
                        <a:latin typeface="Book Antiqua"/>
                        <a:ea typeface="Book Antiqua"/>
                        <a:cs typeface="Book Antiqua"/>
                        <a:sym typeface="Book Antiqua"/>
                      </a:endParaRPr>
                    </a:p>
                  </a:txBody>
                  <a:tcPr marT="5375" marB="0" marR="5375" marL="5375" anchor="ctr"/>
                </a:tc>
                <a:tc hMerge="1"/>
                <a:tc gridSpan="2">
                  <a:txBody>
                    <a:bodyPr/>
                    <a:lstStyle/>
                    <a:p>
                      <a:pPr indent="0" lvl="0" marL="0" marR="0" rtl="0" algn="ctr">
                        <a:lnSpc>
                          <a:spcPct val="100000"/>
                        </a:lnSpc>
                        <a:spcBef>
                          <a:spcPts val="0"/>
                        </a:spcBef>
                        <a:spcAft>
                          <a:spcPts val="0"/>
                        </a:spcAft>
                        <a:buNone/>
                      </a:pPr>
                      <a:r>
                        <a:rPr b="1" lang="en-IN" sz="1600">
                          <a:solidFill>
                            <a:srgbClr val="000000"/>
                          </a:solidFill>
                          <a:latin typeface="Book Antiqua"/>
                          <a:ea typeface="Book Antiqua"/>
                          <a:cs typeface="Book Antiqua"/>
                          <a:sym typeface="Book Antiqua"/>
                        </a:rPr>
                        <a:t>THU</a:t>
                      </a:r>
                      <a:endParaRPr b="1" sz="1600" u="none" cap="none" strike="noStrike">
                        <a:solidFill>
                          <a:srgbClr val="000000"/>
                        </a:solidFill>
                        <a:latin typeface="Book Antiqua"/>
                        <a:ea typeface="Book Antiqua"/>
                        <a:cs typeface="Book Antiqua"/>
                        <a:sym typeface="Book Antiqua"/>
                      </a:endParaRPr>
                    </a:p>
                  </a:txBody>
                  <a:tcPr marT="5375" marB="0" marR="5375" marL="5375" anchor="ctr"/>
                </a:tc>
                <a:tc hMerge="1"/>
                <a:tc gridSpan="2">
                  <a:txBody>
                    <a:bodyPr/>
                    <a:lstStyle/>
                    <a:p>
                      <a:pPr indent="0" lvl="0" marL="0" marR="0" rtl="0" algn="ctr">
                        <a:lnSpc>
                          <a:spcPct val="100000"/>
                        </a:lnSpc>
                        <a:spcBef>
                          <a:spcPts val="0"/>
                        </a:spcBef>
                        <a:spcAft>
                          <a:spcPts val="0"/>
                        </a:spcAft>
                        <a:buClr>
                          <a:srgbClr val="000000"/>
                        </a:buClr>
                        <a:buSzPts val="1600"/>
                        <a:buFont typeface="Arial"/>
                        <a:buNone/>
                      </a:pPr>
                      <a:r>
                        <a:rPr b="1" lang="en-IN" sz="1600" u="none" cap="none" strike="noStrike">
                          <a:solidFill>
                            <a:srgbClr val="000000"/>
                          </a:solidFill>
                          <a:latin typeface="Book Antiqua"/>
                          <a:ea typeface="Book Antiqua"/>
                          <a:cs typeface="Book Antiqua"/>
                          <a:sym typeface="Book Antiqua"/>
                        </a:rPr>
                        <a:t>FRI</a:t>
                      </a:r>
                      <a:endParaRPr b="1" i="0" sz="1600" u="none" cap="none" strike="noStrike">
                        <a:solidFill>
                          <a:srgbClr val="000000"/>
                        </a:solidFill>
                        <a:latin typeface="Book Antiqua"/>
                        <a:ea typeface="Book Antiqua"/>
                        <a:cs typeface="Book Antiqua"/>
                        <a:sym typeface="Book Antiqua"/>
                      </a:endParaRPr>
                    </a:p>
                  </a:txBody>
                  <a:tcPr marT="5375" marB="0" marR="5375" marL="5375" anchor="ctr"/>
                </a:tc>
                <a:tc hMerge="1"/>
              </a:tr>
              <a:tr h="747450">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solidFill>
                            <a:srgbClr val="FFFF00"/>
                          </a:solidFill>
                        </a:rPr>
                        <a:t>9:00 AM to 11:00 AM (1)</a:t>
                      </a:r>
                      <a:endParaRPr b="1" i="0" sz="1600" u="none" cap="none" strike="noStrike">
                        <a:solidFill>
                          <a:srgbClr val="FFFF00"/>
                        </a:solidFill>
                        <a:latin typeface="Book Antiqua"/>
                        <a:ea typeface="Book Antiqua"/>
                        <a:cs typeface="Book Antiqua"/>
                        <a:sym typeface="Book Antiqua"/>
                      </a:endParaRPr>
                    </a:p>
                  </a:txBody>
                  <a:tcPr marT="5375" marB="0" marR="5375" marL="5375" anchor="ctr">
                    <a:lnR cap="flat" cmpd="sng" w="12700">
                      <a:solidFill>
                        <a:schemeClr val="lt1"/>
                      </a:solidFill>
                      <a:prstDash val="solid"/>
                      <a:round/>
                      <a:headEnd len="sm" w="sm" type="none"/>
                      <a:tailEnd len="sm" w="sm" type="none"/>
                    </a:lnR>
                    <a:solidFill>
                      <a:srgbClr val="00B0F0"/>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IN"/>
                        <a:t>AD</a:t>
                      </a:r>
                      <a:endParaRPr sz="1400" u="none" cap="none" strike="noStrike"/>
                    </a:p>
                  </a:txBody>
                  <a:tcPr marT="5375" marB="0" marR="5375" marL="53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IN"/>
                        <a:t>AM</a:t>
                      </a:r>
                      <a:endParaRPr/>
                    </a:p>
                  </a:txBody>
                  <a:tcPr marT="5375" marB="0" marR="5375" marL="53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IN"/>
                        <a:t>DK</a:t>
                      </a:r>
                      <a:endParaRPr/>
                    </a:p>
                  </a:txBody>
                  <a:tcPr marT="5375" marB="0" marR="5375" marL="5375" anchor="ctr">
                    <a:lnL cap="flat" cmpd="sng" w="12700">
                      <a:solidFill>
                        <a:schemeClr val="lt1"/>
                      </a:solidFill>
                      <a:prstDash val="solid"/>
                      <a:round/>
                      <a:headEnd len="sm" w="sm" type="none"/>
                      <a:tailEnd len="sm" w="sm" type="none"/>
                    </a:lnL>
                    <a:solidFill>
                      <a:schemeClr val="accent6"/>
                    </a:solidFill>
                  </a:tcPr>
                </a:tc>
                <a:tc>
                  <a:txBody>
                    <a:bodyPr/>
                    <a:lstStyle/>
                    <a:p>
                      <a:pPr indent="0" lvl="0" marL="0" rtl="0" algn="ctr">
                        <a:spcBef>
                          <a:spcPts val="0"/>
                        </a:spcBef>
                        <a:spcAft>
                          <a:spcPts val="0"/>
                        </a:spcAft>
                        <a:buNone/>
                      </a:pPr>
                      <a:r>
                        <a:rPr lang="en-IN"/>
                        <a:t>SS</a:t>
                      </a:r>
                      <a:endParaRPr/>
                    </a:p>
                  </a:txBody>
                  <a:tcPr marT="5375" marB="0" marR="5375" marL="5375" anchor="ctr">
                    <a:solidFill>
                      <a:schemeClr val="accent6"/>
                    </a:solidFill>
                  </a:tcPr>
                </a:tc>
                <a:tc>
                  <a:txBody>
                    <a:bodyPr/>
                    <a:lstStyle/>
                    <a:p>
                      <a:pPr indent="0" lvl="0" marL="0" rtl="0" algn="l">
                        <a:spcBef>
                          <a:spcPts val="0"/>
                        </a:spcBef>
                        <a:spcAft>
                          <a:spcPts val="0"/>
                        </a:spcAft>
                        <a:buNone/>
                      </a:pPr>
                      <a:r>
                        <a:t/>
                      </a:r>
                      <a:endParaRPr/>
                    </a:p>
                  </a:txBody>
                  <a:tcPr marT="5375" marB="0" marR="5375" marL="5375" anchor="ctr">
                    <a:solidFill>
                      <a:srgbClr val="F5F5F5"/>
                    </a:solidFill>
                  </a:tcPr>
                </a:tc>
                <a:tc>
                  <a:txBody>
                    <a:bodyPr/>
                    <a:lstStyle/>
                    <a:p>
                      <a:pPr indent="0" lvl="0" marL="0" rtl="0" algn="l">
                        <a:spcBef>
                          <a:spcPts val="0"/>
                        </a:spcBef>
                        <a:spcAft>
                          <a:spcPts val="0"/>
                        </a:spcAft>
                        <a:buNone/>
                      </a:pPr>
                      <a:r>
                        <a:t/>
                      </a:r>
                      <a:endParaRPr/>
                    </a:p>
                  </a:txBody>
                  <a:tcPr marT="5375" marB="0" marR="5375" marL="5375" anchor="ctr">
                    <a:solidFill>
                      <a:srgbClr val="F5F5F5"/>
                    </a:solidFill>
                  </a:tcPr>
                </a:tc>
                <a:tc>
                  <a:txBody>
                    <a:bodyPr/>
                    <a:lstStyle/>
                    <a:p>
                      <a:pPr indent="0" lvl="0" marL="0" rtl="0" algn="l">
                        <a:spcBef>
                          <a:spcPts val="0"/>
                        </a:spcBef>
                        <a:spcAft>
                          <a:spcPts val="0"/>
                        </a:spcAft>
                        <a:buNone/>
                      </a:pPr>
                      <a:r>
                        <a:t/>
                      </a:r>
                      <a:endParaRPr/>
                    </a:p>
                  </a:txBody>
                  <a:tcPr marT="5375" marB="0" marR="5375" marL="5375" anchor="ctr">
                    <a:solidFill>
                      <a:schemeClr val="lt1"/>
                    </a:solidFill>
                  </a:tcPr>
                </a:tc>
                <a:tc>
                  <a:txBody>
                    <a:bodyPr/>
                    <a:lstStyle/>
                    <a:p>
                      <a:pPr indent="0" lvl="0" marL="0" rtl="0" algn="l">
                        <a:spcBef>
                          <a:spcPts val="0"/>
                        </a:spcBef>
                        <a:spcAft>
                          <a:spcPts val="0"/>
                        </a:spcAft>
                        <a:buNone/>
                      </a:pPr>
                      <a:r>
                        <a:t/>
                      </a:r>
                      <a:endParaRPr/>
                    </a:p>
                  </a:txBody>
                  <a:tcPr marT="5375" marB="0" marR="5375" marL="5375" anchor="ctr">
                    <a:solidFill>
                      <a:schemeClr val="lt1"/>
                    </a:solidFill>
                  </a:tcPr>
                </a:tc>
                <a:tc>
                  <a:txBody>
                    <a:bodyPr/>
                    <a:lstStyle/>
                    <a:p>
                      <a:pPr indent="0" lvl="0" marL="0" rtl="0" algn="l">
                        <a:spcBef>
                          <a:spcPts val="0"/>
                        </a:spcBef>
                        <a:spcAft>
                          <a:spcPts val="0"/>
                        </a:spcAft>
                        <a:buNone/>
                      </a:pPr>
                      <a:r>
                        <a:t/>
                      </a:r>
                      <a:endParaRPr/>
                    </a:p>
                  </a:txBody>
                  <a:tcPr marT="5375" marB="0" marR="5375" marL="5375" anchor="ctr">
                    <a:lnB cap="flat" cmpd="sng" w="12700">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5375" marB="0" marR="5375" marL="5375" anchor="ctr">
                    <a:lnB cap="flat" cmpd="sng" w="12700">
                      <a:solidFill>
                        <a:schemeClr val="lt1"/>
                      </a:solidFill>
                      <a:prstDash val="solid"/>
                      <a:round/>
                      <a:headEnd len="sm" w="sm" type="none"/>
                      <a:tailEnd len="sm" w="sm" type="none"/>
                    </a:lnB>
                    <a:solidFill>
                      <a:schemeClr val="lt1"/>
                    </a:solidFill>
                  </a:tcPr>
                </a:tc>
              </a:tr>
              <a:tr h="759375">
                <a:tc>
                  <a:txBody>
                    <a:bodyPr/>
                    <a:lstStyle/>
                    <a:p>
                      <a:pPr indent="0" lvl="0" marL="0" marR="0" rtl="0" algn="ctr">
                        <a:lnSpc>
                          <a:spcPct val="100000"/>
                        </a:lnSpc>
                        <a:spcBef>
                          <a:spcPts val="0"/>
                        </a:spcBef>
                        <a:spcAft>
                          <a:spcPts val="0"/>
                        </a:spcAft>
                        <a:buClr>
                          <a:srgbClr val="000000"/>
                        </a:buClr>
                        <a:buSzPts val="1600"/>
                        <a:buFont typeface="Arial"/>
                        <a:buNone/>
                      </a:pPr>
                      <a:r>
                        <a:rPr lang="en-IN" sz="1600" u="none" cap="none" strike="noStrike">
                          <a:solidFill>
                            <a:srgbClr val="FFFF00"/>
                          </a:solidFill>
                          <a:latin typeface="Calibri"/>
                          <a:ea typeface="Calibri"/>
                          <a:cs typeface="Calibri"/>
                          <a:sym typeface="Calibri"/>
                        </a:rPr>
                        <a:t>11:00 AM</a:t>
                      </a:r>
                      <a:endParaRPr sz="1400" u="none" cap="none" strike="noStrike"/>
                    </a:p>
                    <a:p>
                      <a:pPr indent="0" lvl="0" marL="0" marR="0" rtl="0" algn="ctr">
                        <a:lnSpc>
                          <a:spcPct val="100000"/>
                        </a:lnSpc>
                        <a:spcBef>
                          <a:spcPts val="0"/>
                        </a:spcBef>
                        <a:spcAft>
                          <a:spcPts val="0"/>
                        </a:spcAft>
                        <a:buClr>
                          <a:srgbClr val="000000"/>
                        </a:buClr>
                        <a:buSzPts val="1600"/>
                        <a:buFont typeface="Arial"/>
                        <a:buNone/>
                      </a:pPr>
                      <a:r>
                        <a:rPr lang="en-IN" sz="1600" u="none" cap="none" strike="noStrike">
                          <a:solidFill>
                            <a:srgbClr val="FFFF00"/>
                          </a:solidFill>
                          <a:latin typeface="Calibri"/>
                          <a:ea typeface="Calibri"/>
                          <a:cs typeface="Calibri"/>
                          <a:sym typeface="Calibri"/>
                        </a:rPr>
                        <a:t>to 1:00 PM (2)</a:t>
                      </a:r>
                      <a:endParaRPr sz="1400" u="none" cap="none" strike="noStrike"/>
                    </a:p>
                  </a:txBody>
                  <a:tcPr marT="5375" marB="0" marR="5375" marL="5375" anchor="ctr">
                    <a:solidFill>
                      <a:srgbClr val="00B0F0"/>
                    </a:solidFill>
                  </a:tcPr>
                </a:tc>
                <a:tc>
                  <a:txBody>
                    <a:bodyPr/>
                    <a:lstStyle/>
                    <a:p>
                      <a:pPr indent="0" lvl="0" marL="0" rtl="0" algn="ctr">
                        <a:spcBef>
                          <a:spcPts val="0"/>
                        </a:spcBef>
                        <a:spcAft>
                          <a:spcPts val="0"/>
                        </a:spcAft>
                        <a:buNone/>
                      </a:pPr>
                      <a:r>
                        <a:rPr lang="en-IN"/>
                        <a:t>BM</a:t>
                      </a:r>
                      <a:endParaRPr/>
                    </a:p>
                  </a:txBody>
                  <a:tcPr marT="5375" marB="0" marR="5375" marL="5375" anchor="ctr">
                    <a:lnT cap="flat" cmpd="sng" w="12700">
                      <a:solidFill>
                        <a:schemeClr val="lt1"/>
                      </a:solidFill>
                      <a:prstDash val="solid"/>
                      <a:round/>
                      <a:headEnd len="sm" w="sm" type="none"/>
                      <a:tailEnd len="sm" w="sm" type="none"/>
                    </a:lnT>
                    <a:solidFill>
                      <a:schemeClr val="accent6"/>
                    </a:solidFill>
                  </a:tcPr>
                </a:tc>
                <a:tc>
                  <a:txBody>
                    <a:bodyPr/>
                    <a:lstStyle/>
                    <a:p>
                      <a:pPr indent="0" lvl="0" marL="0" rtl="0" algn="ctr">
                        <a:spcBef>
                          <a:spcPts val="0"/>
                        </a:spcBef>
                        <a:spcAft>
                          <a:spcPts val="0"/>
                        </a:spcAft>
                        <a:buNone/>
                      </a:pPr>
                      <a:r>
                        <a:rPr lang="en-IN"/>
                        <a:t>DM</a:t>
                      </a:r>
                      <a:endParaRPr/>
                    </a:p>
                  </a:txBody>
                  <a:tcPr marT="5375" marB="0" marR="5375" marL="5375" anchor="ctr">
                    <a:lnT cap="flat" cmpd="sng" w="12700">
                      <a:solidFill>
                        <a:schemeClr val="lt1"/>
                      </a:solidFill>
                      <a:prstDash val="solid"/>
                      <a:round/>
                      <a:headEnd len="sm" w="sm" type="none"/>
                      <a:tailEnd len="sm" w="sm" type="none"/>
                    </a:lnT>
                    <a:solidFill>
                      <a:schemeClr val="accent6"/>
                    </a:solidFill>
                  </a:tcPr>
                </a:tc>
                <a:tc>
                  <a:txBody>
                    <a:bodyPr/>
                    <a:lstStyle/>
                    <a:p>
                      <a:pPr indent="0" lvl="0" marL="0" rtl="0" algn="ctr">
                        <a:spcBef>
                          <a:spcPts val="0"/>
                        </a:spcBef>
                        <a:spcAft>
                          <a:spcPts val="0"/>
                        </a:spcAft>
                        <a:buNone/>
                      </a:pPr>
                      <a:r>
                        <a:rPr lang="en-IN"/>
                        <a:t>LP</a:t>
                      </a:r>
                      <a:endParaRPr/>
                    </a:p>
                  </a:txBody>
                  <a:tcPr marT="5375" marB="0" marR="5375" marL="5375" anchor="ctr">
                    <a:solidFill>
                      <a:schemeClr val="accent6"/>
                    </a:solidFill>
                  </a:tcPr>
                </a:tc>
                <a:tc>
                  <a:txBody>
                    <a:bodyPr/>
                    <a:lstStyle/>
                    <a:p>
                      <a:pPr indent="0" lvl="0" marL="0" rtl="0" algn="ctr">
                        <a:spcBef>
                          <a:spcPts val="0"/>
                        </a:spcBef>
                        <a:spcAft>
                          <a:spcPts val="0"/>
                        </a:spcAft>
                        <a:buNone/>
                      </a:pPr>
                      <a:r>
                        <a:rPr lang="en-IN"/>
                        <a:t>MS</a:t>
                      </a:r>
                      <a:endParaRPr/>
                    </a:p>
                  </a:txBody>
                  <a:tcPr marT="5375" marB="0" marR="5375" marL="5375" anchor="ctr">
                    <a:solidFill>
                      <a:schemeClr val="accent6"/>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a:p>
                  </a:txBody>
                  <a:tcPr marT="5375" marB="0" marR="5375" marL="5375"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a:p>
                  </a:txBody>
                  <a:tcPr marT="5375" marB="0" marR="5375" marL="5375" anchor="ctr"/>
                </a:tc>
                <a:tc>
                  <a:txBody>
                    <a:bodyPr/>
                    <a:lstStyle/>
                    <a:p>
                      <a:pPr indent="0" lvl="0" marL="0" marR="0" rtl="0" algn="ctr">
                        <a:lnSpc>
                          <a:spcPct val="100000"/>
                        </a:lnSpc>
                        <a:spcBef>
                          <a:spcPts val="0"/>
                        </a:spcBef>
                        <a:spcAft>
                          <a:spcPts val="0"/>
                        </a:spcAft>
                        <a:buNone/>
                      </a:pPr>
                      <a:r>
                        <a:rPr lang="en-IN"/>
                        <a:t>NKT</a:t>
                      </a:r>
                      <a:endParaRPr sz="1400" u="none" cap="none" strike="noStrike"/>
                    </a:p>
                  </a:txBody>
                  <a:tcPr marT="5375" marB="0" marR="5375" marL="5375" anchor="ctr">
                    <a:solidFill>
                      <a:schemeClr val="accent6"/>
                    </a:solidFill>
                  </a:tcPr>
                </a:tc>
                <a:tc>
                  <a:txBody>
                    <a:bodyPr/>
                    <a:lstStyle/>
                    <a:p>
                      <a:pPr indent="0" lvl="0" marL="0" rtl="0" algn="ctr">
                        <a:spcBef>
                          <a:spcPts val="0"/>
                        </a:spcBef>
                        <a:spcAft>
                          <a:spcPts val="0"/>
                        </a:spcAft>
                        <a:buNone/>
                      </a:pPr>
                      <a:r>
                        <a:rPr lang="en-IN"/>
                        <a:t>PJ</a:t>
                      </a:r>
                      <a:endParaRPr/>
                    </a:p>
                  </a:txBody>
                  <a:tcPr marT="5375" marB="0" marR="5375" marL="5375" anchor="ctr">
                    <a:lnR cap="flat" cmpd="sng" w="12700">
                      <a:solidFill>
                        <a:schemeClr val="lt1"/>
                      </a:solidFill>
                      <a:prstDash val="solid"/>
                      <a:round/>
                      <a:headEnd len="sm" w="sm" type="none"/>
                      <a:tailEnd len="sm" w="sm" type="none"/>
                    </a:lnR>
                    <a:solidFill>
                      <a:schemeClr val="accent6"/>
                    </a:solidFill>
                  </a:tcPr>
                </a:tc>
                <a:tc>
                  <a:txBody>
                    <a:bodyPr/>
                    <a:lstStyle/>
                    <a:p>
                      <a:pPr indent="0" lvl="0" marL="0" rtl="0" algn="ctr">
                        <a:spcBef>
                          <a:spcPts val="0"/>
                        </a:spcBef>
                        <a:spcAft>
                          <a:spcPts val="0"/>
                        </a:spcAft>
                        <a:buNone/>
                      </a:pPr>
                      <a:r>
                        <a:rPr lang="en-IN"/>
                        <a:t>SKV</a:t>
                      </a:r>
                      <a:endParaRPr/>
                    </a:p>
                  </a:txBody>
                  <a:tcPr marT="5375" marB="0" marR="5375" marL="53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lang="en-IN"/>
                        <a:t>SRV</a:t>
                      </a:r>
                      <a:endParaRPr/>
                    </a:p>
                  </a:txBody>
                  <a:tcPr marT="5375" marB="0" marR="5375" marL="53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6"/>
                    </a:solidFill>
                  </a:tcPr>
                </a:tc>
              </a:tr>
            </a:tbl>
          </a:graphicData>
        </a:graphic>
      </p:graphicFrame>
      <p:sp>
        <p:nvSpPr>
          <p:cNvPr id="107" name="Google Shape;107;p2"/>
          <p:cNvSpPr txBox="1"/>
          <p:nvPr/>
        </p:nvSpPr>
        <p:spPr>
          <a:xfrm>
            <a:off x="6584168" y="2373536"/>
            <a:ext cx="2760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0432FF"/>
                </a:solidFill>
                <a:latin typeface="Calibri"/>
                <a:ea typeface="Calibri"/>
                <a:cs typeface="Calibri"/>
                <a:sym typeface="Calibri"/>
              </a:rPr>
              <a:t>Instructors</a:t>
            </a:r>
            <a:endParaRPr b="0" i="0" sz="1400" u="none" cap="none" strike="noStrike">
              <a:solidFill>
                <a:srgbClr val="000000"/>
              </a:solidFill>
              <a:latin typeface="Arial"/>
              <a:ea typeface="Arial"/>
              <a:cs typeface="Arial"/>
              <a:sym typeface="Arial"/>
            </a:endParaRPr>
          </a:p>
        </p:txBody>
      </p:sp>
      <p:graphicFrame>
        <p:nvGraphicFramePr>
          <p:cNvPr id="108" name="Google Shape;108;p2"/>
          <p:cNvGraphicFramePr/>
          <p:nvPr/>
        </p:nvGraphicFramePr>
        <p:xfrm>
          <a:off x="5462061" y="2742814"/>
          <a:ext cx="3000000" cy="3000000"/>
        </p:xfrm>
        <a:graphic>
          <a:graphicData uri="http://schemas.openxmlformats.org/drawingml/2006/table">
            <a:tbl>
              <a:tblPr>
                <a:noFill/>
                <a:tableStyleId>{554C6E77-F3E5-476C-8E42-A64DBB4C294B}</a:tableStyleId>
              </a:tblPr>
              <a:tblGrid>
                <a:gridCol w="3870700"/>
                <a:gridCol w="1998825"/>
              </a:tblGrid>
              <a:tr h="238575">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C00000"/>
                          </a:solidFill>
                          <a:latin typeface="Calibri"/>
                          <a:ea typeface="Calibri"/>
                          <a:cs typeface="Calibri"/>
                          <a:sym typeface="Calibri"/>
                        </a:rPr>
                        <a:t>Name</a:t>
                      </a:r>
                      <a:endParaRPr b="1" i="0" sz="1600" u="none" cap="none" strike="noStrike">
                        <a:solidFill>
                          <a:srgbClr val="C00000"/>
                        </a:solidFill>
                        <a:latin typeface="Calibri"/>
                        <a:ea typeface="Calibri"/>
                        <a:cs typeface="Calibri"/>
                        <a:sym typeface="Calibri"/>
                      </a:endParaRPr>
                    </a:p>
                  </a:txBody>
                  <a:tcPr marT="7625" marB="0" marR="7625" marL="7625" anchor="b"/>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C00000"/>
                          </a:solidFill>
                        </a:rPr>
                        <a:t>Name Code </a:t>
                      </a:r>
                      <a:endParaRPr b="1" i="0" sz="1600" u="none" cap="none" strike="noStrike">
                        <a:solidFill>
                          <a:srgbClr val="C00000"/>
                        </a:solidFill>
                        <a:latin typeface="Calibri"/>
                        <a:ea typeface="Calibri"/>
                        <a:cs typeface="Calibri"/>
                        <a:sym typeface="Calibri"/>
                      </a:endParaRPr>
                    </a:p>
                  </a:txBody>
                  <a:tcPr marT="7625" marB="0" marR="7625" marL="7625" anchor="b"/>
                </a:tc>
              </a:tr>
              <a:tr h="238575">
                <a:tc>
                  <a:txBody>
                    <a:bodyPr/>
                    <a:lstStyle/>
                    <a:p>
                      <a:pPr indent="0" lvl="0" marL="0" marR="0" rtl="0" algn="l">
                        <a:lnSpc>
                          <a:spcPct val="100000"/>
                        </a:lnSpc>
                        <a:spcBef>
                          <a:spcPts val="0"/>
                        </a:spcBef>
                        <a:spcAft>
                          <a:spcPts val="0"/>
                        </a:spcAft>
                        <a:buClr>
                          <a:schemeClr val="dk1"/>
                        </a:buClr>
                        <a:buSzPts val="1600"/>
                        <a:buFont typeface="Arial"/>
                        <a:buNone/>
                      </a:pPr>
                      <a:r>
                        <a:rPr lang="en-IN" sz="1600" u="none" cap="none" strike="noStrike"/>
                        <a:t>Ambesh Dixit</a:t>
                      </a:r>
                      <a:endParaRPr sz="1600" u="none" cap="none" strike="noStrike"/>
                    </a:p>
                  </a:txBody>
                  <a:tcPr marT="7625" marB="0" marR="7625" marL="7625" anchor="b"/>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t>AD</a:t>
                      </a:r>
                      <a:endParaRPr sz="1600" u="none" cap="none" strike="noStrike"/>
                    </a:p>
                  </a:txBody>
                  <a:tcPr marT="7625" marB="0" marR="7625" marL="7625" anchor="b"/>
                </a:tc>
              </a:tr>
              <a:tr h="238575">
                <a:tc>
                  <a:txBody>
                    <a:bodyPr/>
                    <a:lstStyle/>
                    <a:p>
                      <a:pPr indent="0" lvl="0" marL="0" marR="0" rtl="0" algn="l">
                        <a:lnSpc>
                          <a:spcPct val="100000"/>
                        </a:lnSpc>
                        <a:spcBef>
                          <a:spcPts val="0"/>
                        </a:spcBef>
                        <a:spcAft>
                          <a:spcPts val="0"/>
                        </a:spcAft>
                        <a:buClr>
                          <a:srgbClr val="000000"/>
                        </a:buClr>
                        <a:buSzPts val="1600"/>
                        <a:buFont typeface="Arial"/>
                        <a:buNone/>
                      </a:pPr>
                      <a:r>
                        <a:rPr lang="en-IN" sz="1600"/>
                        <a:t>Sagar Kumar Verma</a:t>
                      </a:r>
                      <a:endParaRPr b="0" i="0" sz="16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IN" sz="1600"/>
                        <a:t>SKV</a:t>
                      </a:r>
                      <a:endParaRPr b="0" i="0" sz="16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r>
              <a:tr h="238575">
                <a:tc>
                  <a:txBody>
                    <a:bodyPr/>
                    <a:lstStyle/>
                    <a:p>
                      <a:pPr indent="0" lvl="0" marL="0" marR="0" rtl="0" algn="l">
                        <a:lnSpc>
                          <a:spcPct val="100000"/>
                        </a:lnSpc>
                        <a:spcBef>
                          <a:spcPts val="0"/>
                        </a:spcBef>
                        <a:spcAft>
                          <a:spcPts val="0"/>
                        </a:spcAft>
                        <a:buClr>
                          <a:srgbClr val="000000"/>
                        </a:buClr>
                        <a:buSzPts val="1600"/>
                        <a:buFont typeface="Arial"/>
                        <a:buNone/>
                      </a:pPr>
                      <a:r>
                        <a:rPr lang="en-IN" sz="1600"/>
                        <a:t>Naveen Kumar Tailor</a:t>
                      </a:r>
                      <a:endParaRPr sz="1400" u="none" cap="none" strike="noStrike"/>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IN" sz="1600">
                          <a:solidFill>
                            <a:srgbClr val="000000"/>
                          </a:solidFill>
                        </a:rPr>
                        <a:t>NKT</a:t>
                      </a:r>
                      <a:endParaRPr b="0" i="0" sz="16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38575">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chemeClr val="dk1"/>
                          </a:solidFill>
                          <a:latin typeface="Calibri"/>
                          <a:ea typeface="Calibri"/>
                          <a:cs typeface="Calibri"/>
                          <a:sym typeface="Calibri"/>
                        </a:rPr>
                        <a:t>B M Krishna Mariserla </a:t>
                      </a:r>
                      <a:endParaRPr sz="1400" u="none" cap="none" strike="noStrike"/>
                    </a:p>
                  </a:txBody>
                  <a:tcPr marT="7625" marB="0" marR="7625" marL="7625" anchor="b">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rgbClr val="000000"/>
                          </a:solidFill>
                          <a:latin typeface="Calibri"/>
                          <a:ea typeface="Calibri"/>
                          <a:cs typeface="Calibri"/>
                          <a:sym typeface="Calibri"/>
                        </a:rPr>
                        <a:t>BM</a:t>
                      </a:r>
                      <a:endParaRPr b="0" i="0" sz="1600" u="none" cap="none" strike="noStrike">
                        <a:solidFill>
                          <a:srgbClr val="000000"/>
                        </a:solidFill>
                        <a:latin typeface="Calibri"/>
                        <a:ea typeface="Calibri"/>
                        <a:cs typeface="Calibri"/>
                        <a:sym typeface="Calibri"/>
                      </a:endParaRPr>
                    </a:p>
                  </a:txBody>
                  <a:tcPr marT="7625" marB="0" marR="7625" marL="7625" anchor="b">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38575">
                <a:tc>
                  <a:txBody>
                    <a:bodyPr/>
                    <a:lstStyle/>
                    <a:p>
                      <a:pPr indent="0" lvl="0" marL="0" marR="0" rtl="0" algn="l">
                        <a:lnSpc>
                          <a:spcPct val="100000"/>
                        </a:lnSpc>
                        <a:spcBef>
                          <a:spcPts val="0"/>
                        </a:spcBef>
                        <a:spcAft>
                          <a:spcPts val="0"/>
                        </a:spcAft>
                        <a:buClr>
                          <a:srgbClr val="000000"/>
                        </a:buClr>
                        <a:buSzPts val="1600"/>
                        <a:buFont typeface="Arial"/>
                        <a:buNone/>
                      </a:pPr>
                      <a:r>
                        <a:rPr lang="en-IN" sz="1600">
                          <a:solidFill>
                            <a:srgbClr val="000000"/>
                          </a:solidFill>
                        </a:rPr>
                        <a:t>Monika Sinha                                              </a:t>
                      </a:r>
                      <a:endParaRPr b="0" i="0" sz="16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Arial"/>
                        <a:buNone/>
                      </a:pPr>
                      <a:r>
                        <a:rPr lang="en-IN" sz="1600">
                          <a:solidFill>
                            <a:srgbClr val="000000"/>
                          </a:solidFill>
                        </a:rPr>
                        <a:t>MS</a:t>
                      </a:r>
                      <a:endParaRPr b="0" i="0" sz="1600" u="none" cap="none" strike="noStrike">
                        <a:solidFill>
                          <a:srgbClr val="000000"/>
                        </a:solidFill>
                        <a:latin typeface="Calibri"/>
                        <a:ea typeface="Calibri"/>
                        <a:cs typeface="Calibri"/>
                        <a:sym typeface="Calibri"/>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38575">
                <a:tc>
                  <a:txBody>
                    <a:bodyPr/>
                    <a:lstStyle/>
                    <a:p>
                      <a:pPr indent="0" lvl="0" marL="0" marR="0" rtl="0" algn="l">
                        <a:lnSpc>
                          <a:spcPct val="100000"/>
                        </a:lnSpc>
                        <a:spcBef>
                          <a:spcPts val="0"/>
                        </a:spcBef>
                        <a:spcAft>
                          <a:spcPts val="0"/>
                        </a:spcAft>
                        <a:buNone/>
                      </a:pPr>
                      <a:r>
                        <a:rPr lang="en-IN" sz="1600">
                          <a:solidFill>
                            <a:srgbClr val="000000"/>
                          </a:solidFill>
                        </a:rPr>
                        <a:t>Sampat Raj Vadera</a:t>
                      </a:r>
                      <a:endParaRPr sz="1600">
                        <a:solidFill>
                          <a:srgbClr val="000000"/>
                        </a:solidFill>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IN" sz="1600">
                          <a:solidFill>
                            <a:srgbClr val="000000"/>
                          </a:solidFill>
                        </a:rPr>
                        <a:t>SRV</a:t>
                      </a:r>
                      <a:endParaRPr sz="1600">
                        <a:solidFill>
                          <a:srgbClr val="000000"/>
                        </a:solidFill>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38575">
                <a:tc>
                  <a:txBody>
                    <a:bodyPr/>
                    <a:lstStyle/>
                    <a:p>
                      <a:pPr indent="0" lvl="0" marL="0" marR="0" rtl="0" algn="l">
                        <a:lnSpc>
                          <a:spcPct val="100000"/>
                        </a:lnSpc>
                        <a:spcBef>
                          <a:spcPts val="0"/>
                        </a:spcBef>
                        <a:spcAft>
                          <a:spcPts val="0"/>
                        </a:spcAft>
                        <a:buClr>
                          <a:srgbClr val="000000"/>
                        </a:buClr>
                        <a:buSzPts val="1600"/>
                        <a:buFont typeface="Arial"/>
                        <a:buNone/>
                      </a:pPr>
                      <a:r>
                        <a:rPr lang="en-IN" sz="1600">
                          <a:solidFill>
                            <a:srgbClr val="000000"/>
                          </a:solidFill>
                        </a:rPr>
                        <a:t>Prabhat Jaiswal</a:t>
                      </a:r>
                      <a:endParaRPr b="0" i="0" sz="1600" u="none" cap="none" strike="noStrike">
                        <a:solidFill>
                          <a:srgbClr val="000000"/>
                        </a:solidFill>
                        <a:latin typeface="Calibri"/>
                        <a:ea typeface="Calibri"/>
                        <a:cs typeface="Calibri"/>
                        <a:sym typeface="Calibri"/>
                      </a:endParaRPr>
                    </a:p>
                  </a:txBody>
                  <a:tcPr marT="7625" marB="0" marR="7625" marL="7625" anchor="b">
                    <a:lnT cap="flat" cmpd="sng" w="127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600"/>
                        <a:buFont typeface="Arial"/>
                        <a:buNone/>
                      </a:pPr>
                      <a:r>
                        <a:rPr lang="en-IN" sz="1600">
                          <a:solidFill>
                            <a:srgbClr val="000000"/>
                          </a:solidFill>
                        </a:rPr>
                        <a:t>PJ</a:t>
                      </a:r>
                      <a:endParaRPr b="0" i="0" sz="1600" u="none" cap="none" strike="noStrike">
                        <a:solidFill>
                          <a:srgbClr val="000000"/>
                        </a:solidFill>
                        <a:latin typeface="Calibri"/>
                        <a:ea typeface="Calibri"/>
                        <a:cs typeface="Calibri"/>
                        <a:sym typeface="Calibri"/>
                      </a:endParaRPr>
                    </a:p>
                  </a:txBody>
                  <a:tcPr marT="7625" marB="0" marR="7625" marL="7625" anchor="b">
                    <a:lnT cap="flat" cmpd="sng" w="12700">
                      <a:solidFill>
                        <a:schemeClr val="lt1"/>
                      </a:solidFill>
                      <a:prstDash val="solid"/>
                      <a:round/>
                      <a:headEnd len="sm" w="sm" type="none"/>
                      <a:tailEnd len="sm" w="sm" type="none"/>
                    </a:lnT>
                  </a:tcPr>
                </a:tc>
              </a:tr>
              <a:tr h="238575">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t>Amit Mukherjee </a:t>
                      </a:r>
                      <a:endParaRPr i="0" sz="1400" u="none" cap="none" strike="noStrike">
                        <a:solidFill>
                          <a:srgbClr val="000000"/>
                        </a:solidFill>
                      </a:endParaRPr>
                    </a:p>
                  </a:txBody>
                  <a:tcPr marT="7625" marB="0" marR="7625" marL="7625" anchor="b"/>
                </a:tc>
                <a:tc>
                  <a:txBody>
                    <a:bodyPr/>
                    <a:lstStyle/>
                    <a:p>
                      <a:pPr indent="0" lvl="0" marL="0" marR="0" rtl="0" algn="l">
                        <a:lnSpc>
                          <a:spcPct val="100000"/>
                        </a:lnSpc>
                        <a:spcBef>
                          <a:spcPts val="0"/>
                        </a:spcBef>
                        <a:spcAft>
                          <a:spcPts val="0"/>
                        </a:spcAft>
                        <a:buClr>
                          <a:srgbClr val="000000"/>
                        </a:buClr>
                        <a:buSzPts val="1600"/>
                        <a:buFont typeface="Arial"/>
                        <a:buNone/>
                      </a:pPr>
                      <a:r>
                        <a:rPr lang="en-IN" sz="1600" u="none" cap="none" strike="noStrike">
                          <a:solidFill>
                            <a:srgbClr val="000000"/>
                          </a:solidFill>
                        </a:rPr>
                        <a:t>AM</a:t>
                      </a:r>
                      <a:endParaRPr b="0" i="0" sz="1600" u="none" cap="none" strike="noStrike">
                        <a:solidFill>
                          <a:srgbClr val="000000"/>
                        </a:solidFill>
                        <a:latin typeface="Calibri"/>
                        <a:ea typeface="Calibri"/>
                        <a:cs typeface="Calibri"/>
                        <a:sym typeface="Calibri"/>
                      </a:endParaRPr>
                    </a:p>
                  </a:txBody>
                  <a:tcPr marT="7625" marB="0" marR="7625" marL="7625" anchor="b"/>
                </a:tc>
              </a:tr>
              <a:tr h="238575">
                <a:tc>
                  <a:txBody>
                    <a:bodyPr/>
                    <a:lstStyle/>
                    <a:p>
                      <a:pPr indent="0" lvl="0" marL="0" marR="0" rtl="0" algn="l">
                        <a:lnSpc>
                          <a:spcPct val="100000"/>
                        </a:lnSpc>
                        <a:spcBef>
                          <a:spcPts val="0"/>
                        </a:spcBef>
                        <a:spcAft>
                          <a:spcPts val="0"/>
                        </a:spcAft>
                        <a:buNone/>
                      </a:pPr>
                      <a:r>
                        <a:rPr lang="en-IN" sz="1600"/>
                        <a:t>Dushyant</a:t>
                      </a:r>
                      <a:r>
                        <a:rPr lang="en-IN" sz="1600"/>
                        <a:t> Kumar</a:t>
                      </a:r>
                      <a:endParaRPr sz="1600" u="none" cap="none" strike="noStrike"/>
                    </a:p>
                  </a:txBody>
                  <a:tcPr marT="7625" marB="0" marR="7625" marL="7625" anchor="b"/>
                </a:tc>
                <a:tc>
                  <a:txBody>
                    <a:bodyPr/>
                    <a:lstStyle/>
                    <a:p>
                      <a:pPr indent="0" lvl="0" marL="0" marR="0" rtl="0" algn="l">
                        <a:lnSpc>
                          <a:spcPct val="100000"/>
                        </a:lnSpc>
                        <a:spcBef>
                          <a:spcPts val="0"/>
                        </a:spcBef>
                        <a:spcAft>
                          <a:spcPts val="0"/>
                        </a:spcAft>
                        <a:buNone/>
                      </a:pPr>
                      <a:r>
                        <a:rPr lang="en-IN" sz="1600">
                          <a:solidFill>
                            <a:srgbClr val="000000"/>
                          </a:solidFill>
                        </a:rPr>
                        <a:t>DK</a:t>
                      </a:r>
                      <a:endParaRPr sz="1600">
                        <a:solidFill>
                          <a:srgbClr val="000000"/>
                        </a:solidFill>
                      </a:endParaRPr>
                    </a:p>
                  </a:txBody>
                  <a:tcPr marT="7625" marB="0" marR="7625" marL="7625" anchor="b"/>
                </a:tc>
              </a:tr>
              <a:tr h="238575">
                <a:tc>
                  <a:txBody>
                    <a:bodyPr/>
                    <a:lstStyle/>
                    <a:p>
                      <a:pPr indent="0" lvl="0" marL="0" marR="0" rtl="0" algn="l">
                        <a:lnSpc>
                          <a:spcPct val="100000"/>
                        </a:lnSpc>
                        <a:spcBef>
                          <a:spcPts val="0"/>
                        </a:spcBef>
                        <a:spcAft>
                          <a:spcPts val="0"/>
                        </a:spcAft>
                        <a:buNone/>
                      </a:pPr>
                      <a:r>
                        <a:rPr lang="en-IN" sz="1600"/>
                        <a:t>Satyajit Sahu</a:t>
                      </a:r>
                      <a:endParaRPr sz="1600"/>
                    </a:p>
                  </a:txBody>
                  <a:tcPr marT="7625" marB="0" marR="7625" marL="7625" anchor="b"/>
                </a:tc>
                <a:tc>
                  <a:txBody>
                    <a:bodyPr/>
                    <a:lstStyle/>
                    <a:p>
                      <a:pPr indent="0" lvl="0" marL="0" marR="0" rtl="0" algn="l">
                        <a:lnSpc>
                          <a:spcPct val="100000"/>
                        </a:lnSpc>
                        <a:spcBef>
                          <a:spcPts val="0"/>
                        </a:spcBef>
                        <a:spcAft>
                          <a:spcPts val="0"/>
                        </a:spcAft>
                        <a:buNone/>
                      </a:pPr>
                      <a:r>
                        <a:rPr lang="en-IN" sz="1600">
                          <a:solidFill>
                            <a:srgbClr val="000000"/>
                          </a:solidFill>
                        </a:rPr>
                        <a:t>SS</a:t>
                      </a:r>
                      <a:endParaRPr sz="1600">
                        <a:solidFill>
                          <a:srgbClr val="000000"/>
                        </a:solidFill>
                      </a:endParaRPr>
                    </a:p>
                  </a:txBody>
                  <a:tcPr marT="7625" marB="0" marR="7625" marL="7625" anchor="b"/>
                </a:tc>
              </a:tr>
              <a:tr h="238575">
                <a:tc>
                  <a:txBody>
                    <a:bodyPr/>
                    <a:lstStyle/>
                    <a:p>
                      <a:pPr indent="0" lvl="0" marL="0" marR="0" rtl="0" algn="l">
                        <a:lnSpc>
                          <a:spcPct val="100000"/>
                        </a:lnSpc>
                        <a:spcBef>
                          <a:spcPts val="0"/>
                        </a:spcBef>
                        <a:spcAft>
                          <a:spcPts val="0"/>
                        </a:spcAft>
                        <a:buNone/>
                      </a:pPr>
                      <a:r>
                        <a:rPr lang="en-IN" sz="1600"/>
                        <a:t>Lata Panwar</a:t>
                      </a:r>
                      <a:endParaRPr sz="1600"/>
                    </a:p>
                  </a:txBody>
                  <a:tcPr marT="7625" marB="0" marR="7625" marL="7625" anchor="b"/>
                </a:tc>
                <a:tc>
                  <a:txBody>
                    <a:bodyPr/>
                    <a:lstStyle/>
                    <a:p>
                      <a:pPr indent="0" lvl="0" marL="0" marR="0" rtl="0" algn="l">
                        <a:lnSpc>
                          <a:spcPct val="100000"/>
                        </a:lnSpc>
                        <a:spcBef>
                          <a:spcPts val="0"/>
                        </a:spcBef>
                        <a:spcAft>
                          <a:spcPts val="0"/>
                        </a:spcAft>
                        <a:buNone/>
                      </a:pPr>
                      <a:r>
                        <a:rPr lang="en-IN" sz="1600">
                          <a:solidFill>
                            <a:srgbClr val="000000"/>
                          </a:solidFill>
                        </a:rPr>
                        <a:t>LP</a:t>
                      </a:r>
                      <a:endParaRPr sz="1600">
                        <a:solidFill>
                          <a:srgbClr val="000000"/>
                        </a:solidFill>
                      </a:endParaRPr>
                    </a:p>
                  </a:txBody>
                  <a:tcPr marT="7625" marB="0" marR="7625" marL="7625" anchor="b"/>
                </a:tc>
              </a:tr>
              <a:tr h="238575">
                <a:tc>
                  <a:txBody>
                    <a:bodyPr/>
                    <a:lstStyle/>
                    <a:p>
                      <a:pPr indent="0" lvl="0" marL="0" marR="0" rtl="0" algn="l">
                        <a:lnSpc>
                          <a:spcPct val="100000"/>
                        </a:lnSpc>
                        <a:spcBef>
                          <a:spcPts val="0"/>
                        </a:spcBef>
                        <a:spcAft>
                          <a:spcPts val="0"/>
                        </a:spcAft>
                        <a:buNone/>
                      </a:pPr>
                      <a:r>
                        <a:rPr lang="en-IN" sz="1600"/>
                        <a:t>Durgamadhab Mishra</a:t>
                      </a:r>
                      <a:endParaRPr sz="1600"/>
                    </a:p>
                  </a:txBody>
                  <a:tcPr marT="7625" marB="0" marR="7625" marL="7625" anchor="b"/>
                </a:tc>
                <a:tc>
                  <a:txBody>
                    <a:bodyPr/>
                    <a:lstStyle/>
                    <a:p>
                      <a:pPr indent="0" lvl="0" marL="0" marR="0" rtl="0" algn="l">
                        <a:lnSpc>
                          <a:spcPct val="100000"/>
                        </a:lnSpc>
                        <a:spcBef>
                          <a:spcPts val="0"/>
                        </a:spcBef>
                        <a:spcAft>
                          <a:spcPts val="0"/>
                        </a:spcAft>
                        <a:buNone/>
                      </a:pPr>
                      <a:r>
                        <a:rPr lang="en-IN" sz="1600">
                          <a:solidFill>
                            <a:srgbClr val="000000"/>
                          </a:solidFill>
                        </a:rPr>
                        <a:t>DM</a:t>
                      </a:r>
                      <a:endParaRPr sz="1600">
                        <a:solidFill>
                          <a:srgbClr val="000000"/>
                        </a:solidFill>
                      </a:endParaRPr>
                    </a:p>
                  </a:txBody>
                  <a:tcPr marT="7625" marB="0" marR="7625" marL="7625" anchor="b"/>
                </a:tc>
              </a:tr>
            </a:tbl>
          </a:graphicData>
        </a:graphic>
      </p:graphicFrame>
      <p:sp>
        <p:nvSpPr>
          <p:cNvPr id="109" name="Google Shape;109;p2"/>
          <p:cNvSpPr txBox="1"/>
          <p:nvPr/>
        </p:nvSpPr>
        <p:spPr>
          <a:xfrm>
            <a:off x="3107300" y="27839"/>
            <a:ext cx="6280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IN" sz="3200" u="none" cap="none" strike="noStrike">
                <a:solidFill>
                  <a:srgbClr val="002060"/>
                </a:solidFill>
                <a:latin typeface="Calibri"/>
                <a:ea typeface="Calibri"/>
                <a:cs typeface="Calibri"/>
                <a:sym typeface="Calibri"/>
              </a:rPr>
              <a:t>Schedule &amp; Instructors</a:t>
            </a:r>
            <a:endParaRPr b="0" i="0" sz="1400" u="none" cap="none" strike="noStrike">
              <a:solidFill>
                <a:srgbClr val="000000"/>
              </a:solidFill>
              <a:latin typeface="Arial"/>
              <a:ea typeface="Arial"/>
              <a:cs typeface="Arial"/>
              <a:sym typeface="Arial"/>
            </a:endParaRPr>
          </a:p>
        </p:txBody>
      </p:sp>
      <p:graphicFrame>
        <p:nvGraphicFramePr>
          <p:cNvPr id="110" name="Google Shape;110;p2"/>
          <p:cNvGraphicFramePr/>
          <p:nvPr/>
        </p:nvGraphicFramePr>
        <p:xfrm>
          <a:off x="66112" y="3935290"/>
          <a:ext cx="3000000" cy="3000000"/>
        </p:xfrm>
        <a:graphic>
          <a:graphicData uri="http://schemas.openxmlformats.org/drawingml/2006/table">
            <a:tbl>
              <a:tblPr>
                <a:noFill/>
                <a:tableStyleId>{554C6E77-F3E5-476C-8E42-A64DBB4C294B}</a:tableStyleId>
              </a:tblPr>
              <a:tblGrid>
                <a:gridCol w="1742475"/>
                <a:gridCol w="3653475"/>
              </a:tblGrid>
              <a:tr h="234525">
                <a:tc rowSpan="2">
                  <a:txBody>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C00000"/>
                          </a:solidFill>
                          <a:latin typeface="Book Antiqua"/>
                          <a:ea typeface="Book Antiqua"/>
                          <a:cs typeface="Book Antiqua"/>
                          <a:sym typeface="Book Antiqua"/>
                        </a:rPr>
                        <a:t>Day</a:t>
                      </a:r>
                      <a:endParaRPr b="1" i="0" sz="1800" u="none" cap="none" strike="noStrike">
                        <a:solidFill>
                          <a:srgbClr val="C00000"/>
                        </a:solidFill>
                        <a:latin typeface="Book Antiqua"/>
                        <a:ea typeface="Book Antiqua"/>
                        <a:cs typeface="Book Antiqua"/>
                        <a:sym typeface="Book Antiqua"/>
                      </a:endParaRPr>
                    </a:p>
                  </a:txBody>
                  <a:tcPr marT="7625" marB="0" marR="7625" marL="7625" anchor="b"/>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t> </a:t>
                      </a:r>
                      <a:endParaRPr b="0" i="0" sz="1400" u="none" cap="none" strike="noStrike">
                        <a:solidFill>
                          <a:srgbClr val="000000"/>
                        </a:solidFill>
                        <a:latin typeface="Calibri"/>
                        <a:ea typeface="Calibri"/>
                        <a:cs typeface="Calibri"/>
                        <a:sym typeface="Calibri"/>
                      </a:endParaRPr>
                    </a:p>
                  </a:txBody>
                  <a:tcPr marT="7625" marB="0" marR="7625" marL="7625" anchor="b"/>
                </a:tc>
              </a:tr>
              <a:tr h="266875">
                <a:tc vMerge="1"/>
                <a:tc>
                  <a:txBody>
                    <a:bodyPr/>
                    <a:lstStyle/>
                    <a:p>
                      <a:pPr indent="0" lvl="0" marL="0" marR="0" rtl="0" algn="l">
                        <a:lnSpc>
                          <a:spcPct val="100000"/>
                        </a:lnSpc>
                        <a:spcBef>
                          <a:spcPts val="0"/>
                        </a:spcBef>
                        <a:spcAft>
                          <a:spcPts val="0"/>
                        </a:spcAft>
                        <a:buClr>
                          <a:srgbClr val="000000"/>
                        </a:buClr>
                        <a:buSzPts val="1800"/>
                        <a:buFont typeface="Arial"/>
                        <a:buNone/>
                      </a:pPr>
                      <a:r>
                        <a:rPr lang="en-IN" sz="1800" u="none" cap="none" strike="noStrike">
                          <a:solidFill>
                            <a:srgbClr val="C00000"/>
                          </a:solidFill>
                        </a:rPr>
                        <a:t>Student Group</a:t>
                      </a:r>
                      <a:endParaRPr b="1" i="0" sz="1800" u="none" cap="none" strike="noStrike">
                        <a:solidFill>
                          <a:srgbClr val="C00000"/>
                        </a:solidFill>
                        <a:latin typeface="Book Antiqua"/>
                        <a:ea typeface="Book Antiqua"/>
                        <a:cs typeface="Book Antiqua"/>
                        <a:sym typeface="Book Antiqua"/>
                      </a:endParaRPr>
                    </a:p>
                  </a:txBody>
                  <a:tcPr marT="7625" marB="0" marR="7625" marL="7625" anchor="b"/>
                </a:tc>
              </a:tr>
              <a:tr h="266875">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Book Antiqua"/>
                          <a:ea typeface="Book Antiqua"/>
                          <a:cs typeface="Book Antiqua"/>
                          <a:sym typeface="Book Antiqua"/>
                        </a:rPr>
                        <a:t>Monday (1)</a:t>
                      </a:r>
                      <a:endParaRPr sz="1400" u="none" cap="none" strike="noStrike"/>
                    </a:p>
                  </a:txBody>
                  <a:tcPr marT="7625" marB="0" marR="7625" marL="7625" anchor="b">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5</a:t>
                      </a:r>
                      <a:r>
                        <a:rPr lang="en-IN" sz="1800" u="none" cap="none" strike="noStrike"/>
                        <a:t>th Batch (G: </a:t>
                      </a:r>
                      <a:r>
                        <a:rPr lang="en-IN" sz="1800"/>
                        <a:t>A5</a:t>
                      </a:r>
                      <a:r>
                        <a:rPr lang="en-IN" sz="1800" u="none" cap="none" strike="noStrike"/>
                        <a:t>)</a:t>
                      </a:r>
                      <a:endParaRPr sz="1800" u="none" cap="none" strike="noStrike"/>
                    </a:p>
                  </a:txBody>
                  <a:tcPr marT="7625" marB="0" marR="7625" marL="7625" anchor="b">
                    <a:lnB cap="flat" cmpd="sng" w="12700">
                      <a:solidFill>
                        <a:schemeClr val="lt1"/>
                      </a:solidFill>
                      <a:prstDash val="solid"/>
                      <a:round/>
                      <a:headEnd len="sm" w="sm" type="none"/>
                      <a:tailEnd len="sm" w="sm" type="none"/>
                    </a:lnB>
                  </a:tcPr>
                </a:tc>
              </a:tr>
              <a:tr h="266875">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Book Antiqua"/>
                          <a:ea typeface="Book Antiqua"/>
                          <a:cs typeface="Book Antiqua"/>
                          <a:sym typeface="Book Antiqua"/>
                        </a:rPr>
                        <a:t>Monday (</a:t>
                      </a:r>
                      <a:r>
                        <a:rPr b="1" lang="en-IN" sz="1600">
                          <a:solidFill>
                            <a:srgbClr val="000000"/>
                          </a:solidFill>
                          <a:latin typeface="Book Antiqua"/>
                          <a:ea typeface="Book Antiqua"/>
                          <a:cs typeface="Book Antiqua"/>
                          <a:sym typeface="Book Antiqua"/>
                        </a:rPr>
                        <a:t>2</a:t>
                      </a:r>
                      <a:r>
                        <a:rPr b="1" i="0" lang="en-IN" sz="1600" u="none" cap="none" strike="noStrike">
                          <a:solidFill>
                            <a:srgbClr val="000000"/>
                          </a:solidFill>
                          <a:latin typeface="Book Antiqua"/>
                          <a:ea typeface="Book Antiqua"/>
                          <a:cs typeface="Book Antiqua"/>
                          <a:sym typeface="Book Antiqua"/>
                        </a:rPr>
                        <a:t>)</a:t>
                      </a:r>
                      <a:endParaRPr b="1" i="0" sz="1400" u="none" cap="none" strike="noStrike">
                        <a:solidFill>
                          <a:srgbClr val="000000"/>
                        </a:solidFill>
                        <a:latin typeface="Book Antiqua"/>
                        <a:ea typeface="Book Antiqua"/>
                        <a:cs typeface="Book Antiqua"/>
                        <a:sym typeface="Book Antiqua"/>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2nd</a:t>
                      </a:r>
                      <a:r>
                        <a:rPr lang="en-IN" sz="1800" u="none" cap="none" strike="noStrike"/>
                        <a:t> Batch (G: </a:t>
                      </a:r>
                      <a:r>
                        <a:rPr lang="en-IN" sz="1800"/>
                        <a:t>A2</a:t>
                      </a:r>
                      <a:r>
                        <a:rPr lang="en-IN" sz="1800" u="none" cap="none" strike="noStrike"/>
                        <a:t>)</a:t>
                      </a:r>
                      <a:endParaRPr sz="1800" u="none" cap="none" strike="noStrike"/>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66875">
                <a:tc>
                  <a:txBody>
                    <a:bodyPr/>
                    <a:lstStyle/>
                    <a:p>
                      <a:pPr indent="0" lvl="0" marL="0" marR="0" rtl="0" algn="l">
                        <a:lnSpc>
                          <a:spcPct val="100000"/>
                        </a:lnSpc>
                        <a:spcBef>
                          <a:spcPts val="0"/>
                        </a:spcBef>
                        <a:spcAft>
                          <a:spcPts val="0"/>
                        </a:spcAft>
                        <a:buClr>
                          <a:schemeClr val="dk1"/>
                        </a:buClr>
                        <a:buSzPts val="1600"/>
                        <a:buFont typeface="Arial"/>
                        <a:buNone/>
                      </a:pPr>
                      <a:r>
                        <a:rPr b="1" lang="en-IN" sz="1600">
                          <a:latin typeface="Book Antiqua"/>
                          <a:ea typeface="Book Antiqua"/>
                          <a:cs typeface="Book Antiqua"/>
                          <a:sym typeface="Book Antiqua"/>
                        </a:rPr>
                        <a:t>Tuesday (1)</a:t>
                      </a:r>
                      <a:endParaRPr b="1" i="0" sz="1600" u="none" cap="none" strike="noStrike">
                        <a:solidFill>
                          <a:srgbClr val="000000"/>
                        </a:solidFill>
                        <a:latin typeface="Book Antiqua"/>
                        <a:ea typeface="Book Antiqua"/>
                        <a:cs typeface="Book Antiqua"/>
                        <a:sym typeface="Book Antiqua"/>
                      </a:endParaRPr>
                    </a:p>
                  </a:txBody>
                  <a:tcPr marT="7625" marB="0" marR="7625" marL="7625" anchor="b">
                    <a:lnT cap="flat" cmpd="sng" w="127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800"/>
                        <a:buFont typeface="Arial"/>
                        <a:buNone/>
                      </a:pPr>
                      <a:r>
                        <a:rPr lang="en-IN" sz="1800"/>
                        <a:t>6th</a:t>
                      </a:r>
                      <a:r>
                        <a:rPr lang="en-IN" sz="1800" u="none" cap="none" strike="noStrike"/>
                        <a:t> Batch (G: </a:t>
                      </a:r>
                      <a:r>
                        <a:rPr lang="en-IN" sz="1800"/>
                        <a:t>A6</a:t>
                      </a:r>
                      <a:r>
                        <a:rPr lang="en-IN" sz="1800" u="none" cap="none" strike="noStrike"/>
                        <a:t>)</a:t>
                      </a:r>
                      <a:endParaRPr b="0" i="0" sz="1800" u="none" cap="none" strike="noStrike">
                        <a:solidFill>
                          <a:schemeClr val="dk1"/>
                        </a:solidFill>
                        <a:latin typeface="Calibri"/>
                        <a:ea typeface="Calibri"/>
                        <a:cs typeface="Calibri"/>
                        <a:sym typeface="Calibri"/>
                      </a:endParaRPr>
                    </a:p>
                  </a:txBody>
                  <a:tcPr marT="7625" marB="0" marR="7625" marL="7625" anchor="b">
                    <a:lnT cap="flat" cmpd="sng" w="12700">
                      <a:solidFill>
                        <a:schemeClr val="lt1"/>
                      </a:solidFill>
                      <a:prstDash val="solid"/>
                      <a:round/>
                      <a:headEnd len="sm" w="sm" type="none"/>
                      <a:tailEnd len="sm" w="sm" type="none"/>
                    </a:lnT>
                  </a:tcPr>
                </a:tc>
              </a:tr>
              <a:tr h="266875">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Book Antiqua"/>
                          <a:ea typeface="Book Antiqua"/>
                          <a:cs typeface="Book Antiqua"/>
                          <a:sym typeface="Book Antiqua"/>
                        </a:rPr>
                        <a:t>Tuesday (</a:t>
                      </a:r>
                      <a:r>
                        <a:rPr b="1" lang="en-IN" sz="1600">
                          <a:solidFill>
                            <a:srgbClr val="000000"/>
                          </a:solidFill>
                          <a:latin typeface="Book Antiqua"/>
                          <a:ea typeface="Book Antiqua"/>
                          <a:cs typeface="Book Antiqua"/>
                          <a:sym typeface="Book Antiqua"/>
                        </a:rPr>
                        <a:t>2</a:t>
                      </a:r>
                      <a:r>
                        <a:rPr b="1" i="0" lang="en-IN" sz="1600" u="none" cap="none" strike="noStrike">
                          <a:solidFill>
                            <a:srgbClr val="000000"/>
                          </a:solidFill>
                          <a:latin typeface="Book Antiqua"/>
                          <a:ea typeface="Book Antiqua"/>
                          <a:cs typeface="Book Antiqua"/>
                          <a:sym typeface="Book Antiqua"/>
                        </a:rPr>
                        <a:t>)</a:t>
                      </a:r>
                      <a:endParaRPr b="1" i="0" sz="1600" u="none" cap="none" strike="noStrike">
                        <a:solidFill>
                          <a:srgbClr val="000000"/>
                        </a:solidFill>
                        <a:latin typeface="Book Antiqua"/>
                        <a:ea typeface="Book Antiqua"/>
                        <a:cs typeface="Book Antiqua"/>
                        <a:sym typeface="Book Antiqua"/>
                      </a:endParaRPr>
                    </a:p>
                  </a:txBody>
                  <a:tcPr marT="7625" marB="0" marR="7625" marL="7625" anchor="b"/>
                </a:tc>
                <a:tc>
                  <a:txBody>
                    <a:bodyPr/>
                    <a:lstStyle/>
                    <a:p>
                      <a:pPr indent="0" lvl="0" marL="0" marR="0" rtl="0" algn="l">
                        <a:lnSpc>
                          <a:spcPct val="100000"/>
                        </a:lnSpc>
                        <a:spcBef>
                          <a:spcPts val="0"/>
                        </a:spcBef>
                        <a:spcAft>
                          <a:spcPts val="0"/>
                        </a:spcAft>
                        <a:buClr>
                          <a:schemeClr val="dk1"/>
                        </a:buClr>
                        <a:buSzPts val="1800"/>
                        <a:buFont typeface="Arial"/>
                        <a:buNone/>
                      </a:pPr>
                      <a:r>
                        <a:rPr lang="en-IN" sz="1800"/>
                        <a:t>3rd </a:t>
                      </a:r>
                      <a:r>
                        <a:rPr lang="en-IN" sz="1800" u="none" cap="none" strike="noStrike"/>
                        <a:t>Batch (G: </a:t>
                      </a:r>
                      <a:r>
                        <a:rPr lang="en-IN" sz="1800"/>
                        <a:t>A3</a:t>
                      </a:r>
                      <a:r>
                        <a:rPr lang="en-IN" sz="1800" u="none" cap="none" strike="noStrike"/>
                        <a:t>)</a:t>
                      </a:r>
                      <a:endParaRPr b="0" i="0" sz="1600" u="none" cap="none" strike="noStrike">
                        <a:solidFill>
                          <a:srgbClr val="000000"/>
                        </a:solidFill>
                        <a:latin typeface="Book Antiqua"/>
                        <a:ea typeface="Book Antiqua"/>
                        <a:cs typeface="Book Antiqua"/>
                        <a:sym typeface="Book Antiqua"/>
                      </a:endParaRPr>
                    </a:p>
                  </a:txBody>
                  <a:tcPr marT="7625" marB="0" marR="7625" marL="7625" anchor="b"/>
                </a:tc>
              </a:tr>
              <a:tr h="266875">
                <a:tc>
                  <a:txBody>
                    <a:bodyPr/>
                    <a:lstStyle/>
                    <a:p>
                      <a:pPr indent="0" lvl="0" marL="0" marR="0" rtl="0" algn="l">
                        <a:lnSpc>
                          <a:spcPct val="100000"/>
                        </a:lnSpc>
                        <a:spcBef>
                          <a:spcPts val="0"/>
                        </a:spcBef>
                        <a:spcAft>
                          <a:spcPts val="0"/>
                        </a:spcAft>
                        <a:buClr>
                          <a:srgbClr val="000000"/>
                        </a:buClr>
                        <a:buSzPts val="1600"/>
                        <a:buFont typeface="Arial"/>
                        <a:buNone/>
                      </a:pPr>
                      <a:r>
                        <a:rPr b="1" i="0" lang="en-IN" sz="1600" u="none" cap="none" strike="noStrike">
                          <a:solidFill>
                            <a:srgbClr val="000000"/>
                          </a:solidFill>
                          <a:latin typeface="Book Antiqua"/>
                          <a:ea typeface="Book Antiqua"/>
                          <a:cs typeface="Book Antiqua"/>
                          <a:sym typeface="Book Antiqua"/>
                        </a:rPr>
                        <a:t>Thursday</a:t>
                      </a:r>
                      <a:endParaRPr b="1" i="0" sz="1600" u="none" cap="none" strike="noStrike">
                        <a:solidFill>
                          <a:srgbClr val="000000"/>
                        </a:solidFill>
                        <a:latin typeface="Book Antiqua"/>
                        <a:ea typeface="Book Antiqua"/>
                        <a:cs typeface="Book Antiqua"/>
                        <a:sym typeface="Book Antiqua"/>
                      </a:endParaRPr>
                    </a:p>
                  </a:txBody>
                  <a:tcPr marT="7625" marB="0" marR="7625" marL="7625" anchor="b"/>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4</a:t>
                      </a:r>
                      <a:r>
                        <a:rPr b="0" i="0" lang="en-IN" sz="1800" u="none" cap="none" strike="noStrike">
                          <a:solidFill>
                            <a:schemeClr val="dk1"/>
                          </a:solidFill>
                          <a:latin typeface="Calibri"/>
                          <a:ea typeface="Calibri"/>
                          <a:cs typeface="Calibri"/>
                          <a:sym typeface="Calibri"/>
                        </a:rPr>
                        <a:t>th Batch (G: </a:t>
                      </a:r>
                      <a:r>
                        <a:rPr lang="en-IN" sz="1800"/>
                        <a:t>A</a:t>
                      </a:r>
                      <a:r>
                        <a:rPr lang="en-IN" sz="1800" u="none" cap="none" strike="noStrike"/>
                        <a:t>4</a:t>
                      </a:r>
                      <a:r>
                        <a:rPr b="0" i="0" lang="en-IN" sz="1800" u="none" cap="none" strike="noStrike">
                          <a:solidFill>
                            <a:schemeClr val="dk1"/>
                          </a:solidFill>
                          <a:latin typeface="Calibri"/>
                          <a:ea typeface="Calibri"/>
                          <a:cs typeface="Calibri"/>
                          <a:sym typeface="Calibri"/>
                        </a:rPr>
                        <a:t>)</a:t>
                      </a:r>
                      <a:endParaRPr b="0" i="0" sz="1600" u="none" cap="none" strike="noStrike">
                        <a:solidFill>
                          <a:srgbClr val="000000"/>
                        </a:solidFill>
                        <a:latin typeface="Book Antiqua"/>
                        <a:ea typeface="Book Antiqua"/>
                        <a:cs typeface="Book Antiqua"/>
                        <a:sym typeface="Book Antiqua"/>
                      </a:endParaRPr>
                    </a:p>
                  </a:txBody>
                  <a:tcPr marT="7625" marB="0" marR="7625" marL="7625" anchor="b"/>
                </a:tc>
              </a:tr>
              <a:tr h="266875">
                <a:tc>
                  <a:txBody>
                    <a:bodyPr/>
                    <a:lstStyle/>
                    <a:p>
                      <a:pPr indent="0" lvl="0" marL="0" marR="0" rtl="0" algn="l">
                        <a:lnSpc>
                          <a:spcPct val="100000"/>
                        </a:lnSpc>
                        <a:spcBef>
                          <a:spcPts val="0"/>
                        </a:spcBef>
                        <a:spcAft>
                          <a:spcPts val="0"/>
                        </a:spcAft>
                        <a:buClr>
                          <a:srgbClr val="000000"/>
                        </a:buClr>
                        <a:buSzPts val="1600"/>
                        <a:buFont typeface="Book Antiqua"/>
                        <a:buNone/>
                      </a:pPr>
                      <a:r>
                        <a:rPr b="1" i="0" lang="en-IN" sz="1600" u="none" cap="none" strike="noStrike">
                          <a:solidFill>
                            <a:srgbClr val="000000"/>
                          </a:solidFill>
                          <a:latin typeface="Book Antiqua"/>
                          <a:ea typeface="Book Antiqua"/>
                          <a:cs typeface="Book Antiqua"/>
                          <a:sym typeface="Book Antiqua"/>
                        </a:rPr>
                        <a:t>Friday</a:t>
                      </a:r>
                      <a:endParaRPr b="1" i="0" sz="1600" u="none" cap="none" strike="noStrike">
                        <a:solidFill>
                          <a:srgbClr val="000000"/>
                        </a:solidFill>
                        <a:latin typeface="Book Antiqua"/>
                        <a:ea typeface="Book Antiqua"/>
                        <a:cs typeface="Book Antiqua"/>
                        <a:sym typeface="Book Antiqua"/>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IN" sz="1800"/>
                        <a:t>1st </a:t>
                      </a:r>
                      <a:r>
                        <a:rPr b="0" i="0" lang="en-IN" sz="1800" u="none" cap="none" strike="noStrike">
                          <a:solidFill>
                            <a:schemeClr val="dk1"/>
                          </a:solidFill>
                          <a:latin typeface="Calibri"/>
                          <a:ea typeface="Calibri"/>
                          <a:cs typeface="Calibri"/>
                          <a:sym typeface="Calibri"/>
                        </a:rPr>
                        <a:t>Batch (G:</a:t>
                      </a:r>
                      <a:r>
                        <a:rPr lang="en-IN" sz="1800"/>
                        <a:t>A1</a:t>
                      </a:r>
                      <a:r>
                        <a:rPr b="0" i="0" lang="en-IN" sz="1800" u="none" cap="none" strike="noStrike">
                          <a:solidFill>
                            <a:schemeClr val="dk1"/>
                          </a:solidFill>
                          <a:latin typeface="Calibri"/>
                          <a:ea typeface="Calibri"/>
                          <a:cs typeface="Calibri"/>
                          <a:sym typeface="Calibri"/>
                        </a:rPr>
                        <a:t>)</a:t>
                      </a:r>
                      <a:endParaRPr b="0" i="0" sz="1600" u="none" cap="none" strike="noStrike">
                        <a:solidFill>
                          <a:srgbClr val="000000"/>
                        </a:solidFill>
                        <a:latin typeface="Book Antiqua"/>
                        <a:ea typeface="Book Antiqua"/>
                        <a:cs typeface="Book Antiqua"/>
                        <a:sym typeface="Book Antiqua"/>
                      </a:endParaRPr>
                    </a:p>
                  </a:txBody>
                  <a:tcPr marT="7625" marB="0" marR="7625" marL="7625"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B cap="flat" cmpd="sng" w="12700">
                      <a:solidFill>
                        <a:schemeClr val="lt1"/>
                      </a:solidFill>
                      <a:prstDash val="solid"/>
                      <a:round/>
                      <a:headEnd len="sm" w="sm" type="none"/>
                      <a:tailEnd len="sm" w="sm" type="none"/>
                    </a:lnB>
                  </a:tcPr>
                </a:tc>
              </a:tr>
            </a:tbl>
          </a:graphicData>
        </a:graphic>
      </p:graphicFrame>
      <p:sp>
        <p:nvSpPr>
          <p:cNvPr id="111" name="Google Shape;111;p2"/>
          <p:cNvSpPr txBox="1"/>
          <p:nvPr/>
        </p:nvSpPr>
        <p:spPr>
          <a:xfrm>
            <a:off x="0" y="3553117"/>
            <a:ext cx="25434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0432FF"/>
                </a:solidFill>
                <a:latin typeface="Calibri"/>
                <a:ea typeface="Calibri"/>
                <a:cs typeface="Calibri"/>
                <a:sym typeface="Calibri"/>
              </a:rPr>
              <a:t>Student Groups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nvSpPr>
        <p:spPr>
          <a:xfrm>
            <a:off x="1768669" y="-60735"/>
            <a:ext cx="7932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IN" sz="2400" u="none" cap="none" strike="noStrike">
                <a:solidFill>
                  <a:srgbClr val="002060"/>
                </a:solidFill>
                <a:latin typeface="Calibri"/>
                <a:ea typeface="Calibri"/>
                <a:cs typeface="Calibri"/>
                <a:sym typeface="Calibri"/>
              </a:rPr>
              <a:t>List of TAs as per the assigned slots</a:t>
            </a:r>
            <a:endParaRPr b="0" i="0" sz="2400" u="none" cap="none" strike="noStrike">
              <a:solidFill>
                <a:srgbClr val="000000"/>
              </a:solidFill>
              <a:latin typeface="Arial"/>
              <a:ea typeface="Arial"/>
              <a:cs typeface="Arial"/>
              <a:sym typeface="Arial"/>
            </a:endParaRPr>
          </a:p>
        </p:txBody>
      </p:sp>
      <p:sp>
        <p:nvSpPr>
          <p:cNvPr id="117" name="Google Shape;117;p3"/>
          <p:cNvSpPr txBox="1"/>
          <p:nvPr/>
        </p:nvSpPr>
        <p:spPr>
          <a:xfrm>
            <a:off x="2150212" y="685515"/>
            <a:ext cx="5948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18" name="Google Shape;118;p3"/>
          <p:cNvGraphicFramePr/>
          <p:nvPr/>
        </p:nvGraphicFramePr>
        <p:xfrm>
          <a:off x="1544525" y="485625"/>
          <a:ext cx="3000000" cy="3000000"/>
        </p:xfrm>
        <a:graphic>
          <a:graphicData uri="http://schemas.openxmlformats.org/drawingml/2006/table">
            <a:tbl>
              <a:tblPr>
                <a:noFill/>
                <a:tableStyleId>{95E9B5AD-1943-4672-A89F-F14E48F57FD2}</a:tableStyleId>
              </a:tblPr>
              <a:tblGrid>
                <a:gridCol w="838475"/>
                <a:gridCol w="1802725"/>
              </a:tblGrid>
              <a:tr h="239100">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Monday</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0:0"/>
                      </a:ext>
                    </a:extLst>
                  </a:tcPr>
                </a:tc>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9:00AM-11:00AM</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0:1"/>
                      </a:ext>
                    </a:extLst>
                  </a:tcPr>
                </a:tc>
              </a:tr>
              <a:tr h="239100">
                <a:tc gridSpan="2">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5th Batch (G: A5)</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1:0"/>
                      </a:ext>
                    </a:extLst>
                  </a:tcPr>
                </a:tc>
                <a:tc hMerge="1"/>
              </a:tr>
              <a:tr h="239100">
                <a:tc gridSpan="2">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List of TA’s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2:0"/>
                      </a:ext>
                    </a:extLst>
                  </a:tcPr>
                </a:tc>
                <a:tc hMerge="1"/>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P23PH0011</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3: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Sanjeeva Rao Prattipati</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3: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P24PH0004</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4: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Khagendra Sharma</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4: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P22PH006</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5: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Priyanka Saini</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5: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P22PH003</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6: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Krishnendu Karmakar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6:1"/>
                      </a:ext>
                    </a:extLst>
                  </a:tcPr>
                </a:tc>
              </a:tr>
              <a:tr h="239100">
                <a:tc>
                  <a:txBody>
                    <a:bodyPr/>
                    <a:lstStyle/>
                    <a:p>
                      <a:pPr indent="0" lvl="0" marL="0" rtl="0" algn="ctr">
                        <a:lnSpc>
                          <a:spcPct val="115000"/>
                        </a:lnSpc>
                        <a:spcBef>
                          <a:spcPts val="0"/>
                        </a:spcBef>
                        <a:spcAft>
                          <a:spcPts val="0"/>
                        </a:spcAft>
                        <a:buNone/>
                      </a:pPr>
                      <a:r>
                        <a:rPr lang="en-IN" sz="1000">
                          <a:solidFill>
                            <a:srgbClr val="1F1F1F"/>
                          </a:solidFill>
                          <a:latin typeface="Times New Roman"/>
                          <a:ea typeface="Times New Roman"/>
                          <a:cs typeface="Times New Roman"/>
                          <a:sym typeface="Times New Roman"/>
                        </a:rPr>
                        <a:t>P22PH202</a:t>
                      </a:r>
                      <a:endParaRPr sz="1000">
                        <a:solidFill>
                          <a:srgbClr val="1F1F1F"/>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7: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Sunil Batesar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7:1"/>
                      </a:ext>
                    </a:extLst>
                  </a:tcPr>
                </a:tc>
              </a:tr>
              <a:tr h="239100">
                <a:tc>
                  <a:txBody>
                    <a:bodyPr/>
                    <a:lstStyle/>
                    <a:p>
                      <a:pPr indent="0" lvl="0" marL="0" rtl="0" algn="ctr">
                        <a:lnSpc>
                          <a:spcPct val="115000"/>
                        </a:lnSpc>
                        <a:spcBef>
                          <a:spcPts val="0"/>
                        </a:spcBef>
                        <a:spcAft>
                          <a:spcPts val="0"/>
                        </a:spcAft>
                        <a:buNone/>
                      </a:pPr>
                      <a:r>
                        <a:rPr lang="en-IN" sz="1000">
                          <a:solidFill>
                            <a:srgbClr val="1F1F1F"/>
                          </a:solidFill>
                          <a:latin typeface="Times New Roman"/>
                          <a:ea typeface="Times New Roman"/>
                          <a:cs typeface="Times New Roman"/>
                          <a:sym typeface="Times New Roman"/>
                        </a:rPr>
                        <a:t>P23PH0021</a:t>
                      </a:r>
                      <a:endParaRPr sz="1000">
                        <a:solidFill>
                          <a:srgbClr val="1F1F1F"/>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8: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Jeevan Ram</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8: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P24PH0008</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9: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Rashmi Trivedi</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9: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P24PH0010</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10: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Sourav Maity</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10: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P25PH0011</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11: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Rahul Singh Chauhan</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8:11:1"/>
                      </a:ext>
                    </a:extLst>
                  </a:tcPr>
                </a:tc>
              </a:tr>
            </a:tbl>
          </a:graphicData>
        </a:graphic>
      </p:graphicFrame>
      <p:graphicFrame>
        <p:nvGraphicFramePr>
          <p:cNvPr id="119" name="Google Shape;119;p3"/>
          <p:cNvGraphicFramePr/>
          <p:nvPr/>
        </p:nvGraphicFramePr>
        <p:xfrm>
          <a:off x="5050950" y="485625"/>
          <a:ext cx="3000000" cy="3000000"/>
        </p:xfrm>
        <a:graphic>
          <a:graphicData uri="http://schemas.openxmlformats.org/drawingml/2006/table">
            <a:tbl>
              <a:tblPr>
                <a:noFill/>
                <a:tableStyleId>{95E9B5AD-1943-4672-A89F-F14E48F57FD2}</a:tableStyleId>
              </a:tblPr>
              <a:tblGrid>
                <a:gridCol w="830125"/>
                <a:gridCol w="1643625"/>
              </a:tblGrid>
              <a:tr h="239100">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Monday</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9:0:0"/>
                      </a:ext>
                    </a:extLst>
                  </a:tcPr>
                </a:tc>
                <a:tc>
                  <a:txBody>
                    <a:bodyPr/>
                    <a:lstStyle/>
                    <a:p>
                      <a:pPr indent="0" lvl="0" marL="0" rtl="0" algn="l">
                        <a:lnSpc>
                          <a:spcPct val="115000"/>
                        </a:lnSpc>
                        <a:spcBef>
                          <a:spcPts val="0"/>
                        </a:spcBef>
                        <a:spcAft>
                          <a:spcPts val="0"/>
                        </a:spcAft>
                        <a:buNone/>
                      </a:pPr>
                      <a:r>
                        <a:rPr b="1" lang="en-IN" sz="1000">
                          <a:latin typeface="Times New Roman"/>
                          <a:ea typeface="Times New Roman"/>
                          <a:cs typeface="Times New Roman"/>
                          <a:sym typeface="Times New Roman"/>
                        </a:rPr>
                        <a:t>11:00AM-1:00PM</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9:0:1"/>
                      </a:ext>
                    </a:extLst>
                  </a:tcPr>
                </a:tc>
              </a:tr>
              <a:tr h="239100">
                <a:tc gridSpan="2">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2nd Batch (G: A2)</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19:1:0"/>
                      </a:ext>
                    </a:extLst>
                  </a:tcPr>
                </a:tc>
                <a:tc hMerge="1"/>
              </a:tr>
              <a:tr h="239100">
                <a:tc gridSpan="2">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List of TA’s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2:0"/>
                      </a:ext>
                    </a:extLst>
                  </a:tcPr>
                </a:tc>
                <a:tc hMerge="1"/>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P25PH0017</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3: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Smritikana Patra</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3: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P22PH004</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4: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Minakshi</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4: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P25PH0003</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5: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Gourav Malhotra</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5: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P23PH0008</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6: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Prisha</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6: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P25PH0018</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7: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Subhransu Dey</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7: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P25PH0010</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8: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Priya Bishnoi</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8: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P25PH0015</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9: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Saloni Sarda</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9: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P25PH0008</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10: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Pooja Sain</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10: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P22PH008</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11: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Sourav Dutta</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19:11:1"/>
                      </a:ext>
                    </a:extLst>
                  </a:tcPr>
                </a:tc>
              </a:tr>
            </a:tbl>
          </a:graphicData>
        </a:graphic>
      </p:graphicFrame>
      <p:graphicFrame>
        <p:nvGraphicFramePr>
          <p:cNvPr id="120" name="Google Shape;120;p3"/>
          <p:cNvGraphicFramePr/>
          <p:nvPr/>
        </p:nvGraphicFramePr>
        <p:xfrm>
          <a:off x="8389925" y="527500"/>
          <a:ext cx="3000000" cy="3000000"/>
        </p:xfrm>
        <a:graphic>
          <a:graphicData uri="http://schemas.openxmlformats.org/drawingml/2006/table">
            <a:tbl>
              <a:tblPr>
                <a:noFill/>
                <a:tableStyleId>{95E9B5AD-1943-4672-A89F-F14E48F57FD2}</a:tableStyleId>
              </a:tblPr>
              <a:tblGrid>
                <a:gridCol w="952500"/>
                <a:gridCol w="1885950"/>
              </a:tblGrid>
              <a:tr h="239100">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Tuesday</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9:00AM-11:00AM</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gridSpan="2">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6th Batch (G: A6)</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9100">
                <a:tc gridSpan="2">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List of TA’s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P24PH0012</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Tushar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P23PH0016</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Verma Bunty Sardar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P25PH0012</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Rakhi</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P25PH0013</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Rishika Kundel</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P25PH0016</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Shahbaz Ahmad</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P24PH0013</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Yogendra Singh</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P23PH0012</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Snehita Ghosh</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P23PH0022</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Kishan Kumar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P25PH0019</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Yogita</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21" name="Google Shape;121;p3"/>
          <p:cNvGraphicFramePr/>
          <p:nvPr/>
        </p:nvGraphicFramePr>
        <p:xfrm>
          <a:off x="1544525" y="3575125"/>
          <a:ext cx="3000000" cy="3000000"/>
        </p:xfrm>
        <a:graphic>
          <a:graphicData uri="http://schemas.openxmlformats.org/drawingml/2006/table">
            <a:tbl>
              <a:tblPr>
                <a:noFill/>
                <a:tableStyleId>{95E9B5AD-1943-4672-A89F-F14E48F57FD2}</a:tableStyleId>
              </a:tblPr>
              <a:tblGrid>
                <a:gridCol w="889300"/>
                <a:gridCol w="1751900"/>
              </a:tblGrid>
              <a:tr h="240700">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Tuesday</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0:0"/>
                      </a:ext>
                    </a:extLst>
                  </a:tcPr>
                </a:tc>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11:00AM -1:00PM</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0:1"/>
                      </a:ext>
                    </a:extLst>
                  </a:tcPr>
                </a:tc>
              </a:tr>
              <a:tr h="221400">
                <a:tc gridSpan="2">
                  <a:txBody>
                    <a:bodyPr/>
                    <a:lstStyle/>
                    <a:p>
                      <a:pPr indent="0" lvl="0" marL="0" rtl="0" algn="ctr">
                        <a:lnSpc>
                          <a:spcPct val="115000"/>
                        </a:lnSpc>
                        <a:spcBef>
                          <a:spcPts val="0"/>
                        </a:spcBef>
                        <a:spcAft>
                          <a:spcPts val="0"/>
                        </a:spcAft>
                        <a:buNone/>
                      </a:pPr>
                      <a:r>
                        <a:rPr b="1" lang="en-IN" sz="1000">
                          <a:solidFill>
                            <a:schemeClr val="dk1"/>
                          </a:solidFill>
                          <a:latin typeface="Times New Roman"/>
                          <a:ea typeface="Times New Roman"/>
                          <a:cs typeface="Times New Roman"/>
                          <a:sym typeface="Times New Roman"/>
                        </a:rPr>
                        <a:t>3rd Batch (G: A3)</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1:0"/>
                      </a:ext>
                    </a:extLst>
                  </a:tcPr>
                </a:tc>
                <a:tc hMerge="1"/>
              </a:tr>
              <a:tr h="240700">
                <a:tc gridSpan="2">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List of TA’s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2:0"/>
                      </a:ext>
                    </a:extLst>
                  </a:tcPr>
                </a:tc>
                <a:tc hMerge="1"/>
              </a:tr>
              <a:tr h="2407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P25PH0004</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3: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Hrudayananda Mohanta</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3:1"/>
                      </a:ext>
                    </a:extLst>
                  </a:tcPr>
                </a:tc>
              </a:tr>
              <a:tr h="2407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P24PH0002</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4: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Akash Kumar Meel</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4:1"/>
                      </a:ext>
                    </a:extLst>
                  </a:tcPr>
                </a:tc>
              </a:tr>
              <a:tr h="2407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P25PH0014</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5: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Sachina</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5:1"/>
                      </a:ext>
                    </a:extLst>
                  </a:tcPr>
                </a:tc>
              </a:tr>
              <a:tr h="2407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P23PH0003</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6: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Basabdatta Pati</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6:1"/>
                      </a:ext>
                    </a:extLst>
                  </a:tcPr>
                </a:tc>
              </a:tr>
              <a:tr h="2407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P23PH0002</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7: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Athira 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7:1"/>
                      </a:ext>
                    </a:extLst>
                  </a:tcPr>
                </a:tc>
              </a:tr>
              <a:tr h="2407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P23PH0014</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8: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 Sonali Sahoo</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8:1"/>
                      </a:ext>
                    </a:extLst>
                  </a:tcPr>
                </a:tc>
              </a:tr>
              <a:tr h="2407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P25PH0007</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9: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Nitish Kumar</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9:1"/>
                      </a:ext>
                    </a:extLst>
                  </a:tcPr>
                </a:tc>
              </a:tr>
              <a:tr h="2407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P23PH0010</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10: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Rishabh Raj Upadhyay</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10:1"/>
                      </a:ext>
                    </a:extLst>
                  </a:tcPr>
                </a:tc>
              </a:tr>
              <a:tr h="2407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P23PH0018</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11: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Yogeesh N</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1:11:1"/>
                      </a:ext>
                    </a:extLst>
                  </a:tcPr>
                </a:tc>
              </a:tr>
            </a:tbl>
          </a:graphicData>
        </a:graphic>
      </p:graphicFrame>
      <p:graphicFrame>
        <p:nvGraphicFramePr>
          <p:cNvPr id="122" name="Google Shape;122;p3"/>
          <p:cNvGraphicFramePr/>
          <p:nvPr/>
        </p:nvGraphicFramePr>
        <p:xfrm>
          <a:off x="5095550" y="3575125"/>
          <a:ext cx="3000000" cy="3000000"/>
        </p:xfrm>
        <a:graphic>
          <a:graphicData uri="http://schemas.openxmlformats.org/drawingml/2006/table">
            <a:tbl>
              <a:tblPr>
                <a:noFill/>
                <a:tableStyleId>{95E9B5AD-1943-4672-A89F-F14E48F57FD2}</a:tableStyleId>
              </a:tblPr>
              <a:tblGrid>
                <a:gridCol w="785300"/>
                <a:gridCol w="1688450"/>
              </a:tblGrid>
              <a:tr h="239100">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Thursday</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0:0"/>
                      </a:ext>
                    </a:extLst>
                  </a:tcPr>
                </a:tc>
                <a:tc>
                  <a:txBody>
                    <a:bodyPr/>
                    <a:lstStyle/>
                    <a:p>
                      <a:pPr indent="0" lvl="0" marL="0" rtl="0" algn="l">
                        <a:lnSpc>
                          <a:spcPct val="115000"/>
                        </a:lnSpc>
                        <a:spcBef>
                          <a:spcPts val="0"/>
                        </a:spcBef>
                        <a:spcAft>
                          <a:spcPts val="0"/>
                        </a:spcAft>
                        <a:buNone/>
                      </a:pPr>
                      <a:r>
                        <a:rPr b="1" lang="en-IN" sz="1000">
                          <a:latin typeface="Times New Roman"/>
                          <a:ea typeface="Times New Roman"/>
                          <a:cs typeface="Times New Roman"/>
                          <a:sym typeface="Times New Roman"/>
                        </a:rPr>
                        <a:t>11:00AM-1:00PM</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0:1"/>
                      </a:ext>
                    </a:extLst>
                  </a:tcPr>
                </a:tc>
              </a:tr>
              <a:tr h="239100">
                <a:tc gridSpan="2">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4th Batch (G: A4)</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1:0"/>
                      </a:ext>
                    </a:extLst>
                  </a:tcPr>
                </a:tc>
                <a:tc hMerge="1"/>
              </a:tr>
              <a:tr h="239100">
                <a:tc gridSpan="2">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List of TA’s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2:0"/>
                      </a:ext>
                    </a:extLst>
                  </a:tcPr>
                </a:tc>
                <a:tc hMerge="1"/>
              </a:tr>
              <a:tr h="239100">
                <a:tc>
                  <a:txBody>
                    <a:bodyPr/>
                    <a:lstStyle/>
                    <a:p>
                      <a:pPr indent="0" lvl="0" marL="0" rtl="0" algn="ctr">
                        <a:lnSpc>
                          <a:spcPct val="115000"/>
                        </a:lnSpc>
                        <a:spcBef>
                          <a:spcPts val="0"/>
                        </a:spcBef>
                        <a:spcAft>
                          <a:spcPts val="0"/>
                        </a:spcAft>
                        <a:buNone/>
                      </a:pPr>
                      <a:r>
                        <a:rPr lang="en-IN" sz="1000">
                          <a:solidFill>
                            <a:srgbClr val="1F1F1F"/>
                          </a:solidFill>
                          <a:latin typeface="Times New Roman"/>
                          <a:ea typeface="Times New Roman"/>
                          <a:cs typeface="Times New Roman"/>
                          <a:sym typeface="Times New Roman"/>
                        </a:rPr>
                        <a:t>P23PH0024</a:t>
                      </a:r>
                      <a:endParaRPr sz="1000">
                        <a:solidFill>
                          <a:srgbClr val="1F1F1F"/>
                        </a:solidFill>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3: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Akshika Mishra</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3: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P22PH009</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4: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Suresh Kumar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4: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P24PH0202</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5: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Saurav Tyagi</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5: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P25PH0005</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6: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Mahendra Sinwar</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6: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P24PH0011</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7: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Tanvi Shamnath Bandkar</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7: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P24PH0003</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8: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Kanhaiya Lal Sikhwal</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8: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P25PH0009</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9: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Prashant Chitranshi</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9: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P25PH0006</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10: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Manisha Kumari Meena</a:t>
                      </a:r>
                      <a:endParaRPr sz="1000">
                        <a:latin typeface="Book Antiqua"/>
                        <a:ea typeface="Book Antiqua"/>
                        <a:cs typeface="Book Antiqua"/>
                        <a:sym typeface="Book Antiqu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10: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P23PH0005</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11: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Gourav</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2:11:1"/>
                      </a:ext>
                    </a:extLst>
                  </a:tcPr>
                </a:tc>
              </a:tr>
            </a:tbl>
          </a:graphicData>
        </a:graphic>
      </p:graphicFrame>
      <p:graphicFrame>
        <p:nvGraphicFramePr>
          <p:cNvPr id="123" name="Google Shape;123;p3"/>
          <p:cNvGraphicFramePr/>
          <p:nvPr/>
        </p:nvGraphicFramePr>
        <p:xfrm>
          <a:off x="8389925" y="3575125"/>
          <a:ext cx="3000000" cy="3000000"/>
        </p:xfrm>
        <a:graphic>
          <a:graphicData uri="http://schemas.openxmlformats.org/drawingml/2006/table">
            <a:tbl>
              <a:tblPr>
                <a:noFill/>
                <a:tableStyleId>{95E9B5AD-1943-4672-A89F-F14E48F57FD2}</a:tableStyleId>
              </a:tblPr>
              <a:tblGrid>
                <a:gridCol w="952500"/>
                <a:gridCol w="1885950"/>
              </a:tblGrid>
              <a:tr h="239100">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Friday</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3:0:0"/>
                      </a:ext>
                    </a:extLst>
                  </a:tcPr>
                </a:tc>
                <a:tc>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11:00AM -1:00PM</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3:0:1"/>
                      </a:ext>
                    </a:extLst>
                  </a:tcPr>
                </a:tc>
              </a:tr>
              <a:tr h="239100">
                <a:tc gridSpan="2">
                  <a:txBody>
                    <a:bodyPr/>
                    <a:lstStyle/>
                    <a:p>
                      <a:pPr indent="0" lvl="0" marL="0" rtl="0" algn="ctr">
                        <a:lnSpc>
                          <a:spcPct val="115000"/>
                        </a:lnSpc>
                        <a:spcBef>
                          <a:spcPts val="0"/>
                        </a:spcBef>
                        <a:spcAft>
                          <a:spcPts val="0"/>
                        </a:spcAft>
                        <a:buNone/>
                      </a:pPr>
                      <a:r>
                        <a:rPr b="1" lang="en-IN" sz="1000">
                          <a:latin typeface="Times New Roman"/>
                          <a:ea typeface="Times New Roman"/>
                          <a:cs typeface="Times New Roman"/>
                          <a:sym typeface="Times New Roman"/>
                        </a:rPr>
                        <a:t>1st Batch (G:A1)</a:t>
                      </a:r>
                      <a:endParaRPr b="1"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123:1:0"/>
                      </a:ext>
                    </a:extLst>
                  </a:tcPr>
                </a:tc>
                <a:tc hMerge="1"/>
              </a:tr>
              <a:tr h="239100">
                <a:tc gridSpan="2">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List of TA’s</a:t>
                      </a:r>
                      <a:endParaRPr sz="1000">
                        <a:latin typeface="Times New Roman"/>
                        <a:ea typeface="Times New Roman"/>
                        <a:cs typeface="Times New Roman"/>
                        <a:sym typeface="Times New Roman"/>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2:0"/>
                      </a:ext>
                    </a:extLst>
                  </a:tcPr>
                </a:tc>
                <a:tc hMerge="1"/>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P23PH0006</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3: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Kartika Karal</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3: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P24PH0201</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4: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Krishna Kumar Godara</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4: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P23PH0007</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5: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Pradipta Guha Roy</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5: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P24PH0007</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6: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Prakashkumar Shankarbhai Jepar</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6: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P25PH0001</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7: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Antara Patra</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7: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P24PH0006</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8: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Pallvi Pandey</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8: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P25PH0002</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9:0"/>
                      </a:ext>
                    </a:extLst>
                  </a:tcPr>
                </a:tc>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Avaneesh Pandey</a:t>
                      </a:r>
                      <a:endParaRPr sz="1000">
                        <a:latin typeface="Book Antiqua"/>
                        <a:ea typeface="Book Antiqua"/>
                        <a:cs typeface="Book Antiqua"/>
                        <a:sym typeface="Book Antiqua"/>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9:1"/>
                      </a:ext>
                    </a:extLst>
                  </a:tcPr>
                </a:tc>
              </a:tr>
              <a:tr h="239100">
                <a:tc>
                  <a:txBody>
                    <a:bodyPr/>
                    <a:lstStyle/>
                    <a:p>
                      <a:pPr indent="0" lvl="0" marL="0" rtl="0" algn="ctr">
                        <a:lnSpc>
                          <a:spcPct val="115000"/>
                        </a:lnSpc>
                        <a:spcBef>
                          <a:spcPts val="0"/>
                        </a:spcBef>
                        <a:spcAft>
                          <a:spcPts val="0"/>
                        </a:spcAft>
                        <a:buNone/>
                      </a:pPr>
                      <a:r>
                        <a:rPr lang="en-IN" sz="1000">
                          <a:latin typeface="Book Antiqua"/>
                          <a:ea typeface="Book Antiqua"/>
                          <a:cs typeface="Book Antiqua"/>
                          <a:sym typeface="Book Antiqua"/>
                        </a:rPr>
                        <a:t>P24PH0001</a:t>
                      </a:r>
                      <a:endParaRPr sz="1000"/>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10: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Aashish Joshi</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10:1"/>
                      </a:ext>
                    </a:extLst>
                  </a:tcPr>
                </a:tc>
              </a:tr>
              <a:tr h="239100">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P23PH0009</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11:0"/>
                      </a:ext>
                    </a:extLst>
                  </a:tcPr>
                </a:tc>
                <a:tc>
                  <a:txBody>
                    <a:bodyPr/>
                    <a:lstStyle/>
                    <a:p>
                      <a:pPr indent="0" lvl="0" marL="0" rtl="0" algn="ctr">
                        <a:lnSpc>
                          <a:spcPct val="115000"/>
                        </a:lnSpc>
                        <a:spcBef>
                          <a:spcPts val="0"/>
                        </a:spcBef>
                        <a:spcAft>
                          <a:spcPts val="0"/>
                        </a:spcAft>
                        <a:buNone/>
                      </a:pPr>
                      <a:r>
                        <a:rPr lang="en-IN" sz="1000">
                          <a:latin typeface="Times New Roman"/>
                          <a:ea typeface="Times New Roman"/>
                          <a:cs typeface="Times New Roman"/>
                          <a:sym typeface="Times New Roman"/>
                        </a:rPr>
                        <a:t>Rashmi Kandari</a:t>
                      </a:r>
                      <a:endParaRPr sz="1000">
                        <a:latin typeface="Times New Roman"/>
                        <a:ea typeface="Times New Roman"/>
                        <a:cs typeface="Times New Roman"/>
                        <a:sym typeface="Times New Roman"/>
                      </a:endParaRPr>
                    </a:p>
                  </a:txBody>
                  <a:tcPr marT="19050" marB="19050" marR="28575" marL="28575" anchor="b">
                    <a:lnL cap="flat" cmpd="sng" w="10150">
                      <a:solidFill>
                        <a:srgbClr val="000000"/>
                      </a:solidFill>
                      <a:prstDash val="solid"/>
                      <a:round/>
                      <a:headEnd len="sm" w="sm" type="none"/>
                      <a:tailEnd len="sm" w="sm" type="none"/>
                    </a:lnL>
                    <a:lnR cap="flat" cmpd="sng" w="10150">
                      <a:solidFill>
                        <a:srgbClr val="000000"/>
                      </a:solidFill>
                      <a:prstDash val="solid"/>
                      <a:round/>
                      <a:headEnd len="sm" w="sm" type="none"/>
                      <a:tailEnd len="sm" w="sm" type="none"/>
                    </a:lnR>
                    <a:lnT cap="flat" cmpd="sng" w="10150">
                      <a:solidFill>
                        <a:srgbClr val="000000"/>
                      </a:solidFill>
                      <a:prstDash val="solid"/>
                      <a:round/>
                      <a:headEnd len="sm" w="sm" type="none"/>
                      <a:tailEnd len="sm" w="sm" type="none"/>
                    </a:lnT>
                    <a:lnB cap="flat" cmpd="sng" w="10150">
                      <a:solidFill>
                        <a:srgbClr val="000000"/>
                      </a:solidFill>
                      <a:prstDash val="solid"/>
                      <a:round/>
                      <a:headEnd len="sm" w="sm" type="none"/>
                      <a:tailEnd len="sm" w="sm" type="none"/>
                    </a:lnB>
                    <a:extLst>
                      <a:ext uri="http://customooxmlschemas.google.com/">
                        <go:slidesCustomData xmlns:go="http://customooxmlschemas.google.com/" cellId="123:11:1"/>
                      </a:ext>
                    </a:extLst>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nvSpPr>
        <p:spPr>
          <a:xfrm>
            <a:off x="760438" y="147485"/>
            <a:ext cx="110787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none" cap="none" strike="noStrike">
                <a:solidFill>
                  <a:srgbClr val="002060"/>
                </a:solidFill>
                <a:latin typeface="Calibri"/>
                <a:ea typeface="Calibri"/>
                <a:cs typeface="Calibri"/>
                <a:sym typeface="Calibri"/>
              </a:rPr>
              <a:t>Venue: Basic Labs (Physics, IInd Floor)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1" i="0" lang="en-IN" sz="2400" u="none" cap="none" strike="noStrike">
                <a:solidFill>
                  <a:srgbClr val="002060"/>
                </a:solidFill>
                <a:latin typeface="Calibri"/>
                <a:ea typeface="Calibri"/>
                <a:cs typeface="Calibri"/>
                <a:sym typeface="Calibri"/>
              </a:rPr>
              <a:t>In front of Computer Science Engineering Building </a:t>
            </a:r>
            <a:endParaRPr b="0" i="0" sz="1400" u="none" cap="none" strike="noStrike">
              <a:solidFill>
                <a:srgbClr val="000000"/>
              </a:solidFill>
              <a:latin typeface="Arial"/>
              <a:ea typeface="Arial"/>
              <a:cs typeface="Arial"/>
              <a:sym typeface="Arial"/>
            </a:endParaRPr>
          </a:p>
        </p:txBody>
      </p:sp>
      <p:sp>
        <p:nvSpPr>
          <p:cNvPr id="129" name="Google Shape;129;p4"/>
          <p:cNvSpPr txBox="1"/>
          <p:nvPr/>
        </p:nvSpPr>
        <p:spPr>
          <a:xfrm>
            <a:off x="865325" y="1027752"/>
            <a:ext cx="109740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highlight>
                  <a:srgbClr val="FFFFFF"/>
                </a:highlight>
                <a:latin typeface="Verdana"/>
                <a:ea typeface="Verdana"/>
                <a:cs typeface="Verdana"/>
                <a:sym typeface="Verdana"/>
              </a:rPr>
              <a:t>Students learn the systematics of performing experiments including setting up experiments, proper recording of observations, performing calculations, analysing the results vis-a-vis principles of physics, and possible error sources. </a:t>
            </a:r>
            <a:r>
              <a:rPr b="1" i="0" lang="en-IN" sz="1800" u="none" cap="none" strike="noStrike">
                <a:solidFill>
                  <a:schemeClr val="dk1"/>
                </a:solidFill>
                <a:highlight>
                  <a:srgbClr val="FFFFFF"/>
                </a:highlight>
                <a:latin typeface="Verdana"/>
                <a:ea typeface="Verdana"/>
                <a:cs typeface="Verdana"/>
                <a:sym typeface="Verdana"/>
              </a:rPr>
              <a:t>Approximately 8 experiments will be performed by each student during the session. </a:t>
            </a:r>
            <a:endParaRPr b="1" i="0" sz="1800" u="none" cap="none" strike="noStrike">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highlight>
                  <a:srgbClr val="FFFFFF"/>
                </a:highlight>
                <a:latin typeface="Verdana"/>
                <a:ea typeface="Verdana"/>
                <a:cs typeface="Verdana"/>
                <a:sym typeface="Verdana"/>
              </a:rPr>
              <a:t> Documentation –quite important. </a:t>
            </a:r>
            <a:endParaRPr b="0" i="0" sz="1800" u="none" cap="none" strike="noStrike">
              <a:solidFill>
                <a:schemeClr val="dk1"/>
              </a:solidFill>
              <a:latin typeface="Calibri"/>
              <a:ea typeface="Calibri"/>
              <a:cs typeface="Calibri"/>
              <a:sym typeface="Calibri"/>
            </a:endParaRPr>
          </a:p>
        </p:txBody>
      </p:sp>
      <p:pic>
        <p:nvPicPr>
          <p:cNvPr id="130" name="Google Shape;130;p4"/>
          <p:cNvPicPr preferRelativeResize="0"/>
          <p:nvPr/>
        </p:nvPicPr>
        <p:blipFill rotWithShape="1">
          <a:blip r:embed="rId3">
            <a:alphaModFix/>
          </a:blip>
          <a:srcRect b="0" l="0" r="0" t="0"/>
          <a:stretch/>
        </p:blipFill>
        <p:spPr>
          <a:xfrm>
            <a:off x="2543526" y="2871020"/>
            <a:ext cx="7486363" cy="3824747"/>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96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nvSpPr>
        <p:spPr>
          <a:xfrm>
            <a:off x="458885" y="285696"/>
            <a:ext cx="11209800" cy="2232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Calibri"/>
                <a:ea typeface="Calibri"/>
                <a:cs typeface="Calibri"/>
                <a:sym typeface="Calibri"/>
              </a:rPr>
              <a:t>		                          </a:t>
            </a:r>
            <a:r>
              <a:rPr b="1" i="0" lang="en-IN" sz="4000" u="none" cap="none" strike="noStrike">
                <a:solidFill>
                  <a:srgbClr val="002060"/>
                </a:solidFill>
                <a:latin typeface="Calibri"/>
                <a:ea typeface="Calibri"/>
                <a:cs typeface="Calibri"/>
                <a:sym typeface="Calibri"/>
              </a:rPr>
              <a:t>List of Experiments</a:t>
            </a:r>
            <a:endParaRPr b="1" i="0" sz="3200" u="none" cap="none" strike="noStrike">
              <a:solidFill>
                <a:srgbClr val="00206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1" i="0" lang="en-IN" sz="3200" u="none" cap="none" strike="noStrike">
                <a:solidFill>
                  <a:srgbClr val="000000"/>
                </a:solidFill>
                <a:latin typeface="Calibri"/>
                <a:ea typeface="Calibri"/>
                <a:cs typeface="Calibri"/>
                <a:sym typeface="Calibri"/>
              </a:rPr>
              <a:t> </a:t>
            </a:r>
            <a:br>
              <a:rPr b="1" i="0" lang="en-IN" sz="2400" u="none" cap="none" strike="noStrike">
                <a:solidFill>
                  <a:srgbClr val="000000"/>
                </a:solidFill>
                <a:latin typeface="Calibri"/>
                <a:ea typeface="Calibri"/>
                <a:cs typeface="Calibri"/>
                <a:sym typeface="Calibri"/>
              </a:rPr>
            </a:br>
            <a:r>
              <a:rPr b="1" i="0" lang="en-IN" sz="2400" u="none" cap="none" strike="noStrike">
                <a:solidFill>
                  <a:srgbClr val="000000"/>
                </a:solidFill>
                <a:latin typeface="Calibri"/>
                <a:ea typeface="Calibri"/>
                <a:cs typeface="Calibri"/>
                <a:sym typeface="Calibri"/>
              </a:rPr>
              <a:t>		</a:t>
            </a:r>
            <a:br>
              <a:rPr b="1" i="0" lang="en-IN" sz="2400" u="none" cap="none" strike="noStrike">
                <a:solidFill>
                  <a:srgbClr val="B60000"/>
                </a:solidFill>
                <a:latin typeface="Calibri"/>
                <a:ea typeface="Calibri"/>
                <a:cs typeface="Calibri"/>
                <a:sym typeface="Calibri"/>
              </a:rPr>
            </a:br>
            <a:r>
              <a:rPr b="1" i="0" lang="en-IN" sz="2400" u="none" cap="none" strike="noStrike">
                <a:solidFill>
                  <a:srgbClr val="000000"/>
                </a:solidFill>
                <a:latin typeface="Calibri"/>
                <a:ea typeface="Calibri"/>
                <a:cs typeface="Calibri"/>
                <a:sym typeface="Calibri"/>
              </a:rPr>
              <a:t>1. </a:t>
            </a:r>
            <a:r>
              <a:rPr b="1" i="0" lang="en-IN" sz="2400" u="none" cap="none" strike="noStrike">
                <a:solidFill>
                  <a:srgbClr val="0000F6"/>
                </a:solidFill>
                <a:latin typeface="Calibri"/>
                <a:ea typeface="Calibri"/>
                <a:cs typeface="Calibri"/>
                <a:sym typeface="Calibri"/>
              </a:rPr>
              <a:t>e/m Ratio :</a:t>
            </a:r>
            <a:r>
              <a:rPr b="1" i="0" lang="en-IN" sz="2400" u="none" cap="none" strike="noStrike">
                <a:solidFill>
                  <a:srgbClr val="000000"/>
                </a:solidFill>
                <a:latin typeface="Calibri"/>
                <a:ea typeface="Calibri"/>
                <a:cs typeface="Calibri"/>
                <a:sym typeface="Calibri"/>
              </a:rPr>
              <a:t> </a:t>
            </a:r>
            <a:r>
              <a:rPr b="1" i="0" lang="en-IN" sz="1900" u="none" cap="none" strike="noStrike">
                <a:solidFill>
                  <a:srgbClr val="000000"/>
                </a:solidFill>
                <a:latin typeface="Calibri"/>
                <a:ea typeface="Calibri"/>
                <a:cs typeface="Calibri"/>
                <a:sym typeface="Calibri"/>
              </a:rPr>
              <a:t>To measure the specific charge, i.e., charge-to-mass ratio (e/m) of  the electron using THOMSON’S METHOD</a:t>
            </a:r>
            <a:endParaRPr b="1" i="0" sz="1900" u="none" cap="none" strike="noStrike">
              <a:solidFill>
                <a:srgbClr val="000000"/>
              </a:solidFill>
              <a:latin typeface="Calibri"/>
              <a:ea typeface="Calibri"/>
              <a:cs typeface="Calibri"/>
              <a:sym typeface="Calibri"/>
            </a:endParaRPr>
          </a:p>
        </p:txBody>
      </p:sp>
      <p:sp>
        <p:nvSpPr>
          <p:cNvPr id="137" name="Google Shape;137;p5"/>
          <p:cNvSpPr/>
          <p:nvPr/>
        </p:nvSpPr>
        <p:spPr>
          <a:xfrm>
            <a:off x="1012822" y="3721518"/>
            <a:ext cx="121932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5"/>
          <p:cNvSpPr txBox="1"/>
          <p:nvPr/>
        </p:nvSpPr>
        <p:spPr>
          <a:xfrm>
            <a:off x="5359114" y="6299565"/>
            <a:ext cx="3215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e/m Ratio  Exp. Set-up</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4277842" y="1106987"/>
            <a:ext cx="4139400" cy="523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IN" sz="2800" u="none" cap="none" strike="noStrike">
                <a:solidFill>
                  <a:srgbClr val="A00000"/>
                </a:solidFill>
                <a:latin typeface="Calibri"/>
                <a:ea typeface="Calibri"/>
                <a:cs typeface="Calibri"/>
                <a:sym typeface="Calibri"/>
              </a:rPr>
              <a:t>Electromagnetism</a:t>
            </a:r>
            <a:endParaRPr b="0" i="0" sz="1400" u="none" cap="none" strike="noStrike">
              <a:solidFill>
                <a:srgbClr val="000000"/>
              </a:solidFill>
              <a:latin typeface="Arial"/>
              <a:ea typeface="Arial"/>
              <a:cs typeface="Arial"/>
              <a:sym typeface="Arial"/>
            </a:endParaRPr>
          </a:p>
        </p:txBody>
      </p:sp>
      <p:pic>
        <p:nvPicPr>
          <p:cNvPr id="140" name="Google Shape;140;p5"/>
          <p:cNvPicPr preferRelativeResize="0"/>
          <p:nvPr/>
        </p:nvPicPr>
        <p:blipFill rotWithShape="1">
          <a:blip r:embed="rId3">
            <a:alphaModFix/>
          </a:blip>
          <a:srcRect b="0" l="0" r="0" t="0"/>
          <a:stretch/>
        </p:blipFill>
        <p:spPr>
          <a:xfrm>
            <a:off x="3346400" y="2771100"/>
            <a:ext cx="5734050" cy="3070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nvSpPr>
        <p:spPr>
          <a:xfrm>
            <a:off x="871879" y="767367"/>
            <a:ext cx="10377300" cy="369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Calibri"/>
                <a:ea typeface="Calibri"/>
                <a:cs typeface="Calibri"/>
                <a:sym typeface="Calibri"/>
              </a:rPr>
              <a:t>2. </a:t>
            </a:r>
            <a:r>
              <a:rPr b="1" i="0" lang="en-IN" sz="1800" u="none" cap="none" strike="noStrike">
                <a:solidFill>
                  <a:srgbClr val="0000FB"/>
                </a:solidFill>
                <a:latin typeface="Calibri"/>
                <a:ea typeface="Calibri"/>
                <a:cs typeface="Calibri"/>
                <a:sym typeface="Calibri"/>
              </a:rPr>
              <a:t>Basic Current Balance : </a:t>
            </a:r>
            <a:r>
              <a:rPr b="1" i="0" lang="en-IN" sz="1800" u="none" cap="none" strike="noStrike">
                <a:solidFill>
                  <a:srgbClr val="000000"/>
                </a:solidFill>
                <a:latin typeface="Calibri"/>
                <a:ea typeface="Calibri"/>
                <a:cs typeface="Calibri"/>
                <a:sym typeface="Calibri"/>
              </a:rPr>
              <a:t>Study of Effect of Magnetic field on a current carrying  Conductor. </a:t>
            </a:r>
            <a:endParaRPr b="0" i="0" sz="1400" u="none" cap="none" strike="noStrike">
              <a:solidFill>
                <a:srgbClr val="000000"/>
              </a:solidFill>
              <a:latin typeface="Arial"/>
              <a:ea typeface="Arial"/>
              <a:cs typeface="Arial"/>
              <a:sym typeface="Arial"/>
            </a:endParaRPr>
          </a:p>
        </p:txBody>
      </p:sp>
      <p:sp>
        <p:nvSpPr>
          <p:cNvPr id="146" name="Google Shape;146;p6"/>
          <p:cNvSpPr txBox="1"/>
          <p:nvPr/>
        </p:nvSpPr>
        <p:spPr>
          <a:xfrm>
            <a:off x="4107400" y="192587"/>
            <a:ext cx="4139400" cy="523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IN" sz="2800" u="none" cap="none" strike="noStrike">
                <a:solidFill>
                  <a:srgbClr val="A00000"/>
                </a:solidFill>
                <a:latin typeface="Calibri"/>
                <a:ea typeface="Calibri"/>
                <a:cs typeface="Calibri"/>
                <a:sym typeface="Calibri"/>
              </a:rPr>
              <a:t>Electromagnetism</a:t>
            </a:r>
            <a:endParaRPr b="0" i="0" sz="1400" u="none" cap="none" strike="noStrike">
              <a:solidFill>
                <a:srgbClr val="000000"/>
              </a:solidFill>
              <a:latin typeface="Arial"/>
              <a:ea typeface="Arial"/>
              <a:cs typeface="Arial"/>
              <a:sym typeface="Arial"/>
            </a:endParaRPr>
          </a:p>
        </p:txBody>
      </p:sp>
      <p:pic>
        <p:nvPicPr>
          <p:cNvPr descr="Basic Current Balance" id="147" name="Google Shape;147;p6"/>
          <p:cNvPicPr preferRelativeResize="0"/>
          <p:nvPr/>
        </p:nvPicPr>
        <p:blipFill rotWithShape="1">
          <a:blip r:embed="rId3">
            <a:alphaModFix/>
          </a:blip>
          <a:srcRect b="4434" l="1276" r="2367" t="26600"/>
          <a:stretch/>
        </p:blipFill>
        <p:spPr>
          <a:xfrm>
            <a:off x="769810" y="1596545"/>
            <a:ext cx="5035213" cy="1998659"/>
          </a:xfrm>
          <a:prstGeom prst="rect">
            <a:avLst/>
          </a:prstGeom>
          <a:noFill/>
          <a:ln>
            <a:noFill/>
          </a:ln>
        </p:spPr>
      </p:pic>
      <p:pic>
        <p:nvPicPr>
          <p:cNvPr descr="Product Thumbnail" id="148" name="Google Shape;148;p6"/>
          <p:cNvPicPr preferRelativeResize="0"/>
          <p:nvPr/>
        </p:nvPicPr>
        <p:blipFill rotWithShape="1">
          <a:blip r:embed="rId4">
            <a:alphaModFix/>
          </a:blip>
          <a:srcRect b="0" l="0" r="0" t="0"/>
          <a:stretch/>
        </p:blipFill>
        <p:spPr>
          <a:xfrm>
            <a:off x="7465928" y="1532071"/>
            <a:ext cx="2967804" cy="1978536"/>
          </a:xfrm>
          <a:prstGeom prst="rect">
            <a:avLst/>
          </a:prstGeom>
          <a:noFill/>
          <a:ln>
            <a:noFill/>
          </a:ln>
        </p:spPr>
      </p:pic>
      <p:sp>
        <p:nvSpPr>
          <p:cNvPr id="149" name="Google Shape;149;p6"/>
          <p:cNvSpPr/>
          <p:nvPr/>
        </p:nvSpPr>
        <p:spPr>
          <a:xfrm>
            <a:off x="6096600" y="3510607"/>
            <a:ext cx="4061100" cy="3078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Book Antiqua"/>
              <a:buNone/>
            </a:pPr>
            <a:r>
              <a:rPr b="1" i="0" lang="en-IN" sz="1400" u="none" cap="none" strike="noStrike">
                <a:solidFill>
                  <a:schemeClr val="dk1"/>
                </a:solidFill>
                <a:latin typeface="Book Antiqua"/>
                <a:ea typeface="Book Antiqua"/>
                <a:cs typeface="Book Antiqua"/>
                <a:sym typeface="Book Antiqua"/>
              </a:rPr>
              <a:t>Basic Current Balance Exp Set-up</a:t>
            </a:r>
            <a:endParaRPr b="0" i="0" sz="1800" u="none" cap="none" strike="noStrike">
              <a:solidFill>
                <a:schemeClr val="dk1"/>
              </a:solidFill>
              <a:latin typeface="Arial"/>
              <a:ea typeface="Arial"/>
              <a:cs typeface="Arial"/>
              <a:sym typeface="Arial"/>
            </a:endParaRPr>
          </a:p>
        </p:txBody>
      </p:sp>
      <p:sp>
        <p:nvSpPr>
          <p:cNvPr id="150" name="Google Shape;150;p6"/>
          <p:cNvSpPr/>
          <p:nvPr/>
        </p:nvSpPr>
        <p:spPr>
          <a:xfrm>
            <a:off x="2146307" y="6459684"/>
            <a:ext cx="3315900" cy="3078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Calibri"/>
                <a:ea typeface="Calibri"/>
                <a:cs typeface="Calibri"/>
                <a:sym typeface="Calibri"/>
              </a:rPr>
              <a:t>Biot-Savart’s Law  Experiment</a:t>
            </a:r>
            <a:endParaRPr b="0" i="0" sz="1400" u="none" cap="none" strike="noStrike">
              <a:solidFill>
                <a:srgbClr val="000000"/>
              </a:solidFill>
              <a:latin typeface="Arial"/>
              <a:ea typeface="Arial"/>
              <a:cs typeface="Arial"/>
              <a:sym typeface="Arial"/>
            </a:endParaRPr>
          </a:p>
        </p:txBody>
      </p:sp>
      <p:sp>
        <p:nvSpPr>
          <p:cNvPr id="151" name="Google Shape;151;p6"/>
          <p:cNvSpPr txBox="1"/>
          <p:nvPr/>
        </p:nvSpPr>
        <p:spPr>
          <a:xfrm>
            <a:off x="714280" y="3924224"/>
            <a:ext cx="103773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Calibri"/>
                <a:ea typeface="Calibri"/>
                <a:cs typeface="Calibri"/>
                <a:sym typeface="Calibri"/>
              </a:rPr>
              <a:t>3. </a:t>
            </a:r>
            <a:r>
              <a:rPr b="1" i="0" lang="en-IN" sz="1800" u="none" cap="none" strike="noStrike">
                <a:solidFill>
                  <a:srgbClr val="0000FB"/>
                </a:solidFill>
                <a:latin typeface="Calibri"/>
                <a:ea typeface="Calibri"/>
                <a:cs typeface="Calibri"/>
                <a:sym typeface="Calibri"/>
              </a:rPr>
              <a:t>Biot-Savart’s Law  Experiment : </a:t>
            </a:r>
            <a:r>
              <a:rPr b="1" i="0" lang="en-IN" sz="1800" u="none" cap="none" strike="noStrike">
                <a:solidFill>
                  <a:srgbClr val="000000"/>
                </a:solidFill>
                <a:latin typeface="Calibri"/>
                <a:ea typeface="Calibri"/>
                <a:cs typeface="Calibri"/>
                <a:sym typeface="Calibri"/>
              </a:rPr>
              <a:t>Measuring the magnetic field of circular conductor loops as function of the loop radius and distance from the loop</a:t>
            </a:r>
            <a:endParaRPr b="1" i="0" sz="1800" u="none" cap="none" strike="noStrike">
              <a:solidFill>
                <a:srgbClr val="000000"/>
              </a:solidFill>
              <a:latin typeface="Calibri"/>
              <a:ea typeface="Calibri"/>
              <a:cs typeface="Calibri"/>
              <a:sym typeface="Calibri"/>
            </a:endParaRPr>
          </a:p>
        </p:txBody>
      </p:sp>
      <p:pic>
        <p:nvPicPr>
          <p:cNvPr id="152" name="Google Shape;152;p6"/>
          <p:cNvPicPr preferRelativeResize="0"/>
          <p:nvPr/>
        </p:nvPicPr>
        <p:blipFill rotWithShape="1">
          <a:blip r:embed="rId5">
            <a:alphaModFix/>
          </a:blip>
          <a:srcRect b="0" l="0" r="0" t="0"/>
          <a:stretch/>
        </p:blipFill>
        <p:spPr>
          <a:xfrm>
            <a:off x="5561601" y="4634366"/>
            <a:ext cx="4012162" cy="21493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nvSpPr>
        <p:spPr>
          <a:xfrm>
            <a:off x="2759861" y="434760"/>
            <a:ext cx="7623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A00000"/>
                </a:solidFill>
                <a:latin typeface="Calibri"/>
                <a:ea typeface="Calibri"/>
                <a:cs typeface="Calibri"/>
                <a:sym typeface="Calibri"/>
              </a:rPr>
              <a:t>Intrinsic magnetic properties </a:t>
            </a:r>
            <a:endParaRPr b="0" i="0" sz="1400" u="none" cap="none" strike="noStrike">
              <a:solidFill>
                <a:srgbClr val="000000"/>
              </a:solidFill>
              <a:latin typeface="Arial"/>
              <a:ea typeface="Arial"/>
              <a:cs typeface="Arial"/>
              <a:sym typeface="Arial"/>
            </a:endParaRPr>
          </a:p>
        </p:txBody>
      </p:sp>
      <p:sp>
        <p:nvSpPr>
          <p:cNvPr id="158" name="Google Shape;158;p7"/>
          <p:cNvSpPr txBox="1"/>
          <p:nvPr/>
        </p:nvSpPr>
        <p:spPr>
          <a:xfrm>
            <a:off x="458885" y="1189298"/>
            <a:ext cx="112098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IN" sz="2400" u="none" cap="none" strike="noStrike">
                <a:solidFill>
                  <a:srgbClr val="000000"/>
                </a:solidFill>
                <a:latin typeface="Calibri"/>
                <a:ea typeface="Calibri"/>
                <a:cs typeface="Calibri"/>
                <a:sym typeface="Calibri"/>
              </a:rPr>
              <a:t>4</a:t>
            </a:r>
            <a:r>
              <a:rPr b="1" i="0" lang="en-IN" sz="2400" u="none" cap="none" strike="noStrike">
                <a:solidFill>
                  <a:schemeClr val="dk1"/>
                </a:solidFill>
                <a:latin typeface="Calibri"/>
                <a:ea typeface="Calibri"/>
                <a:cs typeface="Calibri"/>
                <a:sym typeface="Calibri"/>
              </a:rPr>
              <a:t>.</a:t>
            </a:r>
            <a:r>
              <a:rPr b="1" i="0" lang="en-IN" sz="2400" u="none" cap="none" strike="noStrike">
                <a:solidFill>
                  <a:srgbClr val="0000FB"/>
                </a:solidFill>
                <a:latin typeface="Calibri"/>
                <a:ea typeface="Calibri"/>
                <a:cs typeface="Calibri"/>
                <a:sym typeface="Calibri"/>
              </a:rPr>
              <a:t> Hall Effect : </a:t>
            </a:r>
            <a:r>
              <a:rPr b="1" i="0" lang="en-IN" sz="2400" u="none" cap="none" strike="noStrike">
                <a:solidFill>
                  <a:srgbClr val="000003"/>
                </a:solidFill>
                <a:latin typeface="Calibri"/>
                <a:ea typeface="Calibri"/>
                <a:cs typeface="Calibri"/>
                <a:sym typeface="Calibri"/>
              </a:rPr>
              <a:t>To study the Hall Effect in an extrinsic semiconducting sample  and to determine the Hall voltage and Hall coefficient.</a:t>
            </a:r>
            <a:endParaRPr b="0" i="0" sz="2400" u="none" cap="none" strike="noStrike">
              <a:solidFill>
                <a:schemeClr val="dk1"/>
              </a:solidFill>
              <a:latin typeface="Calibri"/>
              <a:ea typeface="Calibri"/>
              <a:cs typeface="Calibri"/>
              <a:sym typeface="Calibri"/>
            </a:endParaRPr>
          </a:p>
        </p:txBody>
      </p:sp>
      <p:pic>
        <p:nvPicPr>
          <p:cNvPr id="159" name="Google Shape;159;p7"/>
          <p:cNvPicPr preferRelativeResize="0"/>
          <p:nvPr/>
        </p:nvPicPr>
        <p:blipFill rotWithShape="1">
          <a:blip r:embed="rId3">
            <a:alphaModFix/>
          </a:blip>
          <a:srcRect b="4755" l="2659" r="1438" t="22957"/>
          <a:stretch/>
        </p:blipFill>
        <p:spPr>
          <a:xfrm>
            <a:off x="1940426" y="2683132"/>
            <a:ext cx="8213818" cy="3078574"/>
          </a:xfrm>
          <a:prstGeom prst="rect">
            <a:avLst/>
          </a:prstGeom>
          <a:noFill/>
          <a:ln>
            <a:noFill/>
          </a:ln>
        </p:spPr>
      </p:pic>
      <p:sp>
        <p:nvSpPr>
          <p:cNvPr id="160" name="Google Shape;160;p7"/>
          <p:cNvSpPr txBox="1"/>
          <p:nvPr/>
        </p:nvSpPr>
        <p:spPr>
          <a:xfrm>
            <a:off x="4503613" y="6048993"/>
            <a:ext cx="3323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Hall Effect  Exp. Set-up </a:t>
            </a:r>
            <a:endParaRPr b="1"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nvSpPr>
        <p:spPr>
          <a:xfrm>
            <a:off x="432663" y="818167"/>
            <a:ext cx="11393400" cy="2124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200"/>
              <a:buFont typeface="Arial"/>
              <a:buNone/>
            </a:pPr>
            <a:r>
              <a:rPr b="1" i="0" lang="en-IN" sz="2200" u="none" cap="none" strike="noStrike">
                <a:solidFill>
                  <a:srgbClr val="000000"/>
                </a:solidFill>
                <a:latin typeface="Calibri"/>
                <a:ea typeface="Calibri"/>
                <a:cs typeface="Calibri"/>
                <a:sym typeface="Calibri"/>
              </a:rPr>
              <a:t>5. </a:t>
            </a:r>
            <a:r>
              <a:rPr b="1" i="0" lang="en-IN" sz="2200" u="none" cap="none" strike="noStrike">
                <a:solidFill>
                  <a:srgbClr val="F800FF"/>
                </a:solidFill>
                <a:latin typeface="Calibri"/>
                <a:ea typeface="Calibri"/>
                <a:cs typeface="Calibri"/>
                <a:sym typeface="Calibri"/>
              </a:rPr>
              <a:t>Newton’s Rings </a:t>
            </a:r>
            <a:r>
              <a:rPr b="1" i="0" lang="en-IN" sz="2200" u="none" cap="none" strike="noStrike">
                <a:solidFill>
                  <a:srgbClr val="0000FF"/>
                </a:solidFill>
                <a:latin typeface="Calibri"/>
                <a:ea typeface="Calibri"/>
                <a:cs typeface="Calibri"/>
                <a:sym typeface="Calibri"/>
              </a:rPr>
              <a:t>: </a:t>
            </a:r>
            <a:r>
              <a:rPr b="1" i="0" lang="en-IN" sz="2200" u="none" cap="none" strike="noStrike">
                <a:solidFill>
                  <a:srgbClr val="000000"/>
                </a:solidFill>
                <a:latin typeface="Calibri"/>
                <a:ea typeface="Calibri"/>
                <a:cs typeface="Calibri"/>
                <a:sym typeface="Calibri"/>
              </a:rPr>
              <a:t>Determining wavelength of Sodium light using Newton Ring’s, the interference fringes.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Arial"/>
              <a:buNone/>
            </a:pPr>
            <a:br>
              <a:rPr b="1" i="0" lang="en-IN" sz="2200" u="none" cap="none" strike="noStrike">
                <a:solidFill>
                  <a:srgbClr val="000000"/>
                </a:solidFill>
                <a:latin typeface="Calibri"/>
                <a:ea typeface="Calibri"/>
                <a:cs typeface="Calibri"/>
                <a:sym typeface="Calibri"/>
              </a:rPr>
            </a:br>
            <a:r>
              <a:rPr b="1" i="0" lang="en-IN" sz="2200" u="none" cap="none" strike="noStrike">
                <a:solidFill>
                  <a:srgbClr val="000000"/>
                </a:solidFill>
                <a:latin typeface="Calibri"/>
                <a:ea typeface="Calibri"/>
                <a:cs typeface="Calibri"/>
                <a:sym typeface="Calibri"/>
              </a:rPr>
              <a:t>6. </a:t>
            </a:r>
            <a:r>
              <a:rPr b="1" i="0" lang="en-IN" sz="2200" u="none" cap="none" strike="noStrike">
                <a:solidFill>
                  <a:srgbClr val="FF00FD"/>
                </a:solidFill>
                <a:latin typeface="Calibri"/>
                <a:ea typeface="Calibri"/>
                <a:cs typeface="Calibri"/>
                <a:sym typeface="Calibri"/>
              </a:rPr>
              <a:t>Diffraction Gratings</a:t>
            </a:r>
            <a:r>
              <a:rPr b="1" i="0" lang="en-IN" sz="2200" u="none" cap="none" strike="noStrike">
                <a:solidFill>
                  <a:srgbClr val="000000"/>
                </a:solidFill>
                <a:latin typeface="Calibri"/>
                <a:ea typeface="Calibri"/>
                <a:cs typeface="Calibri"/>
                <a:sym typeface="Calibri"/>
              </a:rPr>
              <a:t> : Determine the wavelength of prominent spectral lines of mercury light using a plane diffraction grating and spectrometer.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Calibri"/>
              <a:ea typeface="Calibri"/>
              <a:cs typeface="Calibri"/>
              <a:sym typeface="Calibri"/>
            </a:endParaRPr>
          </a:p>
        </p:txBody>
      </p:sp>
      <p:sp>
        <p:nvSpPr>
          <p:cNvPr id="166" name="Google Shape;166;p8"/>
          <p:cNvSpPr txBox="1"/>
          <p:nvPr/>
        </p:nvSpPr>
        <p:spPr>
          <a:xfrm>
            <a:off x="3421959" y="62139"/>
            <a:ext cx="5165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A00000"/>
                </a:solidFill>
                <a:latin typeface="Calibri"/>
                <a:ea typeface="Calibri"/>
                <a:cs typeface="Calibri"/>
                <a:sym typeface="Calibri"/>
              </a:rPr>
              <a:t>Wave nature of light  </a:t>
            </a:r>
            <a:endParaRPr b="0" i="0" sz="1400" u="none" cap="none" strike="noStrike">
              <a:solidFill>
                <a:srgbClr val="000000"/>
              </a:solidFill>
              <a:latin typeface="Arial"/>
              <a:ea typeface="Arial"/>
              <a:cs typeface="Arial"/>
              <a:sym typeface="Arial"/>
            </a:endParaRPr>
          </a:p>
        </p:txBody>
      </p:sp>
      <p:pic>
        <p:nvPicPr>
          <p:cNvPr id="167" name="Google Shape;167;p8"/>
          <p:cNvPicPr preferRelativeResize="0"/>
          <p:nvPr/>
        </p:nvPicPr>
        <p:blipFill rotWithShape="1">
          <a:blip r:embed="rId3">
            <a:alphaModFix/>
          </a:blip>
          <a:srcRect b="2565" l="23101" r="2271" t="2482"/>
          <a:stretch/>
        </p:blipFill>
        <p:spPr>
          <a:xfrm>
            <a:off x="367107" y="3053540"/>
            <a:ext cx="5701168" cy="2914014"/>
          </a:xfrm>
          <a:prstGeom prst="rect">
            <a:avLst/>
          </a:prstGeom>
          <a:noFill/>
          <a:ln>
            <a:noFill/>
          </a:ln>
        </p:spPr>
      </p:pic>
      <p:pic>
        <p:nvPicPr>
          <p:cNvPr descr="OMEGA Spectrometer 6 Inch Scale, Omega Scientific Industries | ID:  19665124130" id="168" name="Google Shape;168;p8"/>
          <p:cNvPicPr preferRelativeResize="0"/>
          <p:nvPr/>
        </p:nvPicPr>
        <p:blipFill rotWithShape="1">
          <a:blip r:embed="rId4">
            <a:alphaModFix/>
          </a:blip>
          <a:srcRect b="0" l="0" r="0" t="0"/>
          <a:stretch/>
        </p:blipFill>
        <p:spPr>
          <a:xfrm>
            <a:off x="6297825" y="3087611"/>
            <a:ext cx="5701175" cy="2832013"/>
          </a:xfrm>
          <a:prstGeom prst="rect">
            <a:avLst/>
          </a:prstGeom>
          <a:noFill/>
          <a:ln>
            <a:noFill/>
          </a:ln>
        </p:spPr>
      </p:pic>
      <p:sp>
        <p:nvSpPr>
          <p:cNvPr id="169" name="Google Shape;169;p8"/>
          <p:cNvSpPr txBox="1"/>
          <p:nvPr/>
        </p:nvSpPr>
        <p:spPr>
          <a:xfrm>
            <a:off x="1042323" y="6138157"/>
            <a:ext cx="3848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Newton’s Rings  Exp. Set-up</a:t>
            </a:r>
            <a:r>
              <a:rPr b="1" i="0" lang="en-IN" sz="1800" u="none" cap="none" strike="noStrike">
                <a:solidFill>
                  <a:srgbClr val="F800FF"/>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170" name="Google Shape;170;p8"/>
          <p:cNvSpPr txBox="1"/>
          <p:nvPr/>
        </p:nvSpPr>
        <p:spPr>
          <a:xfrm>
            <a:off x="7302812" y="6015253"/>
            <a:ext cx="420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Diffraction Gratings Exp. Set-up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ed7ae8eeb1_0_3"/>
          <p:cNvSpPr txBox="1"/>
          <p:nvPr/>
        </p:nvSpPr>
        <p:spPr>
          <a:xfrm>
            <a:off x="432663" y="818167"/>
            <a:ext cx="11393400" cy="110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200"/>
              <a:buFont typeface="Arial"/>
              <a:buNone/>
            </a:pPr>
            <a:r>
              <a:rPr b="1" i="0" lang="en-IN" sz="2200" u="none" cap="none" strike="noStrike">
                <a:solidFill>
                  <a:srgbClr val="000000"/>
                </a:solidFill>
                <a:latin typeface="Calibri"/>
                <a:ea typeface="Calibri"/>
                <a:cs typeface="Calibri"/>
                <a:sym typeface="Calibri"/>
              </a:rPr>
              <a:t>7. </a:t>
            </a:r>
            <a:r>
              <a:rPr b="1" i="0" lang="en-IN" sz="2200" u="none" cap="none" strike="noStrike">
                <a:solidFill>
                  <a:srgbClr val="F800FF"/>
                </a:solidFill>
                <a:latin typeface="Calibri"/>
                <a:ea typeface="Calibri"/>
                <a:cs typeface="Calibri"/>
                <a:sym typeface="Calibri"/>
              </a:rPr>
              <a:t>Disperisve Power </a:t>
            </a:r>
            <a:r>
              <a:rPr b="1" i="0" lang="en-IN" sz="2200" u="none" cap="none" strike="noStrike">
                <a:solidFill>
                  <a:srgbClr val="0000FF"/>
                </a:solidFill>
                <a:latin typeface="Calibri"/>
                <a:ea typeface="Calibri"/>
                <a:cs typeface="Calibri"/>
                <a:sym typeface="Calibri"/>
              </a:rPr>
              <a:t>: </a:t>
            </a:r>
            <a:r>
              <a:rPr b="1" i="0" lang="en-IN" sz="2200" u="none" cap="none" strike="noStrike">
                <a:solidFill>
                  <a:schemeClr val="dk1"/>
                </a:solidFill>
                <a:latin typeface="Calibri"/>
                <a:ea typeface="Calibri"/>
                <a:cs typeface="Calibri"/>
                <a:sym typeface="Calibri"/>
              </a:rPr>
              <a:t>To determine the refractive index of prism material for particular prominent spectral lines of mercury light.</a:t>
            </a:r>
            <a:endParaRPr b="1" i="0" sz="2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Calibri"/>
              <a:ea typeface="Calibri"/>
              <a:cs typeface="Calibri"/>
              <a:sym typeface="Calibri"/>
            </a:endParaRPr>
          </a:p>
        </p:txBody>
      </p:sp>
      <p:sp>
        <p:nvSpPr>
          <p:cNvPr id="176" name="Google Shape;176;g2ed7ae8eeb1_0_3"/>
          <p:cNvSpPr txBox="1"/>
          <p:nvPr/>
        </p:nvSpPr>
        <p:spPr>
          <a:xfrm>
            <a:off x="3421959" y="62139"/>
            <a:ext cx="5165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A00000"/>
                </a:solidFill>
                <a:latin typeface="Calibri"/>
                <a:ea typeface="Calibri"/>
                <a:cs typeface="Calibri"/>
                <a:sym typeface="Calibri"/>
              </a:rPr>
              <a:t>Wave nature of light  </a:t>
            </a:r>
            <a:endParaRPr b="0" i="0" sz="1400" u="none" cap="none" strike="noStrike">
              <a:solidFill>
                <a:srgbClr val="000000"/>
              </a:solidFill>
              <a:latin typeface="Arial"/>
              <a:ea typeface="Arial"/>
              <a:cs typeface="Arial"/>
              <a:sym typeface="Arial"/>
            </a:endParaRPr>
          </a:p>
        </p:txBody>
      </p:sp>
      <p:sp>
        <p:nvSpPr>
          <p:cNvPr id="177" name="Google Shape;177;g2ed7ae8eeb1_0_3"/>
          <p:cNvSpPr txBox="1"/>
          <p:nvPr/>
        </p:nvSpPr>
        <p:spPr>
          <a:xfrm>
            <a:off x="3948521" y="5875303"/>
            <a:ext cx="420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Dispersive Power Exp. Set-up </a:t>
            </a:r>
            <a:endParaRPr b="0" i="0" sz="1800" u="none" cap="none" strike="noStrike">
              <a:solidFill>
                <a:schemeClr val="dk1"/>
              </a:solidFill>
              <a:latin typeface="Calibri"/>
              <a:ea typeface="Calibri"/>
              <a:cs typeface="Calibri"/>
              <a:sym typeface="Calibri"/>
            </a:endParaRPr>
          </a:p>
        </p:txBody>
      </p:sp>
      <p:pic>
        <p:nvPicPr>
          <p:cNvPr descr="DSC_0046" id="178" name="Google Shape;178;g2ed7ae8eeb1_0_3"/>
          <p:cNvPicPr preferRelativeResize="0"/>
          <p:nvPr/>
        </p:nvPicPr>
        <p:blipFill rotWithShape="1">
          <a:blip r:embed="rId3">
            <a:alphaModFix/>
          </a:blip>
          <a:srcRect b="0" l="0" r="0" t="0"/>
          <a:stretch/>
        </p:blipFill>
        <p:spPr>
          <a:xfrm>
            <a:off x="2911516" y="1787800"/>
            <a:ext cx="5724525" cy="3800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nvSpPr>
        <p:spPr>
          <a:xfrm>
            <a:off x="3421959" y="62139"/>
            <a:ext cx="5165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A00000"/>
                </a:solidFill>
                <a:latin typeface="Calibri"/>
                <a:ea typeface="Calibri"/>
                <a:cs typeface="Calibri"/>
                <a:sym typeface="Calibri"/>
              </a:rPr>
              <a:t>Wave nature of light  </a:t>
            </a:r>
            <a:endParaRPr b="0" i="0" sz="1400" u="none" cap="none" strike="noStrike">
              <a:solidFill>
                <a:srgbClr val="000000"/>
              </a:solidFill>
              <a:latin typeface="Arial"/>
              <a:ea typeface="Arial"/>
              <a:cs typeface="Arial"/>
              <a:sym typeface="Arial"/>
            </a:endParaRPr>
          </a:p>
        </p:txBody>
      </p:sp>
      <p:sp>
        <p:nvSpPr>
          <p:cNvPr id="184" name="Google Shape;184;p9"/>
          <p:cNvSpPr txBox="1"/>
          <p:nvPr/>
        </p:nvSpPr>
        <p:spPr>
          <a:xfrm>
            <a:off x="3048300" y="3235003"/>
            <a:ext cx="609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9"/>
          <p:cNvSpPr txBox="1"/>
          <p:nvPr/>
        </p:nvSpPr>
        <p:spPr>
          <a:xfrm>
            <a:off x="497682" y="740629"/>
            <a:ext cx="106131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Calibri"/>
                <a:ea typeface="Calibri"/>
                <a:cs typeface="Calibri"/>
                <a:sym typeface="Calibri"/>
              </a:rPr>
              <a:t>8. </a:t>
            </a:r>
            <a:r>
              <a:rPr b="1" i="0" lang="en-IN" sz="1800" u="none" cap="none" strike="noStrike">
                <a:solidFill>
                  <a:srgbClr val="FF00FD"/>
                </a:solidFill>
                <a:latin typeface="Calibri"/>
                <a:ea typeface="Calibri"/>
                <a:cs typeface="Calibri"/>
                <a:sym typeface="Calibri"/>
              </a:rPr>
              <a:t>Young’s double slit experiment </a:t>
            </a:r>
            <a:r>
              <a:rPr b="1" i="0" lang="en-IN" sz="1800" u="none" cap="none" strike="noStrike">
                <a:solidFill>
                  <a:srgbClr val="000000"/>
                </a:solidFill>
                <a:latin typeface="Calibri"/>
                <a:ea typeface="Calibri"/>
                <a:cs typeface="Calibri"/>
                <a:sym typeface="Calibri"/>
              </a:rPr>
              <a:t>: Determine the wavelength of a monochromatic  light source using  Fresnel’s Biprism</a:t>
            </a:r>
            <a:endParaRPr b="0" i="0" sz="1400" u="none" cap="none" strike="noStrike">
              <a:solidFill>
                <a:srgbClr val="000000"/>
              </a:solidFill>
              <a:latin typeface="Arial"/>
              <a:ea typeface="Arial"/>
              <a:cs typeface="Arial"/>
              <a:sym typeface="Arial"/>
            </a:endParaRPr>
          </a:p>
        </p:txBody>
      </p:sp>
      <p:pic>
        <p:nvPicPr>
          <p:cNvPr id="186" name="Google Shape;186;p9"/>
          <p:cNvPicPr preferRelativeResize="0"/>
          <p:nvPr/>
        </p:nvPicPr>
        <p:blipFill rotWithShape="1">
          <a:blip r:embed="rId3">
            <a:alphaModFix/>
          </a:blip>
          <a:srcRect b="0" l="0" r="0" t="0"/>
          <a:stretch/>
        </p:blipFill>
        <p:spPr>
          <a:xfrm>
            <a:off x="1778072" y="1480600"/>
            <a:ext cx="8052317" cy="4313741"/>
          </a:xfrm>
          <a:prstGeom prst="rect">
            <a:avLst/>
          </a:prstGeom>
          <a:noFill/>
          <a:ln>
            <a:noFill/>
          </a:ln>
        </p:spPr>
      </p:pic>
      <p:sp>
        <p:nvSpPr>
          <p:cNvPr id="187" name="Google Shape;187;p9"/>
          <p:cNvSpPr txBox="1"/>
          <p:nvPr/>
        </p:nvSpPr>
        <p:spPr>
          <a:xfrm>
            <a:off x="3613151" y="6009778"/>
            <a:ext cx="6096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Calibri"/>
                <a:ea typeface="Calibri"/>
                <a:cs typeface="Calibri"/>
                <a:sym typeface="Calibri"/>
              </a:rPr>
              <a:t>Young’s double slit experimental Set-up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txBox="1"/>
          <p:nvPr/>
        </p:nvSpPr>
        <p:spPr>
          <a:xfrm>
            <a:off x="878434" y="704508"/>
            <a:ext cx="104361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9. </a:t>
            </a:r>
            <a:r>
              <a:rPr b="1" i="0" lang="en-IN" sz="1800" u="none" cap="none" strike="noStrike">
                <a:solidFill>
                  <a:srgbClr val="FF00FF"/>
                </a:solidFill>
                <a:latin typeface="Calibri"/>
                <a:ea typeface="Calibri"/>
                <a:cs typeface="Calibri"/>
                <a:sym typeface="Calibri"/>
              </a:rPr>
              <a:t>Faraday Effect </a:t>
            </a:r>
            <a:r>
              <a:rPr b="1" i="0" lang="en-IN" sz="1800" u="none" cap="none" strike="noStrike">
                <a:solidFill>
                  <a:srgbClr val="0000FF"/>
                </a:solidFill>
                <a:latin typeface="Calibri"/>
                <a:ea typeface="Calibri"/>
                <a:cs typeface="Calibri"/>
                <a:sym typeface="Calibri"/>
              </a:rPr>
              <a:t>: </a:t>
            </a:r>
            <a:r>
              <a:rPr b="1" i="0" lang="en-IN" sz="1800" u="none" cap="none" strike="noStrike">
                <a:solidFill>
                  <a:srgbClr val="000000"/>
                </a:solidFill>
                <a:latin typeface="Calibri"/>
                <a:ea typeface="Calibri"/>
                <a:cs typeface="Calibri"/>
                <a:sym typeface="Calibri"/>
              </a:rPr>
              <a:t>Observe the rotation of the plane-polarized light through  flint glass or crystal when it is subjected to an external magnetic field. </a:t>
            </a:r>
            <a:endParaRPr b="0" i="0" sz="1800" u="none" cap="none" strike="noStrike">
              <a:solidFill>
                <a:schemeClr val="dk1"/>
              </a:solidFill>
              <a:latin typeface="Calibri"/>
              <a:ea typeface="Calibri"/>
              <a:cs typeface="Calibri"/>
              <a:sym typeface="Calibri"/>
            </a:endParaRPr>
          </a:p>
        </p:txBody>
      </p:sp>
      <p:sp>
        <p:nvSpPr>
          <p:cNvPr id="193" name="Google Shape;193;p10"/>
          <p:cNvSpPr txBox="1"/>
          <p:nvPr/>
        </p:nvSpPr>
        <p:spPr>
          <a:xfrm>
            <a:off x="4638059" y="119500"/>
            <a:ext cx="5165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A00000"/>
                </a:solidFill>
                <a:latin typeface="Calibri"/>
                <a:ea typeface="Calibri"/>
                <a:cs typeface="Calibri"/>
                <a:sym typeface="Calibri"/>
              </a:rPr>
              <a:t>Magneto Optic </a:t>
            </a:r>
            <a:endParaRPr b="0" i="0" sz="1400" u="none" cap="none" strike="noStrike">
              <a:solidFill>
                <a:srgbClr val="000000"/>
              </a:solidFill>
              <a:latin typeface="Arial"/>
              <a:ea typeface="Arial"/>
              <a:cs typeface="Arial"/>
              <a:sym typeface="Arial"/>
            </a:endParaRPr>
          </a:p>
        </p:txBody>
      </p:sp>
      <p:pic>
        <p:nvPicPr>
          <p:cNvPr id="194" name="Google Shape;194;p10"/>
          <p:cNvPicPr preferRelativeResize="0"/>
          <p:nvPr/>
        </p:nvPicPr>
        <p:blipFill rotWithShape="1">
          <a:blip r:embed="rId3">
            <a:alphaModFix/>
          </a:blip>
          <a:srcRect b="2218" l="0" r="0" t="0"/>
          <a:stretch/>
        </p:blipFill>
        <p:spPr>
          <a:xfrm>
            <a:off x="1275900" y="2001600"/>
            <a:ext cx="9938625" cy="3504475"/>
          </a:xfrm>
          <a:prstGeom prst="rect">
            <a:avLst/>
          </a:prstGeom>
          <a:solidFill>
            <a:srgbClr val="ECECEC"/>
          </a:solidFill>
          <a:ln cap="rnd" cmpd="sng" w="190500">
            <a:solidFill>
              <a:srgbClr val="FFFFFF"/>
            </a:solidFill>
            <a:prstDash val="solid"/>
            <a:round/>
            <a:headEnd len="sm" w="sm" type="none"/>
            <a:tailEnd len="sm" w="sm" type="none"/>
          </a:ln>
          <a:effectLst>
            <a:outerShdw blurRad="50000" rotWithShape="0" algn="tl">
              <a:srgbClr val="000000">
                <a:alpha val="4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nvSpPr>
        <p:spPr>
          <a:xfrm>
            <a:off x="4221731" y="20950"/>
            <a:ext cx="29763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IN" sz="3200" u="none" cap="none" strike="noStrike">
                <a:solidFill>
                  <a:srgbClr val="A00000"/>
                </a:solidFill>
                <a:latin typeface="Calibri"/>
                <a:ea typeface="Calibri"/>
                <a:cs typeface="Calibri"/>
                <a:sym typeface="Calibri"/>
              </a:rPr>
              <a:t>Mechanics</a:t>
            </a:r>
            <a:r>
              <a:rPr b="0" i="0" lang="en-IN" sz="32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00" name="Google Shape;200;p11"/>
          <p:cNvSpPr txBox="1"/>
          <p:nvPr/>
        </p:nvSpPr>
        <p:spPr>
          <a:xfrm>
            <a:off x="596548" y="700565"/>
            <a:ext cx="114918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chemeClr val="dk1"/>
                </a:solidFill>
                <a:latin typeface="Calibri"/>
                <a:ea typeface="Calibri"/>
                <a:cs typeface="Calibri"/>
                <a:sym typeface="Calibri"/>
              </a:rPr>
              <a:t>10. </a:t>
            </a:r>
            <a:r>
              <a:rPr b="1" i="0" lang="en-IN" sz="2200" u="none" cap="none" strike="noStrike">
                <a:solidFill>
                  <a:srgbClr val="0033FF"/>
                </a:solidFill>
                <a:latin typeface="Calibri"/>
                <a:ea typeface="Calibri"/>
                <a:cs typeface="Calibri"/>
                <a:sym typeface="Calibri"/>
              </a:rPr>
              <a:t>Stationary Waves in Strings </a:t>
            </a:r>
            <a:r>
              <a:rPr b="1" i="0" lang="en-IN" sz="2200" u="none" cap="none" strike="noStrike">
                <a:solidFill>
                  <a:srgbClr val="0000FF"/>
                </a:solidFill>
                <a:latin typeface="Calibri"/>
                <a:ea typeface="Calibri"/>
                <a:cs typeface="Calibri"/>
                <a:sym typeface="Calibri"/>
              </a:rPr>
              <a:t>: </a:t>
            </a:r>
            <a:r>
              <a:rPr b="1" i="0" lang="en-IN" sz="2200" u="none" cap="none" strike="noStrike">
                <a:solidFill>
                  <a:srgbClr val="000000"/>
                </a:solidFill>
                <a:latin typeface="Calibri"/>
                <a:ea typeface="Calibri"/>
                <a:cs typeface="Calibri"/>
                <a:sym typeface="Calibri"/>
              </a:rPr>
              <a:t>To understand the concept of standing wave and  to determine the wave speed in a stretched vibrating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br>
              <a:rPr b="1" i="0" lang="en-IN" sz="2200" u="none" cap="none" strike="noStrike">
                <a:solidFill>
                  <a:srgbClr val="000000"/>
                </a:solidFill>
                <a:latin typeface="Calibri"/>
                <a:ea typeface="Calibri"/>
                <a:cs typeface="Calibri"/>
                <a:sym typeface="Calibri"/>
              </a:rPr>
            </a:br>
            <a:r>
              <a:rPr b="1" i="0" lang="en-IN" sz="2200" u="none" cap="none" strike="noStrike">
                <a:solidFill>
                  <a:schemeClr val="dk1"/>
                </a:solidFill>
                <a:latin typeface="Helvetica Neue"/>
                <a:ea typeface="Helvetica Neue"/>
                <a:cs typeface="Helvetica Neue"/>
                <a:sym typeface="Helvetica Neue"/>
              </a:rPr>
              <a:t>11. </a:t>
            </a:r>
            <a:r>
              <a:rPr b="1" i="0" lang="en-IN" sz="2200" u="none" cap="none" strike="noStrike">
                <a:solidFill>
                  <a:srgbClr val="0000FF"/>
                </a:solidFill>
                <a:latin typeface="Calibri"/>
                <a:ea typeface="Calibri"/>
                <a:cs typeface="Calibri"/>
                <a:sym typeface="Calibri"/>
              </a:rPr>
              <a:t>Flywheel : </a:t>
            </a:r>
            <a:r>
              <a:rPr b="1" i="0" lang="en-IN" sz="2200" u="none" cap="none" strike="noStrike">
                <a:solidFill>
                  <a:srgbClr val="000000"/>
                </a:solidFill>
                <a:latin typeface="Calibri"/>
                <a:ea typeface="Calibri"/>
                <a:cs typeface="Calibri"/>
                <a:sym typeface="Calibri"/>
              </a:rPr>
              <a:t>Determining the moment of inertia of a Flywheel.</a:t>
            </a:r>
            <a:r>
              <a:rPr b="0" i="0" lang="en-IN" sz="2200" u="none" cap="none" strike="noStrike">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p:txBody>
      </p:sp>
      <p:pic>
        <p:nvPicPr>
          <p:cNvPr descr="Vibrating String Experiment" id="201" name="Google Shape;201;p11"/>
          <p:cNvPicPr preferRelativeResize="0"/>
          <p:nvPr/>
        </p:nvPicPr>
        <p:blipFill rotWithShape="1">
          <a:blip r:embed="rId3">
            <a:alphaModFix/>
          </a:blip>
          <a:srcRect b="0" l="0" r="6921" t="9979"/>
          <a:stretch/>
        </p:blipFill>
        <p:spPr>
          <a:xfrm>
            <a:off x="504570" y="2241910"/>
            <a:ext cx="6490338" cy="4124325"/>
          </a:xfrm>
          <a:prstGeom prst="rect">
            <a:avLst/>
          </a:prstGeom>
          <a:noFill/>
          <a:ln>
            <a:noFill/>
          </a:ln>
        </p:spPr>
      </p:pic>
      <p:pic>
        <p:nvPicPr>
          <p:cNvPr id="202" name="Google Shape;202;p11"/>
          <p:cNvPicPr preferRelativeResize="0"/>
          <p:nvPr/>
        </p:nvPicPr>
        <p:blipFill rotWithShape="1">
          <a:blip r:embed="rId4">
            <a:alphaModFix/>
          </a:blip>
          <a:srcRect b="66067" l="0" r="83187" t="19280"/>
          <a:stretch/>
        </p:blipFill>
        <p:spPr>
          <a:xfrm>
            <a:off x="7112904" y="3173368"/>
            <a:ext cx="4851063" cy="2548997"/>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1960"/>
              </a:srgbClr>
            </a:outerShdw>
          </a:effectLst>
        </p:spPr>
      </p:pic>
      <p:sp>
        <p:nvSpPr>
          <p:cNvPr id="203" name="Google Shape;203;p11"/>
          <p:cNvSpPr txBox="1"/>
          <p:nvPr/>
        </p:nvSpPr>
        <p:spPr>
          <a:xfrm>
            <a:off x="8528683" y="5972769"/>
            <a:ext cx="2924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Flywheel Exp. Set-up</a:t>
            </a:r>
            <a:endParaRPr b="0" i="0" sz="1800" u="none" cap="none" strike="noStrike">
              <a:solidFill>
                <a:schemeClr val="dk1"/>
              </a:solidFill>
              <a:latin typeface="Calibri"/>
              <a:ea typeface="Calibri"/>
              <a:cs typeface="Calibri"/>
              <a:sym typeface="Calibri"/>
            </a:endParaRPr>
          </a:p>
        </p:txBody>
      </p:sp>
      <p:sp>
        <p:nvSpPr>
          <p:cNvPr id="204" name="Google Shape;204;p11"/>
          <p:cNvSpPr txBox="1"/>
          <p:nvPr/>
        </p:nvSpPr>
        <p:spPr>
          <a:xfrm>
            <a:off x="662102" y="6379285"/>
            <a:ext cx="5434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Stationary Waves in Strings Exp. Set-up</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txBox="1"/>
          <p:nvPr/>
        </p:nvSpPr>
        <p:spPr>
          <a:xfrm>
            <a:off x="335937" y="157313"/>
            <a:ext cx="11695500" cy="7018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n-IN" sz="4000" u="sng" cap="none" strike="noStrike">
                <a:solidFill>
                  <a:srgbClr val="002060"/>
                </a:solidFill>
                <a:latin typeface="Calibri"/>
                <a:ea typeface="Calibri"/>
                <a:cs typeface="Calibri"/>
                <a:sym typeface="Calibri"/>
              </a:rPr>
              <a:t>Evaluation</a:t>
            </a:r>
            <a:r>
              <a:rPr b="1" i="0" lang="en-IN" sz="3600" u="sng" cap="none" strike="noStrike">
                <a:solidFill>
                  <a:srgbClr val="002060"/>
                </a:solidFill>
                <a:latin typeface="Calibri"/>
                <a:ea typeface="Calibri"/>
                <a:cs typeface="Calibri"/>
                <a:sym typeface="Calibri"/>
              </a:rPr>
              <a:t> Process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rgbClr val="0432FF"/>
                </a:solidFill>
                <a:latin typeface="Calibri"/>
                <a:ea typeface="Calibri"/>
                <a:cs typeface="Calibri"/>
                <a:sym typeface="Calibri"/>
              </a:rPr>
              <a:t>Laboratory Work: 50 % (Continuous evaluation)</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Calibri"/>
              <a:buAutoNum type="arabicParenR"/>
            </a:pPr>
            <a:r>
              <a:rPr b="1" i="0" lang="en-IN" sz="1800" u="none" cap="none" strike="noStrike">
                <a:solidFill>
                  <a:schemeClr val="dk1"/>
                </a:solidFill>
                <a:latin typeface="Calibri"/>
                <a:ea typeface="Calibri"/>
                <a:cs typeface="Calibri"/>
                <a:sym typeface="Calibri"/>
              </a:rPr>
              <a:t>Prerecord preparation</a:t>
            </a:r>
            <a:r>
              <a:rPr b="0" i="0" lang="en-IN" sz="1800" u="none" cap="none" strike="noStrike">
                <a:solidFill>
                  <a:schemeClr val="dk1"/>
                </a:solidFill>
                <a:latin typeface="Calibri"/>
                <a:ea typeface="Calibri"/>
                <a:cs typeface="Calibri"/>
                <a:sym typeface="Calibri"/>
              </a:rPr>
              <a:t> : weightage 10%</a:t>
            </a:r>
            <a:endParaRPr sz="18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lang="en-IN" sz="1800">
                <a:solidFill>
                  <a:schemeClr val="dk1"/>
                </a:solidFill>
                <a:latin typeface="Calibri"/>
                <a:ea typeface="Calibri"/>
                <a:cs typeface="Calibri"/>
                <a:sym typeface="Calibri"/>
              </a:rPr>
              <a:t>[</a:t>
            </a:r>
            <a:r>
              <a:rPr b="0" i="0" lang="en-IN" sz="1800" u="none" cap="none" strike="noStrike">
                <a:solidFill>
                  <a:schemeClr val="dk1"/>
                </a:solidFill>
                <a:latin typeface="Calibri"/>
                <a:ea typeface="Calibri"/>
                <a:cs typeface="Calibri"/>
                <a:sym typeface="Calibri"/>
              </a:rPr>
              <a:t>Prerecord (before the class) should contain, Aim, Apparatus Required, Working Principle and Formula Used, Observation table (without readings )</a:t>
            </a:r>
            <a:r>
              <a:rPr lang="en-I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SzPts val="1800"/>
              <a:buFont typeface="Calibri"/>
              <a:buAutoNum type="arabicParenR" startAt="2"/>
            </a:pPr>
            <a:r>
              <a:rPr b="1" lang="en-IN" sz="1800">
                <a:solidFill>
                  <a:schemeClr val="dk1"/>
                </a:solidFill>
                <a:latin typeface="Calibri"/>
                <a:ea typeface="Calibri"/>
                <a:cs typeface="Calibri"/>
                <a:sym typeface="Calibri"/>
              </a:rPr>
              <a:t>Assessment Part by respective TA’s</a:t>
            </a:r>
            <a:r>
              <a:rPr lang="en-IN" sz="1800">
                <a:solidFill>
                  <a:schemeClr val="dk1"/>
                </a:solidFill>
                <a:latin typeface="Calibri"/>
                <a:ea typeface="Calibri"/>
                <a:cs typeface="Calibri"/>
                <a:sym typeface="Calibri"/>
              </a:rPr>
              <a:t>: weightage 20%</a:t>
            </a:r>
            <a:endParaRPr sz="1800">
              <a:solidFill>
                <a:schemeClr val="dk1"/>
              </a:solidFill>
              <a:latin typeface="Calibri"/>
              <a:ea typeface="Calibri"/>
              <a:cs typeface="Calibri"/>
              <a:sym typeface="Calibri"/>
            </a:endParaRPr>
          </a:p>
          <a:p>
            <a:pPr indent="-342900" lvl="1" marL="914400" marR="0" rtl="0" algn="l">
              <a:lnSpc>
                <a:spcPct val="100000"/>
              </a:lnSpc>
              <a:spcBef>
                <a:spcPts val="0"/>
              </a:spcBef>
              <a:spcAft>
                <a:spcPts val="0"/>
              </a:spcAft>
              <a:buSzPts val="1800"/>
              <a:buFont typeface="Calibri"/>
              <a:buAutoNum type="alphaLcParenR"/>
            </a:pPr>
            <a:r>
              <a:rPr lang="en-IN" sz="1800">
                <a:solidFill>
                  <a:schemeClr val="dk1"/>
                </a:solidFill>
                <a:latin typeface="Calibri"/>
                <a:ea typeface="Calibri"/>
                <a:cs typeface="Calibri"/>
                <a:sym typeface="Calibri"/>
              </a:rPr>
              <a:t>Observational reading will be checked and signed by respective TA’s (how well the students conduct experiments)(weightage 10%)</a:t>
            </a:r>
            <a:endParaRPr sz="1800">
              <a:solidFill>
                <a:schemeClr val="dk1"/>
              </a:solidFill>
              <a:latin typeface="Calibri"/>
              <a:ea typeface="Calibri"/>
              <a:cs typeface="Calibri"/>
              <a:sym typeface="Calibri"/>
            </a:endParaRPr>
          </a:p>
          <a:p>
            <a:pPr indent="-342900" lvl="1" marL="914400" marR="0" rtl="0" algn="l">
              <a:lnSpc>
                <a:spcPct val="100000"/>
              </a:lnSpc>
              <a:spcBef>
                <a:spcPts val="0"/>
              </a:spcBef>
              <a:spcAft>
                <a:spcPts val="0"/>
              </a:spcAft>
              <a:buSzPts val="1800"/>
              <a:buFont typeface="Calibri"/>
              <a:buAutoNum type="alphaLcParenR"/>
            </a:pPr>
            <a:r>
              <a:rPr lang="en-IN" sz="1800">
                <a:solidFill>
                  <a:schemeClr val="dk1"/>
                </a:solidFill>
                <a:latin typeface="Calibri"/>
                <a:ea typeface="Calibri"/>
                <a:cs typeface="Calibri"/>
                <a:sym typeface="Calibri"/>
              </a:rPr>
              <a:t>Completed experiment with calculation, conclusion and precautions checked by respective TA’s on next lab session after the experiment : Weightage 10% (Late submission lead to penalty as to be decided by the respective instructor)</a:t>
            </a:r>
            <a:endParaRPr sz="1800">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arenR" startAt="2"/>
            </a:pPr>
            <a:r>
              <a:rPr b="1" lang="en-IN" sz="1800">
                <a:solidFill>
                  <a:schemeClr val="dk1"/>
                </a:solidFill>
                <a:latin typeface="Calibri"/>
                <a:ea typeface="Calibri"/>
                <a:cs typeface="Calibri"/>
                <a:sym typeface="Calibri"/>
              </a:rPr>
              <a:t>Completed record sheets assessment by the instructor during laboratory work </a:t>
            </a:r>
            <a:r>
              <a:rPr lang="en-IN" sz="1800">
                <a:solidFill>
                  <a:schemeClr val="dk1"/>
                </a:solidFill>
                <a:latin typeface="Calibri"/>
                <a:ea typeface="Calibri"/>
                <a:cs typeface="Calibri"/>
                <a:sym typeface="Calibri"/>
              </a:rPr>
              <a:t>(How the students are getting involved in the experiments): weightage 20%</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432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rgbClr val="0432FF"/>
                </a:solidFill>
                <a:latin typeface="Calibri"/>
                <a:ea typeface="Calibri"/>
                <a:cs typeface="Calibri"/>
                <a:sym typeface="Calibri"/>
              </a:rPr>
              <a:t>Viva voce (During Lab Sessions by the faculty instructors) </a:t>
            </a:r>
            <a:r>
              <a:rPr b="1" lang="en-IN" sz="2400">
                <a:solidFill>
                  <a:srgbClr val="0432FF"/>
                </a:solidFill>
                <a:latin typeface="Calibri"/>
                <a:ea typeface="Calibri"/>
                <a:cs typeface="Calibri"/>
                <a:sym typeface="Calibri"/>
              </a:rPr>
              <a:t>:</a:t>
            </a:r>
            <a:r>
              <a:rPr b="1" i="0" lang="en-IN" sz="2400" u="none" cap="none" strike="noStrike">
                <a:solidFill>
                  <a:srgbClr val="0432FF"/>
                </a:solidFill>
                <a:latin typeface="Calibri"/>
                <a:ea typeface="Calibri"/>
                <a:cs typeface="Calibri"/>
                <a:sym typeface="Calibri"/>
              </a:rPr>
              <a:t>20 %</a:t>
            </a:r>
            <a:endParaRPr b="1" i="0" sz="2400" u="none" cap="none" strike="noStrike">
              <a:solidFill>
                <a:srgbClr val="0432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IN" sz="2400" u="none" cap="none" strike="noStrike">
                <a:solidFill>
                  <a:srgbClr val="0432FF"/>
                </a:solidFill>
                <a:latin typeface="Calibri"/>
                <a:ea typeface="Calibri"/>
                <a:cs typeface="Calibri"/>
                <a:sym typeface="Calibri"/>
              </a:rPr>
              <a:t>Final Exam: 30%</a:t>
            </a:r>
            <a:endParaRPr b="1" i="0" sz="2400" u="none" cap="none" strike="noStrike">
              <a:solidFill>
                <a:srgbClr val="0432FF"/>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arenR"/>
            </a:pPr>
            <a:r>
              <a:rPr i="0" lang="en-IN" sz="1800" u="none" cap="none" strike="noStrike">
                <a:solidFill>
                  <a:schemeClr val="dk1"/>
                </a:solidFill>
                <a:latin typeface="Calibri"/>
                <a:ea typeface="Calibri"/>
                <a:cs typeface="Calibri"/>
                <a:sym typeface="Calibri"/>
              </a:rPr>
              <a:t>Final Exam (Lab </a:t>
            </a:r>
            <a:r>
              <a:rPr lang="en-IN" sz="1800">
                <a:solidFill>
                  <a:schemeClr val="dk1"/>
                </a:solidFill>
                <a:latin typeface="Calibri"/>
                <a:ea typeface="Calibri"/>
                <a:cs typeface="Calibri"/>
                <a:sym typeface="Calibri"/>
              </a:rPr>
              <a:t>Experiment </a:t>
            </a:r>
            <a:r>
              <a:rPr i="0" lang="en-IN" sz="1800" u="none" cap="none" strike="noStrike">
                <a:solidFill>
                  <a:schemeClr val="dk1"/>
                </a:solidFill>
                <a:latin typeface="Calibri"/>
                <a:ea typeface="Calibri"/>
                <a:cs typeface="Calibri"/>
                <a:sym typeface="Calibri"/>
              </a:rPr>
              <a:t>Work) :weightage 20</a:t>
            </a:r>
            <a:r>
              <a:rPr lang="en-IN" sz="1800">
                <a:solidFill>
                  <a:schemeClr val="dk1"/>
                </a:solidFill>
                <a:latin typeface="Calibri"/>
                <a:ea typeface="Calibri"/>
                <a:cs typeface="Calibri"/>
                <a:sym typeface="Calibri"/>
              </a:rPr>
              <a:t>%</a:t>
            </a:r>
            <a:endParaRPr i="0" sz="1800" u="none" cap="none" strike="noStrike">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AutoNum type="arabicParenR"/>
            </a:pPr>
            <a:r>
              <a:rPr i="0" lang="en-IN" sz="1800" u="none" cap="none" strike="noStrike">
                <a:solidFill>
                  <a:schemeClr val="dk1"/>
                </a:solidFill>
                <a:latin typeface="Calibri"/>
                <a:ea typeface="Calibri"/>
                <a:cs typeface="Calibri"/>
                <a:sym typeface="Calibri"/>
              </a:rPr>
              <a:t>Final Exam (Viva- Voce) :weightage 10%</a:t>
            </a:r>
            <a:endParaRPr i="0" sz="1800" u="none" cap="none" strike="noStrike">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b="1" i="0" sz="2400" u="none" cap="none" strike="noStrike">
              <a:solidFill>
                <a:srgbClr val="0432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sz="2400">
              <a:solidFill>
                <a:srgbClr val="0432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3"/>
          <p:cNvSpPr txBox="1"/>
          <p:nvPr>
            <p:ph type="title"/>
          </p:nvPr>
        </p:nvSpPr>
        <p:spPr>
          <a:xfrm>
            <a:off x="2368649" y="-288014"/>
            <a:ext cx="73860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2060"/>
              </a:buClr>
              <a:buSzPts val="4000"/>
              <a:buFont typeface="Calibri"/>
              <a:buNone/>
            </a:pPr>
            <a:r>
              <a:rPr b="1" lang="en-IN" sz="4000" u="sng">
                <a:solidFill>
                  <a:srgbClr val="002060"/>
                </a:solidFill>
                <a:latin typeface="Calibri"/>
                <a:ea typeface="Calibri"/>
                <a:cs typeface="Calibri"/>
                <a:sym typeface="Calibri"/>
              </a:rPr>
              <a:t>Instructions for Students</a:t>
            </a:r>
            <a:endParaRPr b="1" sz="4000" u="sng">
              <a:solidFill>
                <a:srgbClr val="002060"/>
              </a:solidFill>
              <a:latin typeface="Calibri"/>
              <a:ea typeface="Calibri"/>
              <a:cs typeface="Calibri"/>
              <a:sym typeface="Calibri"/>
            </a:endParaRPr>
          </a:p>
        </p:txBody>
      </p:sp>
      <p:sp>
        <p:nvSpPr>
          <p:cNvPr id="215" name="Google Shape;215;p13"/>
          <p:cNvSpPr txBox="1"/>
          <p:nvPr>
            <p:ph idx="1" type="body"/>
          </p:nvPr>
        </p:nvSpPr>
        <p:spPr>
          <a:xfrm>
            <a:off x="357187" y="690527"/>
            <a:ext cx="11549700" cy="5943600"/>
          </a:xfrm>
          <a:prstGeom prst="rect">
            <a:avLst/>
          </a:prstGeom>
          <a:noFill/>
          <a:ln>
            <a:noFill/>
          </a:ln>
        </p:spPr>
        <p:txBody>
          <a:bodyPr anchorCtr="0" anchor="t" bIns="45700" lIns="91425" spcFirstLastPara="1" rIns="91425" wrap="square" tIns="45700">
            <a:noAutofit/>
          </a:bodyPr>
          <a:lstStyle/>
          <a:p>
            <a:pPr indent="-228600" lvl="0" marL="228600" rtl="0" algn="ctr">
              <a:lnSpc>
                <a:spcPct val="80000"/>
              </a:lnSpc>
              <a:spcBef>
                <a:spcPts val="0"/>
              </a:spcBef>
              <a:spcAft>
                <a:spcPts val="0"/>
              </a:spcAft>
              <a:buClr>
                <a:schemeClr val="dk1"/>
              </a:buClr>
              <a:buSzPts val="1500"/>
              <a:buFont typeface="Noto Sans Symbols"/>
              <a:buNone/>
            </a:pPr>
            <a:r>
              <a:rPr b="1" lang="en-IN" sz="1500"/>
              <a:t>Attendance </a:t>
            </a:r>
            <a:endParaRPr/>
          </a:p>
          <a:p>
            <a:pPr indent="-228600" lvl="0" marL="228600" rtl="0" algn="just">
              <a:lnSpc>
                <a:spcPct val="80000"/>
              </a:lnSpc>
              <a:spcBef>
                <a:spcPts val="1000"/>
              </a:spcBef>
              <a:spcAft>
                <a:spcPts val="0"/>
              </a:spcAft>
              <a:buClr>
                <a:schemeClr val="dk1"/>
              </a:buClr>
              <a:buSzPts val="1500"/>
              <a:buChar char="•"/>
            </a:pPr>
            <a:r>
              <a:rPr lang="en-IN" sz="1500"/>
              <a:t>You must attend each laboratory class and do the assigned experiment. In general, you will not be permitted to do your experiments in another day / class. An exception may be made only in cases of dire necessity with the prior approval of the instructors of the assigned group and of the group in which you would like to do the experiment. </a:t>
            </a:r>
            <a:endParaRPr/>
          </a:p>
          <a:p>
            <a:pPr indent="-228600" lvl="0" marL="228600" rtl="0" algn="ctr">
              <a:lnSpc>
                <a:spcPct val="80000"/>
              </a:lnSpc>
              <a:spcBef>
                <a:spcPts val="1000"/>
              </a:spcBef>
              <a:spcAft>
                <a:spcPts val="0"/>
              </a:spcAft>
              <a:buClr>
                <a:schemeClr val="dk1"/>
              </a:buClr>
              <a:buSzPts val="1500"/>
              <a:buFont typeface="Noto Sans Symbols"/>
              <a:buNone/>
            </a:pPr>
            <a:r>
              <a:rPr b="1" lang="en-IN" sz="1500"/>
              <a:t>Preparation </a:t>
            </a:r>
            <a:endParaRPr/>
          </a:p>
          <a:p>
            <a:pPr indent="-228600" lvl="0" marL="228600" rtl="0" algn="just">
              <a:lnSpc>
                <a:spcPct val="80000"/>
              </a:lnSpc>
              <a:spcBef>
                <a:spcPts val="1000"/>
              </a:spcBef>
              <a:spcAft>
                <a:spcPts val="0"/>
              </a:spcAft>
              <a:buClr>
                <a:schemeClr val="dk1"/>
              </a:buClr>
              <a:buSzPts val="1500"/>
              <a:buChar char="•"/>
            </a:pPr>
            <a:r>
              <a:rPr lang="en-IN" sz="1500"/>
              <a:t>Before each laboratory you are expected to read the write-up from the laboratory manual and any related sections of the text so that you are familiar with the theory and the experimental procedure. As it is often impossible to have the laboratory come after the relevant material has been discussed in lecture, you will often have to read ahead in your textbook. If the write-up has pre-lab questions, those must be understood before coming to the laboratory for performing the experiments. </a:t>
            </a:r>
            <a:endParaRPr/>
          </a:p>
          <a:p>
            <a:pPr indent="-228600" lvl="0" marL="228600" rtl="0" algn="ctr">
              <a:lnSpc>
                <a:spcPct val="80000"/>
              </a:lnSpc>
              <a:spcBef>
                <a:spcPts val="1000"/>
              </a:spcBef>
              <a:spcAft>
                <a:spcPts val="0"/>
              </a:spcAft>
              <a:buClr>
                <a:schemeClr val="dk1"/>
              </a:buClr>
              <a:buSzPts val="1500"/>
              <a:buFont typeface="Noto Sans Symbols"/>
              <a:buNone/>
            </a:pPr>
            <a:r>
              <a:rPr b="1" lang="en-IN" sz="1500"/>
              <a:t>Partners </a:t>
            </a:r>
            <a:endParaRPr/>
          </a:p>
          <a:p>
            <a:pPr indent="-228600" lvl="0" marL="228600" rtl="0" algn="just">
              <a:lnSpc>
                <a:spcPct val="80000"/>
              </a:lnSpc>
              <a:spcBef>
                <a:spcPts val="1000"/>
              </a:spcBef>
              <a:spcAft>
                <a:spcPts val="0"/>
              </a:spcAft>
              <a:buClr>
                <a:schemeClr val="dk1"/>
              </a:buClr>
              <a:buSzPts val="1500"/>
              <a:buChar char="•"/>
            </a:pPr>
            <a:r>
              <a:rPr lang="en-IN" sz="1500"/>
              <a:t>Generally, you will work with one more partner. When necessary, groups of three may be permitted. Rotate the experimental tasks so that each partner becomes familiar with all aspects of the experiments, e.g., do not have one partner take all the data while the other does all the recording or analysis. </a:t>
            </a:r>
            <a:endParaRPr/>
          </a:p>
          <a:p>
            <a:pPr indent="-228600" lvl="0" marL="228600" rtl="0" algn="ctr">
              <a:lnSpc>
                <a:spcPct val="80000"/>
              </a:lnSpc>
              <a:spcBef>
                <a:spcPts val="1000"/>
              </a:spcBef>
              <a:spcAft>
                <a:spcPts val="0"/>
              </a:spcAft>
              <a:buClr>
                <a:schemeClr val="dk1"/>
              </a:buClr>
              <a:buSzPts val="1500"/>
              <a:buFont typeface="Noto Sans Symbols"/>
              <a:buNone/>
            </a:pPr>
            <a:r>
              <a:rPr b="1" lang="en-IN" sz="1500"/>
              <a:t>Data Sheets </a:t>
            </a:r>
            <a:endParaRPr/>
          </a:p>
          <a:p>
            <a:pPr indent="-228600" lvl="0" marL="228600" rtl="0" algn="just">
              <a:lnSpc>
                <a:spcPct val="80000"/>
              </a:lnSpc>
              <a:spcBef>
                <a:spcPts val="1000"/>
              </a:spcBef>
              <a:spcAft>
                <a:spcPts val="0"/>
              </a:spcAft>
              <a:buClr>
                <a:schemeClr val="dk1"/>
              </a:buClr>
              <a:buSzPts val="1500"/>
              <a:buChar char="•"/>
            </a:pPr>
            <a:r>
              <a:rPr lang="en-IN" sz="1500"/>
              <a:t>Each partner must have his or her own data sheets for Lab reports. All necessary data should be on these data sheets. All data (single item and tabulated) should be clearly labeled with a </a:t>
            </a:r>
            <a:r>
              <a:rPr i="1" lang="en-IN" sz="1500"/>
              <a:t>description </a:t>
            </a:r>
            <a:r>
              <a:rPr lang="en-IN" sz="1500"/>
              <a:t>of the number and its </a:t>
            </a:r>
            <a:r>
              <a:rPr i="1" lang="en-IN" sz="1500"/>
              <a:t>units</a:t>
            </a:r>
            <a:r>
              <a:rPr lang="en-IN" sz="1500"/>
              <a:t>, and when appropriate, its </a:t>
            </a:r>
            <a:r>
              <a:rPr i="1" lang="en-IN" sz="1500"/>
              <a:t>uncertainty</a:t>
            </a:r>
            <a:r>
              <a:rPr lang="en-IN" sz="1500"/>
              <a:t>. The first data sheet will be provided in the physics lab. </a:t>
            </a:r>
            <a:endParaRPr/>
          </a:p>
          <a:p>
            <a:pPr indent="-228600" lvl="0" marL="228600" rtl="0" algn="just">
              <a:lnSpc>
                <a:spcPct val="80000"/>
              </a:lnSpc>
              <a:spcBef>
                <a:spcPts val="1000"/>
              </a:spcBef>
              <a:spcAft>
                <a:spcPts val="0"/>
              </a:spcAft>
              <a:buClr>
                <a:schemeClr val="dk1"/>
              </a:buClr>
              <a:buSzPts val="1500"/>
              <a:buChar char="•"/>
            </a:pPr>
            <a:r>
              <a:rPr lang="en-IN" sz="1500"/>
              <a:t>In the Lab reports, it is expected that students must come prepared prerecord within a record file having the following information for each experiment on the day of the experiment;</a:t>
            </a:r>
            <a:endParaRPr/>
          </a:p>
          <a:p>
            <a:pPr indent="0" lvl="0" marL="0" rtl="0" algn="just">
              <a:lnSpc>
                <a:spcPct val="80000"/>
              </a:lnSpc>
              <a:spcBef>
                <a:spcPts val="1000"/>
              </a:spcBef>
              <a:spcAft>
                <a:spcPts val="0"/>
              </a:spcAft>
              <a:buClr>
                <a:schemeClr val="dk1"/>
              </a:buClr>
              <a:buSzPts val="1500"/>
              <a:buNone/>
            </a:pPr>
            <a:r>
              <a:rPr lang="en-IN" sz="1500"/>
              <a:t>	(1) Objective/Aim  (2)Apparatus Required  (3)Theory with diagram &amp; Formula used (4) Observation Table (Blank)</a:t>
            </a:r>
            <a:endParaRPr/>
          </a:p>
          <a:p>
            <a:pPr indent="-228600" lvl="0" marL="228600" rtl="0" algn="just">
              <a:lnSpc>
                <a:spcPct val="80000"/>
              </a:lnSpc>
              <a:spcBef>
                <a:spcPts val="600"/>
              </a:spcBef>
              <a:spcAft>
                <a:spcPts val="0"/>
              </a:spcAft>
              <a:buClr>
                <a:schemeClr val="dk1"/>
              </a:buClr>
              <a:buSzPts val="1500"/>
              <a:buChar char="•"/>
            </a:pPr>
            <a:r>
              <a:rPr lang="en-IN" sz="1500"/>
              <a:t>The following will be done during the lab sessions;</a:t>
            </a:r>
            <a:endParaRPr/>
          </a:p>
          <a:p>
            <a:pPr indent="0" lvl="0" marL="0" rtl="0" algn="just">
              <a:lnSpc>
                <a:spcPct val="80000"/>
              </a:lnSpc>
              <a:spcBef>
                <a:spcPts val="600"/>
              </a:spcBef>
              <a:spcAft>
                <a:spcPts val="0"/>
              </a:spcAft>
              <a:buClr>
                <a:schemeClr val="dk1"/>
              </a:buClr>
              <a:buSzPts val="1500"/>
              <a:buNone/>
            </a:pPr>
            <a:r>
              <a:rPr lang="en-IN" sz="1500"/>
              <a:t> 	(5). Observation readings (6). Calculations (7). Error Analysis (8) Result (9) Precautions   </a:t>
            </a:r>
            <a:endParaRPr/>
          </a:p>
          <a:p>
            <a:pPr indent="0" lvl="0" marL="0" rtl="0" algn="just">
              <a:lnSpc>
                <a:spcPct val="80000"/>
              </a:lnSpc>
              <a:spcBef>
                <a:spcPts val="600"/>
              </a:spcBef>
              <a:spcAft>
                <a:spcPts val="0"/>
              </a:spcAft>
              <a:buClr>
                <a:schemeClr val="dk1"/>
              </a:buClr>
              <a:buSzPts val="1500"/>
              <a:buNone/>
            </a:pPr>
            <a:r>
              <a:rPr lang="en-IN" sz="1500"/>
              <a:t>                     (10) Graphs, when appropriate, should include a title, and axis labels with units.</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txBox="1"/>
          <p:nvPr/>
        </p:nvSpPr>
        <p:spPr>
          <a:xfrm>
            <a:off x="2368649" y="85212"/>
            <a:ext cx="7386000" cy="13257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2060"/>
              </a:buClr>
              <a:buSzPts val="4000"/>
              <a:buFont typeface="Calibri"/>
              <a:buNone/>
            </a:pPr>
            <a:r>
              <a:rPr b="1" i="0" lang="en-IN" sz="4000" u="sng" cap="none" strike="noStrike">
                <a:solidFill>
                  <a:srgbClr val="002060"/>
                </a:solidFill>
                <a:latin typeface="Calibri"/>
                <a:ea typeface="Calibri"/>
                <a:cs typeface="Calibri"/>
                <a:sym typeface="Calibri"/>
              </a:rPr>
              <a:t>Instructions for TAs</a:t>
            </a:r>
            <a:endParaRPr b="1" i="0" sz="4000" u="sng" cap="none" strike="noStrike">
              <a:solidFill>
                <a:srgbClr val="002060"/>
              </a:solidFill>
              <a:latin typeface="Calibri"/>
              <a:ea typeface="Calibri"/>
              <a:cs typeface="Calibri"/>
              <a:sym typeface="Calibri"/>
            </a:endParaRPr>
          </a:p>
        </p:txBody>
      </p:sp>
      <p:sp>
        <p:nvSpPr>
          <p:cNvPr id="221" name="Google Shape;221;p14"/>
          <p:cNvSpPr txBox="1"/>
          <p:nvPr/>
        </p:nvSpPr>
        <p:spPr>
          <a:xfrm>
            <a:off x="653207" y="1059254"/>
            <a:ext cx="10886700" cy="4525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Calibri"/>
              <a:buAutoNum type="arabicParenR"/>
            </a:pPr>
            <a:r>
              <a:rPr b="0" i="0" lang="en-IN" sz="1800" u="none" cap="none" strike="noStrike">
                <a:solidFill>
                  <a:schemeClr val="dk1"/>
                </a:solidFill>
                <a:highlight>
                  <a:srgbClr val="FFFF00"/>
                </a:highlight>
                <a:latin typeface="Calibri"/>
                <a:ea typeface="Calibri"/>
                <a:cs typeface="Calibri"/>
                <a:sym typeface="Calibri"/>
              </a:rPr>
              <a:t>One of the TAs will take attendance and submit it to the lab Technical </a:t>
            </a:r>
            <a:r>
              <a:rPr lang="en-IN" sz="1800">
                <a:solidFill>
                  <a:schemeClr val="dk1"/>
                </a:solidFill>
                <a:highlight>
                  <a:srgbClr val="FFFF00"/>
                </a:highlight>
                <a:latin typeface="Calibri"/>
                <a:ea typeface="Calibri"/>
                <a:cs typeface="Calibri"/>
                <a:sym typeface="Calibri"/>
              </a:rPr>
              <a:t>Staff</a:t>
            </a:r>
            <a:r>
              <a:rPr b="0" i="0" lang="en-IN" sz="1800" u="none" cap="none" strike="noStrike">
                <a:solidFill>
                  <a:schemeClr val="dk1"/>
                </a:solidFill>
                <a:highlight>
                  <a:srgbClr val="FFFF00"/>
                </a:highlight>
                <a:latin typeface="Calibri"/>
                <a:ea typeface="Calibri"/>
                <a:cs typeface="Calibri"/>
                <a:sym typeface="Calibri"/>
              </a:rPr>
              <a:t> on the day of experiment for record keeping.</a:t>
            </a:r>
            <a:endParaRPr b="0" i="0" sz="1400" u="none" cap="none" strike="noStrike">
              <a:solidFill>
                <a:schemeClr val="dk1"/>
              </a:solidFill>
              <a:highlight>
                <a:srgbClr val="FFFF00"/>
              </a:highlight>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IN" sz="1800" u="none" cap="none" strike="noStrike">
                <a:solidFill>
                  <a:schemeClr val="dk1"/>
                </a:solidFill>
                <a:latin typeface="Calibri"/>
                <a:ea typeface="Calibri"/>
                <a:cs typeface="Calibri"/>
                <a:sym typeface="Calibri"/>
              </a:rPr>
              <a:t>Respective TAs will check prerecord preparation by the students assigned to them and will pass this information to the faculty instructor also.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IN" sz="1800" u="none" cap="none" strike="noStrike">
                <a:solidFill>
                  <a:schemeClr val="dk1"/>
                </a:solidFill>
                <a:latin typeface="Calibri"/>
                <a:ea typeface="Calibri"/>
                <a:cs typeface="Calibri"/>
                <a:sym typeface="Calibri"/>
              </a:rPr>
              <a:t>Respective TAs will provide the accessories of the experiments (if any) to the students from the physics lab and will also collect and place these at the assigned place after the end of the lab session.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IN" sz="1800" u="none" cap="none" strike="noStrike">
                <a:solidFill>
                  <a:schemeClr val="dk1"/>
                </a:solidFill>
                <a:latin typeface="Calibri"/>
                <a:ea typeface="Calibri"/>
                <a:cs typeface="Calibri"/>
                <a:sym typeface="Calibri"/>
              </a:rPr>
              <a:t>Respective TAs will help and guide students in performing the experiment during the lab sessions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IN" sz="1800" u="none" cap="none" strike="noStrike">
                <a:solidFill>
                  <a:schemeClr val="dk1"/>
                </a:solidFill>
                <a:latin typeface="Calibri"/>
                <a:ea typeface="Calibri"/>
                <a:cs typeface="Calibri"/>
                <a:sym typeface="Calibri"/>
              </a:rPr>
              <a:t>Respective TA will see the observational readings of students, and will check and sign during the lab session of that particular day.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6). Respective TAs will assess for each experiment (</a:t>
            </a:r>
            <a:r>
              <a:rPr b="0" i="0" lang="en-IN" sz="1800" u="none" cap="none" strike="noStrike">
                <a:solidFill>
                  <a:srgbClr val="222222"/>
                </a:solidFill>
                <a:latin typeface="Calibri"/>
                <a:ea typeface="Calibri"/>
                <a:cs typeface="Calibri"/>
                <a:sym typeface="Calibri"/>
              </a:rPr>
              <a:t>how well the students conducted experiments</a:t>
            </a:r>
            <a:r>
              <a:rPr b="0" i="0" lang="en-IN" sz="1800" u="none" cap="none" strike="noStrike">
                <a:solidFill>
                  <a:schemeClr val="dk1"/>
                </a:solidFill>
                <a:latin typeface="Calibri"/>
                <a:ea typeface="Calibri"/>
                <a:cs typeface="Calibri"/>
                <a:sym typeface="Calibri"/>
              </a:rPr>
              <a:t>) and provide their marks to the faculty Instructor during the lab session of that particular day.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7). Respective TAs will check the completed record submitted by the students and inform the respective instructors for further evaluation.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8). Respective TAs will participate enthusiastically and help in conducting smooth end-semester Exam.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9). The selected two TAs from each day session will help in preparing the final result with the faculty lab coordinator.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cxnSp>
        <p:nvCxnSpPr>
          <p:cNvPr id="226" name="Google Shape;226;p18"/>
          <p:cNvCxnSpPr/>
          <p:nvPr/>
        </p:nvCxnSpPr>
        <p:spPr>
          <a:xfrm flipH="1" rot="10800000">
            <a:off x="7188064" y="3490251"/>
            <a:ext cx="1081200" cy="116400"/>
          </a:xfrm>
          <a:prstGeom prst="curvedConnector3">
            <a:avLst>
              <a:gd fmla="val 50000" name="adj1"/>
            </a:avLst>
          </a:prstGeom>
          <a:noFill/>
          <a:ln cap="flat" cmpd="sng" w="28575">
            <a:solidFill>
              <a:schemeClr val="accent2"/>
            </a:solidFill>
            <a:prstDash val="solid"/>
            <a:miter lim="800000"/>
            <a:headEnd len="sm" w="sm" type="none"/>
            <a:tailEnd len="med" w="med" type="triangle"/>
          </a:ln>
        </p:spPr>
      </p:cxnSp>
      <p:sp>
        <p:nvSpPr>
          <p:cNvPr id="227" name="Google Shape;227;p18"/>
          <p:cNvSpPr/>
          <p:nvPr/>
        </p:nvSpPr>
        <p:spPr>
          <a:xfrm>
            <a:off x="1543753" y="122005"/>
            <a:ext cx="9232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0432FF"/>
                </a:solidFill>
                <a:latin typeface="Book Antiqua"/>
                <a:ea typeface="Book Antiqua"/>
                <a:cs typeface="Book Antiqua"/>
                <a:sym typeface="Book Antiqua"/>
              </a:rPr>
              <a:t>Grand Scheme of Evaluation</a:t>
            </a:r>
            <a:endParaRPr b="0" i="0" sz="1400" u="none" cap="none" strike="noStrike">
              <a:solidFill>
                <a:srgbClr val="000000"/>
              </a:solidFill>
              <a:latin typeface="Arial"/>
              <a:ea typeface="Arial"/>
              <a:cs typeface="Arial"/>
              <a:sym typeface="Arial"/>
            </a:endParaRPr>
          </a:p>
        </p:txBody>
      </p:sp>
      <p:sp>
        <p:nvSpPr>
          <p:cNvPr id="228" name="Google Shape;228;p18"/>
          <p:cNvSpPr txBox="1"/>
          <p:nvPr/>
        </p:nvSpPr>
        <p:spPr>
          <a:xfrm>
            <a:off x="7774849" y="1051250"/>
            <a:ext cx="3639000" cy="646500"/>
          </a:xfrm>
          <a:prstGeom prst="rect">
            <a:avLst/>
          </a:prstGeom>
          <a:solidFill>
            <a:schemeClr val="accent1"/>
          </a:solidFill>
          <a:ln>
            <a:noFill/>
          </a:ln>
          <a:effectLst>
            <a:outerShdw blurRad="44450" algn="ctr" dir="5400000" dist="27940">
              <a:srgbClr val="000000">
                <a:alpha val="30980"/>
              </a:srgbClr>
            </a:outerShdw>
          </a:effectLst>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rPr lang="en-IN" sz="1800">
                <a:solidFill>
                  <a:schemeClr val="dk1"/>
                </a:solidFill>
                <a:latin typeface="Calibri"/>
                <a:ea typeface="Calibri"/>
                <a:cs typeface="Calibri"/>
                <a:sym typeface="Calibri"/>
              </a:rPr>
              <a:t>Assessment &amp; </a:t>
            </a:r>
            <a:r>
              <a:rPr lang="en-IN" sz="1800">
                <a:solidFill>
                  <a:schemeClr val="dk1"/>
                </a:solidFill>
                <a:latin typeface="Calibri"/>
                <a:ea typeface="Calibri"/>
                <a:cs typeface="Calibri"/>
                <a:sym typeface="Calibri"/>
              </a:rPr>
              <a:t>Observational reading checking by TAs for each experiment</a:t>
            </a:r>
            <a:endParaRPr b="0" i="0" sz="1400" u="none" cap="none" strike="noStrike">
              <a:solidFill>
                <a:srgbClr val="000000"/>
              </a:solidFill>
              <a:latin typeface="Arial"/>
              <a:ea typeface="Arial"/>
              <a:cs typeface="Arial"/>
              <a:sym typeface="Arial"/>
            </a:endParaRPr>
          </a:p>
        </p:txBody>
      </p:sp>
      <p:sp>
        <p:nvSpPr>
          <p:cNvPr id="229" name="Google Shape;229;p18"/>
          <p:cNvSpPr txBox="1"/>
          <p:nvPr/>
        </p:nvSpPr>
        <p:spPr>
          <a:xfrm>
            <a:off x="8439861" y="3167398"/>
            <a:ext cx="3048300" cy="523200"/>
          </a:xfrm>
          <a:prstGeom prst="rect">
            <a:avLst/>
          </a:prstGeom>
          <a:solidFill>
            <a:schemeClr val="accent2"/>
          </a:solidFill>
          <a:ln>
            <a:noFill/>
          </a:ln>
          <a:effectLst>
            <a:outerShdw blurRad="44450" algn="ctr" dir="5400000" dist="27940">
              <a:srgbClr val="000000">
                <a:alpha val="3098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IN"/>
              <a:t>Completed record sheets assessed by Instructor</a:t>
            </a:r>
            <a:endParaRPr b="0" i="0" sz="1400" u="none" cap="none" strike="noStrike">
              <a:solidFill>
                <a:srgbClr val="000000"/>
              </a:solidFill>
              <a:latin typeface="Arial"/>
              <a:ea typeface="Arial"/>
              <a:cs typeface="Arial"/>
              <a:sym typeface="Arial"/>
            </a:endParaRPr>
          </a:p>
        </p:txBody>
      </p:sp>
      <p:cxnSp>
        <p:nvCxnSpPr>
          <p:cNvPr id="230" name="Google Shape;230;p18"/>
          <p:cNvCxnSpPr/>
          <p:nvPr/>
        </p:nvCxnSpPr>
        <p:spPr>
          <a:xfrm>
            <a:off x="6232388" y="5010546"/>
            <a:ext cx="1595400" cy="624900"/>
          </a:xfrm>
          <a:prstGeom prst="bentConnector3">
            <a:avLst>
              <a:gd fmla="val -10984" name="adj1"/>
            </a:avLst>
          </a:prstGeom>
          <a:noFill/>
          <a:ln cap="flat" cmpd="sng" w="28575">
            <a:solidFill>
              <a:srgbClr val="AEABAB"/>
            </a:solidFill>
            <a:prstDash val="solid"/>
            <a:miter lim="800000"/>
            <a:headEnd len="sm" w="sm" type="none"/>
            <a:tailEnd len="med" w="med" type="triangle"/>
          </a:ln>
        </p:spPr>
      </p:cxnSp>
      <p:sp>
        <p:nvSpPr>
          <p:cNvPr id="231" name="Google Shape;231;p18"/>
          <p:cNvSpPr txBox="1"/>
          <p:nvPr/>
        </p:nvSpPr>
        <p:spPr>
          <a:xfrm>
            <a:off x="8016043" y="5160244"/>
            <a:ext cx="3048300" cy="646500"/>
          </a:xfrm>
          <a:prstGeom prst="rect">
            <a:avLst/>
          </a:prstGeom>
          <a:solidFill>
            <a:schemeClr val="accent3"/>
          </a:solidFill>
          <a:ln>
            <a:noFill/>
          </a:ln>
          <a:effectLst>
            <a:outerShdw blurRad="44450" algn="ctr" dir="5400000" dist="27940">
              <a:srgbClr val="000000">
                <a:alpha val="30980"/>
              </a:srgbClr>
            </a:outerShdw>
          </a:effectLst>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Viva-Voice by two Faculties during lab sessions</a:t>
            </a:r>
            <a:endParaRPr sz="1800">
              <a:solidFill>
                <a:schemeClr val="dk1"/>
              </a:solidFill>
              <a:latin typeface="Calibri"/>
              <a:ea typeface="Calibri"/>
              <a:cs typeface="Calibri"/>
              <a:sym typeface="Calibri"/>
            </a:endParaRPr>
          </a:p>
        </p:txBody>
      </p:sp>
      <p:cxnSp>
        <p:nvCxnSpPr>
          <p:cNvPr id="232" name="Google Shape;232;p18"/>
          <p:cNvCxnSpPr/>
          <p:nvPr/>
        </p:nvCxnSpPr>
        <p:spPr>
          <a:xfrm rot="5400000">
            <a:off x="3646575" y="4084150"/>
            <a:ext cx="855300" cy="521700"/>
          </a:xfrm>
          <a:prstGeom prst="bentConnector3">
            <a:avLst>
              <a:gd fmla="val 19093" name="adj1"/>
            </a:avLst>
          </a:prstGeom>
          <a:noFill/>
          <a:ln cap="flat" cmpd="sng" w="28575">
            <a:solidFill>
              <a:schemeClr val="accent4"/>
            </a:solidFill>
            <a:prstDash val="solid"/>
            <a:miter lim="800000"/>
            <a:headEnd len="sm" w="sm" type="none"/>
            <a:tailEnd len="med" w="med" type="triangle"/>
          </a:ln>
        </p:spPr>
      </p:cxnSp>
      <p:sp>
        <p:nvSpPr>
          <p:cNvPr id="233" name="Google Shape;233;p18"/>
          <p:cNvSpPr txBox="1"/>
          <p:nvPr/>
        </p:nvSpPr>
        <p:spPr>
          <a:xfrm>
            <a:off x="929125" y="4999750"/>
            <a:ext cx="2964300" cy="646500"/>
          </a:xfrm>
          <a:prstGeom prst="rect">
            <a:avLst/>
          </a:prstGeom>
          <a:solidFill>
            <a:schemeClr val="accent4"/>
          </a:solidFill>
          <a:ln>
            <a:noFill/>
          </a:ln>
          <a:effectLst>
            <a:outerShdw blurRad="44450" algn="ctr" dir="5400000" dist="27940">
              <a:srgbClr val="000000">
                <a:alpha val="30980"/>
              </a:srgbClr>
            </a:outerShdw>
          </a:effectLst>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End Sem Exam</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          (10% for final viva)</a:t>
            </a:r>
            <a:endParaRPr sz="1800">
              <a:solidFill>
                <a:schemeClr val="dk1"/>
              </a:solidFill>
              <a:latin typeface="Calibri"/>
              <a:ea typeface="Calibri"/>
              <a:cs typeface="Calibri"/>
              <a:sym typeface="Calibri"/>
            </a:endParaRPr>
          </a:p>
        </p:txBody>
      </p:sp>
      <p:sp>
        <p:nvSpPr>
          <p:cNvPr id="234" name="Google Shape;234;p18"/>
          <p:cNvSpPr txBox="1"/>
          <p:nvPr/>
        </p:nvSpPr>
        <p:spPr>
          <a:xfrm>
            <a:off x="255000" y="3372200"/>
            <a:ext cx="3138000" cy="646500"/>
          </a:xfrm>
          <a:prstGeom prst="rect">
            <a:avLst/>
          </a:prstGeom>
          <a:solidFill>
            <a:schemeClr val="accent5"/>
          </a:solidFill>
          <a:ln>
            <a:noFill/>
          </a:ln>
          <a:effectLst>
            <a:outerShdw blurRad="44450" algn="ctr" dir="5400000" dist="27940">
              <a:srgbClr val="000000">
                <a:alpha val="30980"/>
              </a:srgbClr>
            </a:outerShdw>
          </a:effectLst>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IN" sz="1800">
                <a:solidFill>
                  <a:schemeClr val="dk1"/>
                </a:solidFill>
                <a:latin typeface="Calibri"/>
                <a:ea typeface="Calibri"/>
                <a:cs typeface="Calibri"/>
                <a:sym typeface="Calibri"/>
              </a:rPr>
              <a:t>        </a:t>
            </a:r>
            <a:r>
              <a:rPr b="1" lang="en-IN" sz="1800">
                <a:solidFill>
                  <a:schemeClr val="dk1"/>
                </a:solidFill>
                <a:latin typeface="Calibri"/>
                <a:ea typeface="Calibri"/>
                <a:cs typeface="Calibri"/>
                <a:sym typeface="Calibri"/>
              </a:rPr>
              <a:t>   End Sem Exam</a:t>
            </a:r>
            <a:endParaRPr b="1"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lang="en-IN" sz="1800">
                <a:solidFill>
                  <a:schemeClr val="dk1"/>
                </a:solidFill>
                <a:latin typeface="Calibri"/>
                <a:ea typeface="Calibri"/>
                <a:cs typeface="Calibri"/>
                <a:sym typeface="Calibri"/>
              </a:rPr>
              <a:t>(20 % for Lab experiment Work)</a:t>
            </a:r>
            <a:endParaRPr sz="1800">
              <a:solidFill>
                <a:schemeClr val="dk1"/>
              </a:solidFill>
              <a:latin typeface="Calibri"/>
              <a:ea typeface="Calibri"/>
              <a:cs typeface="Calibri"/>
              <a:sym typeface="Calibri"/>
            </a:endParaRPr>
          </a:p>
        </p:txBody>
      </p:sp>
      <p:cxnSp>
        <p:nvCxnSpPr>
          <p:cNvPr id="235" name="Google Shape;235;p18"/>
          <p:cNvCxnSpPr/>
          <p:nvPr/>
        </p:nvCxnSpPr>
        <p:spPr>
          <a:xfrm flipH="1">
            <a:off x="3489150" y="3029025"/>
            <a:ext cx="735300" cy="715200"/>
          </a:xfrm>
          <a:prstGeom prst="bentConnector3">
            <a:avLst>
              <a:gd fmla="val 50000" name="adj1"/>
            </a:avLst>
          </a:prstGeom>
          <a:noFill/>
          <a:ln cap="flat" cmpd="sng" w="28575">
            <a:solidFill>
              <a:srgbClr val="00B0F0"/>
            </a:solidFill>
            <a:prstDash val="solid"/>
            <a:miter lim="800000"/>
            <a:headEnd len="sm" w="sm" type="none"/>
            <a:tailEnd len="med" w="med" type="triangle"/>
          </a:ln>
        </p:spPr>
      </p:cxnSp>
      <p:cxnSp>
        <p:nvCxnSpPr>
          <p:cNvPr id="236" name="Google Shape;236;p18"/>
          <p:cNvCxnSpPr/>
          <p:nvPr/>
        </p:nvCxnSpPr>
        <p:spPr>
          <a:xfrm rot="10800000">
            <a:off x="4529850" y="1224350"/>
            <a:ext cx="492600" cy="473400"/>
          </a:xfrm>
          <a:prstGeom prst="bentConnector3">
            <a:avLst>
              <a:gd fmla="val -340" name="adj1"/>
            </a:avLst>
          </a:prstGeom>
          <a:noFill/>
          <a:ln cap="flat" cmpd="sng" w="28575">
            <a:solidFill>
              <a:srgbClr val="A8D08C"/>
            </a:solidFill>
            <a:prstDash val="solid"/>
            <a:miter lim="800000"/>
            <a:headEnd len="sm" w="sm" type="none"/>
            <a:tailEnd len="med" w="med" type="triangle"/>
          </a:ln>
        </p:spPr>
      </p:cxnSp>
      <p:sp>
        <p:nvSpPr>
          <p:cNvPr id="237" name="Google Shape;237;p18"/>
          <p:cNvSpPr txBox="1"/>
          <p:nvPr/>
        </p:nvSpPr>
        <p:spPr>
          <a:xfrm>
            <a:off x="368525" y="1051250"/>
            <a:ext cx="3676200" cy="646500"/>
          </a:xfrm>
          <a:prstGeom prst="rect">
            <a:avLst/>
          </a:prstGeom>
          <a:solidFill>
            <a:schemeClr val="accent6"/>
          </a:solidFill>
          <a:ln>
            <a:noFill/>
          </a:ln>
          <a:effectLst>
            <a:outerShdw blurRad="44450" algn="ctr" dir="5400000" dist="27940">
              <a:srgbClr val="000000">
                <a:alpha val="30980"/>
              </a:srgbClr>
            </a:outerShdw>
          </a:effectLst>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800"/>
              <a:buFont typeface="Arial"/>
              <a:buNone/>
            </a:pPr>
            <a:r>
              <a:rPr lang="en-IN" sz="1800">
                <a:solidFill>
                  <a:schemeClr val="dk1"/>
                </a:solidFill>
                <a:latin typeface="Calibri"/>
                <a:ea typeface="Calibri"/>
                <a:cs typeface="Calibri"/>
                <a:sym typeface="Calibri"/>
              </a:rPr>
              <a:t>Prerecord preparation to be assessed by TAs for each experiment  </a:t>
            </a:r>
            <a:endParaRPr b="0" i="0" sz="1400" u="none" cap="none" strike="noStrike">
              <a:solidFill>
                <a:srgbClr val="000000"/>
              </a:solidFill>
              <a:latin typeface="Arial"/>
              <a:ea typeface="Arial"/>
              <a:cs typeface="Arial"/>
              <a:sym typeface="Arial"/>
            </a:endParaRPr>
          </a:p>
        </p:txBody>
      </p:sp>
      <p:sp>
        <p:nvSpPr>
          <p:cNvPr id="238" name="Google Shape;238;p18"/>
          <p:cNvSpPr txBox="1"/>
          <p:nvPr/>
        </p:nvSpPr>
        <p:spPr>
          <a:xfrm>
            <a:off x="5926158" y="2516261"/>
            <a:ext cx="660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8%</a:t>
            </a:r>
            <a:endParaRPr b="0" i="0" sz="1800" u="none" cap="none" strike="noStrike">
              <a:solidFill>
                <a:schemeClr val="lt1"/>
              </a:solidFill>
              <a:latin typeface="Calibri"/>
              <a:ea typeface="Calibri"/>
              <a:cs typeface="Calibri"/>
              <a:sym typeface="Calibri"/>
            </a:endParaRPr>
          </a:p>
        </p:txBody>
      </p:sp>
      <p:sp>
        <p:nvSpPr>
          <p:cNvPr id="239" name="Google Shape;239;p18"/>
          <p:cNvSpPr txBox="1"/>
          <p:nvPr/>
        </p:nvSpPr>
        <p:spPr>
          <a:xfrm>
            <a:off x="6758702" y="3120945"/>
            <a:ext cx="660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8%</a:t>
            </a:r>
            <a:endParaRPr b="0" i="0" sz="1800" u="none" cap="none" strike="noStrike">
              <a:solidFill>
                <a:schemeClr val="lt1"/>
              </a:solidFill>
              <a:latin typeface="Calibri"/>
              <a:ea typeface="Calibri"/>
              <a:cs typeface="Calibri"/>
              <a:sym typeface="Calibri"/>
            </a:endParaRPr>
          </a:p>
        </p:txBody>
      </p:sp>
      <p:sp>
        <p:nvSpPr>
          <p:cNvPr id="240" name="Google Shape;240;p18"/>
          <p:cNvSpPr txBox="1"/>
          <p:nvPr/>
        </p:nvSpPr>
        <p:spPr>
          <a:xfrm>
            <a:off x="4529838" y="2442516"/>
            <a:ext cx="83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100</a:t>
            </a:r>
            <a:endParaRPr b="0" i="0" sz="1800" u="none" cap="none" strike="noStrike">
              <a:solidFill>
                <a:schemeClr val="lt1"/>
              </a:solidFill>
              <a:latin typeface="Calibri"/>
              <a:ea typeface="Calibri"/>
              <a:cs typeface="Calibri"/>
              <a:sym typeface="Calibri"/>
            </a:endParaRPr>
          </a:p>
        </p:txBody>
      </p:sp>
      <p:sp>
        <p:nvSpPr>
          <p:cNvPr id="241" name="Google Shape;241;p18"/>
          <p:cNvSpPr txBox="1"/>
          <p:nvPr/>
        </p:nvSpPr>
        <p:spPr>
          <a:xfrm>
            <a:off x="5589745" y="2483990"/>
            <a:ext cx="660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8%</a:t>
            </a:r>
            <a:endParaRPr b="0" i="0" sz="1800" u="none" cap="none" strike="noStrike">
              <a:solidFill>
                <a:schemeClr val="lt1"/>
              </a:solidFill>
              <a:latin typeface="Calibri"/>
              <a:ea typeface="Calibri"/>
              <a:cs typeface="Calibri"/>
              <a:sym typeface="Calibri"/>
            </a:endParaRPr>
          </a:p>
        </p:txBody>
      </p:sp>
      <p:sp>
        <p:nvSpPr>
          <p:cNvPr id="242" name="Google Shape;242;p18"/>
          <p:cNvSpPr txBox="1"/>
          <p:nvPr/>
        </p:nvSpPr>
        <p:spPr>
          <a:xfrm>
            <a:off x="6460058" y="3731050"/>
            <a:ext cx="881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16%</a:t>
            </a:r>
            <a:endParaRPr b="0" i="0" sz="1800" u="none" cap="none" strike="noStrike">
              <a:solidFill>
                <a:schemeClr val="lt1"/>
              </a:solidFill>
              <a:latin typeface="Calibri"/>
              <a:ea typeface="Calibri"/>
              <a:cs typeface="Calibri"/>
              <a:sym typeface="Calibri"/>
            </a:endParaRPr>
          </a:p>
        </p:txBody>
      </p:sp>
      <p:sp>
        <p:nvSpPr>
          <p:cNvPr id="243" name="Google Shape;243;p18"/>
          <p:cNvSpPr txBox="1"/>
          <p:nvPr/>
        </p:nvSpPr>
        <p:spPr>
          <a:xfrm>
            <a:off x="5660432" y="4485066"/>
            <a:ext cx="660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8%</a:t>
            </a:r>
            <a:endParaRPr b="0" i="0" sz="1800" u="none" cap="none" strike="noStrike">
              <a:solidFill>
                <a:schemeClr val="lt1"/>
              </a:solidFill>
              <a:latin typeface="Calibri"/>
              <a:ea typeface="Calibri"/>
              <a:cs typeface="Calibri"/>
              <a:sym typeface="Calibri"/>
            </a:endParaRPr>
          </a:p>
        </p:txBody>
      </p:sp>
      <p:cxnSp>
        <p:nvCxnSpPr>
          <p:cNvPr id="244" name="Google Shape;244;p18"/>
          <p:cNvCxnSpPr/>
          <p:nvPr/>
        </p:nvCxnSpPr>
        <p:spPr>
          <a:xfrm flipH="1" rot="10800000">
            <a:off x="6929900" y="1446000"/>
            <a:ext cx="651600" cy="387600"/>
          </a:xfrm>
          <a:prstGeom prst="straightConnector1">
            <a:avLst/>
          </a:prstGeom>
          <a:noFill/>
          <a:ln cap="flat" cmpd="sng" w="28575">
            <a:solidFill>
              <a:srgbClr val="4A86E8"/>
            </a:solidFill>
            <a:prstDash val="solid"/>
            <a:round/>
            <a:headEnd len="med" w="med" type="none"/>
            <a:tailEnd len="med" w="med" type="triangle"/>
          </a:ln>
        </p:spPr>
      </p:cxnSp>
      <p:pic>
        <p:nvPicPr>
          <p:cNvPr id="245" name="Google Shape;245;p18"/>
          <p:cNvPicPr preferRelativeResize="0"/>
          <p:nvPr/>
        </p:nvPicPr>
        <p:blipFill>
          <a:blip r:embed="rId3">
            <a:alphaModFix/>
          </a:blip>
          <a:stretch>
            <a:fillRect/>
          </a:stretch>
        </p:blipFill>
        <p:spPr>
          <a:xfrm>
            <a:off x="4117564" y="1755025"/>
            <a:ext cx="3584451" cy="3673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5"/>
          <p:cNvSpPr txBox="1"/>
          <p:nvPr/>
        </p:nvSpPr>
        <p:spPr>
          <a:xfrm>
            <a:off x="2595973" y="2074606"/>
            <a:ext cx="6804600" cy="201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500"/>
              <a:buFont typeface="Arial"/>
              <a:buNone/>
            </a:pPr>
            <a:r>
              <a:rPr b="0" i="0" lang="en-IN" sz="12500" u="none" cap="none" strike="noStrike">
                <a:solidFill>
                  <a:schemeClr val="dk1"/>
                </a:solidFill>
                <a:latin typeface="Calibri"/>
                <a:ea typeface="Calibri"/>
                <a:cs typeface="Calibri"/>
                <a:sym typeface="Calibri"/>
              </a:rPr>
              <a:t>Thanks</a:t>
            </a:r>
            <a:endParaRPr b="0" i="0" sz="12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2021-05-23T11:14:20Z</dcterms:created>
  <dc:creator>Microsoft Office User</dc:creator>
</cp:coreProperties>
</file>