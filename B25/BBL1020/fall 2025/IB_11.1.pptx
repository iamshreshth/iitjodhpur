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7010400" cy="9296400"/>
  <p:embeddedFontLst>
    <p:embeddedFont>
      <p:font typeface="Caveat" panose="020B0604020202020204" charset="0"/>
      <p:regular r:id="rId14"/>
      <p:bold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  <p:embeddedFont>
      <p:font typeface="Jim Nightshade" panose="020B0604020202020204" charset="0"/>
      <p:regular r:id="rId20"/>
    </p:embeddedFont>
    <p:embeddedFont>
      <p:font typeface="Nunito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bold r:id="rId26"/>
      <p:italic r:id="rId27"/>
      <p:boldItalic r:id="rId28"/>
    </p:embeddedFont>
    <p:embeddedFont>
      <p:font typeface="Rockwell" panose="02060603020205020403" pitchFamily="18" charset="0"/>
      <p:regular r:id="rId29"/>
      <p:bold r:id="rId30"/>
      <p:italic r:id="rId31"/>
      <p:boldItalic r:id="rId32"/>
    </p:embeddedFont>
    <p:embeddedFont>
      <p:font typeface="Times" panose="02020603050405020304" pitchFamily="18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6w0lgGwdU4+XFTebueaF3Dkri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2560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58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2560" y="883158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aa7cbdba92_0_2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9" name="Google Shape;189;g2aa7cbdba92_0_2581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11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g2aa7cbdba92_0_2581:notes"/>
          <p:cNvSpPr txBox="1">
            <a:spLocks noGrp="1"/>
          </p:cNvSpPr>
          <p:nvPr>
            <p:ph type="sldNum" idx="12"/>
          </p:nvPr>
        </p:nvSpPr>
        <p:spPr>
          <a:xfrm>
            <a:off x="3972560" y="8831580"/>
            <a:ext cx="30378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64bc47d4a7_0_2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93275" rIns="93275" bIns="93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" name="Google Shape;197;g264bc47d4a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aa03443de_0_5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93275" rIns="93275" bIns="93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3" name="Google Shape;213;g26aa03443d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aa03443de_0_6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93275" rIns="93275" bIns="93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1" name="Google Shape;221;g26aa03443de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52868" y="697230"/>
            <a:ext cx="35055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aa03443de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aa03443de_0_287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1100" cy="41835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6aa03443de_0_287:notes"/>
          <p:cNvSpPr txBox="1">
            <a:spLocks noGrp="1"/>
          </p:cNvSpPr>
          <p:nvPr>
            <p:ph type="sldNum" idx="12"/>
          </p:nvPr>
        </p:nvSpPr>
        <p:spPr>
          <a:xfrm>
            <a:off x="3972560" y="8831580"/>
            <a:ext cx="3037800" cy="464700"/>
          </a:xfrm>
          <a:prstGeom prst="rect">
            <a:avLst/>
          </a:prstGeom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aa03443de_0_8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93275" rIns="93275" bIns="93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5" name="Google Shape;245;g26aa03443de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52868" y="697230"/>
            <a:ext cx="35055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aa03443de_0_9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93275" rIns="93275" bIns="93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26aa03443d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52868" y="697230"/>
            <a:ext cx="35055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6aa03443de_0_10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93275" rIns="93275" bIns="93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7" name="Google Shape;257;g26aa03443d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52868" y="697230"/>
            <a:ext cx="35055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6aa03443de_0_10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93275" rIns="93275" bIns="93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3" name="Google Shape;263;g26aa03443de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6aa03443de_0_112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93275" rIns="93275" bIns="93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9" name="Google Shape;269;g26aa03443de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52868" y="697230"/>
            <a:ext cx="3505500" cy="3486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6aa03443de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6aa03443de_0_295:notes"/>
          <p:cNvSpPr txBox="1">
            <a:spLocks noGrp="1"/>
          </p:cNvSpPr>
          <p:nvPr>
            <p:ph type="body" idx="1"/>
          </p:nvPr>
        </p:nvSpPr>
        <p:spPr>
          <a:xfrm>
            <a:off x="934720" y="4415790"/>
            <a:ext cx="5141100" cy="41835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26aa03443de_0_295:notes"/>
          <p:cNvSpPr txBox="1">
            <a:spLocks noGrp="1"/>
          </p:cNvSpPr>
          <p:nvPr>
            <p:ph type="sldNum" idx="12"/>
          </p:nvPr>
        </p:nvSpPr>
        <p:spPr>
          <a:xfrm>
            <a:off x="3972560" y="8831580"/>
            <a:ext cx="3037800" cy="464700"/>
          </a:xfrm>
          <a:prstGeom prst="rect">
            <a:avLst/>
          </a:prstGeom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ac93cdc357_0_25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2ac93cdc357_0_25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g2ac93cdc357_0_25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g2ac93cdc357_0_25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g2ac93cdc357_0_25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ac93cdc357_0_143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2ac93cdc357_0_143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2ac93cdc357_0_143"/>
          <p:cNvSpPr/>
          <p:nvPr/>
        </p:nvSpPr>
        <p:spPr>
          <a:xfrm rot="10800000">
            <a:off x="5058905" y="-100"/>
            <a:ext cx="4085100" cy="27369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g2ac93cdc357_0_143"/>
          <p:cNvSpPr/>
          <p:nvPr/>
        </p:nvSpPr>
        <p:spPr>
          <a:xfrm>
            <a:off x="20327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g2ac93cdc357_0_143"/>
          <p:cNvGrpSpPr/>
          <p:nvPr/>
        </p:nvGrpSpPr>
        <p:grpSpPr>
          <a:xfrm>
            <a:off x="255200" y="790"/>
            <a:ext cx="2250363" cy="1392365"/>
            <a:chOff x="255200" y="592"/>
            <a:chExt cx="2250363" cy="1044300"/>
          </a:xfrm>
        </p:grpSpPr>
        <p:sp>
          <p:nvSpPr>
            <p:cNvPr id="25" name="Google Shape;25;g2ac93cdc357_0_143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g2ac93cdc357_0_143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2ac93cdc357_0_143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g2ac93cdc357_0_143"/>
          <p:cNvGrpSpPr/>
          <p:nvPr/>
        </p:nvGrpSpPr>
        <p:grpSpPr>
          <a:xfrm>
            <a:off x="905395" y="790"/>
            <a:ext cx="2250363" cy="1392365"/>
            <a:chOff x="905395" y="592"/>
            <a:chExt cx="2250363" cy="1044300"/>
          </a:xfrm>
        </p:grpSpPr>
        <p:sp>
          <p:nvSpPr>
            <p:cNvPr id="29" name="Google Shape;29;g2ac93cdc357_0_143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2ac93cdc357_0_143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2ac93cdc357_0_143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32;g2ac93cdc357_0_143"/>
          <p:cNvGrpSpPr/>
          <p:nvPr/>
        </p:nvGrpSpPr>
        <p:grpSpPr>
          <a:xfrm>
            <a:off x="7057468" y="6784"/>
            <a:ext cx="1851281" cy="1002839"/>
            <a:chOff x="6917201" y="0"/>
            <a:chExt cx="2227776" cy="863400"/>
          </a:xfrm>
        </p:grpSpPr>
        <p:sp>
          <p:nvSpPr>
            <p:cNvPr id="33" name="Google Shape;33;g2ac93cdc357_0_14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2ac93cdc357_0_14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2ac93cdc357_0_14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" name="Google Shape;36;g2ac93cdc357_0_143"/>
          <p:cNvGrpSpPr/>
          <p:nvPr/>
        </p:nvGrpSpPr>
        <p:grpSpPr>
          <a:xfrm>
            <a:off x="6553032" y="5623802"/>
            <a:ext cx="2389067" cy="1234317"/>
            <a:chOff x="6917201" y="0"/>
            <a:chExt cx="2227776" cy="863400"/>
          </a:xfrm>
        </p:grpSpPr>
        <p:sp>
          <p:nvSpPr>
            <p:cNvPr id="37" name="Google Shape;37;g2ac93cdc357_0_14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2ac93cdc357_0_14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2ac93cdc357_0_14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oogle Shape;40;g2ac93cdc357_0_143"/>
          <p:cNvGrpSpPr/>
          <p:nvPr/>
        </p:nvGrpSpPr>
        <p:grpSpPr>
          <a:xfrm>
            <a:off x="199149" y="5407536"/>
            <a:ext cx="2795413" cy="1444382"/>
            <a:chOff x="6917201" y="0"/>
            <a:chExt cx="2227776" cy="863400"/>
          </a:xfrm>
        </p:grpSpPr>
        <p:sp>
          <p:nvSpPr>
            <p:cNvPr id="41" name="Google Shape;41;g2ac93cdc357_0_14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ac93cdc357_0_14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2ac93cdc357_0_14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g2ac93cdc357_0_143"/>
          <p:cNvSpPr txBox="1">
            <a:spLocks noGrp="1"/>
          </p:cNvSpPr>
          <p:nvPr>
            <p:ph type="ctrTitle"/>
          </p:nvPr>
        </p:nvSpPr>
        <p:spPr>
          <a:xfrm>
            <a:off x="1858703" y="2430444"/>
            <a:ext cx="5361300" cy="19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5" name="Google Shape;45;g2ac93cdc357_0_143"/>
          <p:cNvSpPr txBox="1">
            <a:spLocks noGrp="1"/>
          </p:cNvSpPr>
          <p:nvPr>
            <p:ph type="subTitle" idx="1"/>
          </p:nvPr>
        </p:nvSpPr>
        <p:spPr>
          <a:xfrm>
            <a:off x="1858700" y="4550878"/>
            <a:ext cx="5361300" cy="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2ac93cdc357_0_143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ac93cdc357_0_171"/>
          <p:cNvSpPr/>
          <p:nvPr/>
        </p:nvSpPr>
        <p:spPr>
          <a:xfrm flipH="1">
            <a:off x="4757100" y="3079200"/>
            <a:ext cx="4386900" cy="3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g2ac93cdc357_0_171"/>
          <p:cNvGrpSpPr/>
          <p:nvPr/>
        </p:nvGrpSpPr>
        <p:grpSpPr>
          <a:xfrm>
            <a:off x="5594191" y="5281486"/>
            <a:ext cx="2910144" cy="1576482"/>
            <a:chOff x="6917201" y="0"/>
            <a:chExt cx="2227776" cy="863400"/>
          </a:xfrm>
        </p:grpSpPr>
        <p:sp>
          <p:nvSpPr>
            <p:cNvPr id="50" name="Google Shape;50;g2ac93cdc357_0_17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2ac93cdc357_0_17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2ac93cdc357_0_17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g2ac93cdc357_0_171"/>
          <p:cNvGrpSpPr/>
          <p:nvPr/>
        </p:nvGrpSpPr>
        <p:grpSpPr>
          <a:xfrm>
            <a:off x="199149" y="3"/>
            <a:ext cx="2795413" cy="1444382"/>
            <a:chOff x="6917201" y="0"/>
            <a:chExt cx="2227776" cy="863400"/>
          </a:xfrm>
        </p:grpSpPr>
        <p:sp>
          <p:nvSpPr>
            <p:cNvPr id="54" name="Google Shape;54;g2ac93cdc357_0_17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2ac93cdc357_0_17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2ac93cdc357_0_17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g2ac93cdc357_0_171"/>
          <p:cNvSpPr txBox="1">
            <a:spLocks noGrp="1"/>
          </p:cNvSpPr>
          <p:nvPr>
            <p:ph type="title"/>
          </p:nvPr>
        </p:nvSpPr>
        <p:spPr>
          <a:xfrm>
            <a:off x="1888684" y="2328133"/>
            <a:ext cx="5377500" cy="2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g2ac93cdc357_0_171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ac93cdc357_0_183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2ac93cdc357_0_183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2ac93cdc357_0_183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ac93cdc357_0_183"/>
          <p:cNvSpPr txBox="1">
            <a:spLocks noGrp="1"/>
          </p:cNvSpPr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4" name="Google Shape;64;g2ac93cdc357_0_183"/>
          <p:cNvSpPr txBox="1">
            <a:spLocks noGrp="1"/>
          </p:cNvSpPr>
          <p:nvPr>
            <p:ph type="body" idx="1"/>
          </p:nvPr>
        </p:nvSpPr>
        <p:spPr>
          <a:xfrm>
            <a:off x="819150" y="2654300"/>
            <a:ext cx="7505700" cy="3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g2ac93cdc357_0_183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c93cdc357_0_190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2ac93cdc357_0_190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2ac93cdc357_0_190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2ac93cdc357_0_190"/>
          <p:cNvSpPr txBox="1">
            <a:spLocks noGrp="1"/>
          </p:cNvSpPr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1" name="Google Shape;71;g2ac93cdc357_0_190"/>
          <p:cNvSpPr txBox="1">
            <a:spLocks noGrp="1"/>
          </p:cNvSpPr>
          <p:nvPr>
            <p:ph type="body" idx="1"/>
          </p:nvPr>
        </p:nvSpPr>
        <p:spPr>
          <a:xfrm>
            <a:off x="819150" y="2654300"/>
            <a:ext cx="3686100" cy="3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g2ac93cdc357_0_190"/>
          <p:cNvSpPr txBox="1">
            <a:spLocks noGrp="1"/>
          </p:cNvSpPr>
          <p:nvPr>
            <p:ph type="body" idx="2"/>
          </p:nvPr>
        </p:nvSpPr>
        <p:spPr>
          <a:xfrm>
            <a:off x="4638675" y="2654300"/>
            <a:ext cx="3686100" cy="3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g2ac93cdc357_0_190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ac93cdc357_0_198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2ac93cdc357_0_198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2ac93cdc357_0_198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2ac93cdc357_0_198"/>
          <p:cNvSpPr txBox="1">
            <a:spLocks noGrp="1"/>
          </p:cNvSpPr>
          <p:nvPr>
            <p:ph type="title"/>
          </p:nvPr>
        </p:nvSpPr>
        <p:spPr>
          <a:xfrm>
            <a:off x="819150" y="1127467"/>
            <a:ext cx="7505700" cy="12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9" name="Google Shape;79;g2ac93cdc357_0_198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ac93cdc357_0_204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2ac93cdc357_0_204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2ac93cdc357_0_204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2ac93cdc357_0_204"/>
          <p:cNvSpPr txBox="1">
            <a:spLocks noGrp="1"/>
          </p:cNvSpPr>
          <p:nvPr>
            <p:ph type="title"/>
          </p:nvPr>
        </p:nvSpPr>
        <p:spPr>
          <a:xfrm>
            <a:off x="819150" y="1127467"/>
            <a:ext cx="3709200" cy="18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5" name="Google Shape;85;g2ac93cdc357_0_204"/>
          <p:cNvSpPr txBox="1">
            <a:spLocks noGrp="1"/>
          </p:cNvSpPr>
          <p:nvPr>
            <p:ph type="body" idx="1"/>
          </p:nvPr>
        </p:nvSpPr>
        <p:spPr>
          <a:xfrm>
            <a:off x="830700" y="3092067"/>
            <a:ext cx="3709200" cy="28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g2ac93cdc357_0_204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c93cdc357_0_211"/>
          <p:cNvSpPr/>
          <p:nvPr/>
        </p:nvSpPr>
        <p:spPr>
          <a:xfrm>
            <a:off x="0" y="3764192"/>
            <a:ext cx="7369200" cy="30891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ac93cdc357_0_211"/>
          <p:cNvSpPr/>
          <p:nvPr/>
        </p:nvSpPr>
        <p:spPr>
          <a:xfrm flipH="1">
            <a:off x="3583210" y="2072150"/>
            <a:ext cx="5560500" cy="4785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g2ac93cdc357_0_211"/>
          <p:cNvGrpSpPr/>
          <p:nvPr/>
        </p:nvGrpSpPr>
        <p:grpSpPr>
          <a:xfrm>
            <a:off x="255991" y="-11"/>
            <a:ext cx="2251347" cy="1391229"/>
            <a:chOff x="3961956" y="4383950"/>
            <a:chExt cx="1160548" cy="548700"/>
          </a:xfrm>
        </p:grpSpPr>
        <p:sp>
          <p:nvSpPr>
            <p:cNvPr id="91" name="Google Shape;91;g2ac93cdc357_0_211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2ac93cdc357_0_211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2ac93cdc357_0_211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g2ac93cdc357_0_211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g2ac93cdc357_0_211"/>
          <p:cNvGrpSpPr/>
          <p:nvPr/>
        </p:nvGrpSpPr>
        <p:grpSpPr>
          <a:xfrm>
            <a:off x="34934" y="6029501"/>
            <a:ext cx="1593305" cy="822734"/>
            <a:chOff x="6917201" y="0"/>
            <a:chExt cx="2227776" cy="863400"/>
          </a:xfrm>
        </p:grpSpPr>
        <p:sp>
          <p:nvSpPr>
            <p:cNvPr id="96" name="Google Shape;96;g2ac93cdc357_0_2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2ac93cdc357_0_2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2ac93cdc357_0_2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g2ac93cdc357_0_211"/>
          <p:cNvGrpSpPr/>
          <p:nvPr/>
        </p:nvGrpSpPr>
        <p:grpSpPr>
          <a:xfrm>
            <a:off x="5886353" y="1657"/>
            <a:ext cx="3257454" cy="1681990"/>
            <a:chOff x="6917201" y="0"/>
            <a:chExt cx="2227776" cy="863400"/>
          </a:xfrm>
        </p:grpSpPr>
        <p:sp>
          <p:nvSpPr>
            <p:cNvPr id="100" name="Google Shape;100;g2ac93cdc357_0_2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2ac93cdc357_0_2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2ac93cdc357_0_2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g2ac93cdc357_0_211"/>
          <p:cNvSpPr txBox="1">
            <a:spLocks noGrp="1"/>
          </p:cNvSpPr>
          <p:nvPr>
            <p:ph type="title"/>
          </p:nvPr>
        </p:nvSpPr>
        <p:spPr>
          <a:xfrm>
            <a:off x="1393929" y="1734861"/>
            <a:ext cx="6366900" cy="3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4" name="Google Shape;104;g2ac93cdc357_0_211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ac93cdc357_0_229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2ac93cdc357_0_229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2ac93cdc357_0_229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2ac93cdc357_0_229"/>
          <p:cNvSpPr txBox="1">
            <a:spLocks noGrp="1"/>
          </p:cNvSpPr>
          <p:nvPr>
            <p:ph type="title"/>
          </p:nvPr>
        </p:nvSpPr>
        <p:spPr>
          <a:xfrm>
            <a:off x="819150" y="1127467"/>
            <a:ext cx="64242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0" name="Google Shape;110;g2ac93cdc357_0_229"/>
          <p:cNvSpPr txBox="1">
            <a:spLocks noGrp="1"/>
          </p:cNvSpPr>
          <p:nvPr>
            <p:ph type="subTitle" idx="1"/>
          </p:nvPr>
        </p:nvSpPr>
        <p:spPr>
          <a:xfrm>
            <a:off x="819150" y="2067600"/>
            <a:ext cx="5859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g2ac93cdc357_0_229"/>
          <p:cNvSpPr txBox="1">
            <a:spLocks noGrp="1"/>
          </p:cNvSpPr>
          <p:nvPr>
            <p:ph type="body" idx="2"/>
          </p:nvPr>
        </p:nvSpPr>
        <p:spPr>
          <a:xfrm>
            <a:off x="819150" y="3289400"/>
            <a:ext cx="5859900" cy="27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g2ac93cdc357_0_229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c93cdc357_0_237"/>
          <p:cNvSpPr/>
          <p:nvPr/>
        </p:nvSpPr>
        <p:spPr>
          <a:xfrm>
            <a:off x="31" y="3766000"/>
            <a:ext cx="7370400" cy="30921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2ac93cdc357_0_237"/>
          <p:cNvSpPr/>
          <p:nvPr/>
        </p:nvSpPr>
        <p:spPr>
          <a:xfrm flipH="1">
            <a:off x="3582600" y="2067600"/>
            <a:ext cx="5561400" cy="4790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2ac93cdc357_0_237"/>
          <p:cNvSpPr/>
          <p:nvPr/>
        </p:nvSpPr>
        <p:spPr>
          <a:xfrm>
            <a:off x="203225" y="275000"/>
            <a:ext cx="87375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2ac93cdc357_0_237"/>
          <p:cNvSpPr txBox="1">
            <a:spLocks noGrp="1"/>
          </p:cNvSpPr>
          <p:nvPr>
            <p:ph type="body" idx="1"/>
          </p:nvPr>
        </p:nvSpPr>
        <p:spPr>
          <a:xfrm>
            <a:off x="328025" y="5551333"/>
            <a:ext cx="74151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18" name="Google Shape;118;g2ac93cdc357_0_237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c93cdc357_0_243"/>
          <p:cNvSpPr/>
          <p:nvPr/>
        </p:nvSpPr>
        <p:spPr>
          <a:xfrm flipH="1">
            <a:off x="5569200" y="3778767"/>
            <a:ext cx="3574800" cy="3079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g2ac93cdc357_0_243"/>
          <p:cNvGrpSpPr/>
          <p:nvPr/>
        </p:nvGrpSpPr>
        <p:grpSpPr>
          <a:xfrm>
            <a:off x="5959222" y="5492768"/>
            <a:ext cx="2520951" cy="1365553"/>
            <a:chOff x="6917201" y="0"/>
            <a:chExt cx="2227776" cy="863400"/>
          </a:xfrm>
        </p:grpSpPr>
        <p:sp>
          <p:nvSpPr>
            <p:cNvPr id="122" name="Google Shape;122;g2ac93cdc357_0_24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2ac93cdc357_0_24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2ac93cdc357_0_24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g2ac93cdc357_0_243"/>
          <p:cNvGrpSpPr/>
          <p:nvPr/>
        </p:nvGrpSpPr>
        <p:grpSpPr>
          <a:xfrm>
            <a:off x="199149" y="3"/>
            <a:ext cx="2795413" cy="1444382"/>
            <a:chOff x="6917201" y="0"/>
            <a:chExt cx="2227776" cy="863400"/>
          </a:xfrm>
        </p:grpSpPr>
        <p:sp>
          <p:nvSpPr>
            <p:cNvPr id="126" name="Google Shape;126;g2ac93cdc357_0_24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2ac93cdc357_0_24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2ac93cdc357_0_24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2ac93cdc357_0_243"/>
          <p:cNvSpPr txBox="1">
            <a:spLocks noGrp="1"/>
          </p:cNvSpPr>
          <p:nvPr>
            <p:ph type="title" hasCustomPrompt="1"/>
          </p:nvPr>
        </p:nvSpPr>
        <p:spPr>
          <a:xfrm>
            <a:off x="1385850" y="1845133"/>
            <a:ext cx="6372300" cy="1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g2ac93cdc357_0_243"/>
          <p:cNvSpPr txBox="1">
            <a:spLocks noGrp="1"/>
          </p:cNvSpPr>
          <p:nvPr>
            <p:ph type="body" idx="1"/>
          </p:nvPr>
        </p:nvSpPr>
        <p:spPr>
          <a:xfrm>
            <a:off x="1385850" y="3818467"/>
            <a:ext cx="6372300" cy="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g2ac93cdc357_0_243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c93cdc357_0_256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ac93cdc357_0_1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" name="Google Shape;11;g2ac93cdc357_0_1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g2ac93cdc357_0_139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youtube.com/watch?v=9kOGOY7vthk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aa7cbdba92_0_2581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93" name="Google Shape;193;g2aa7cbdba92_0_2581"/>
          <p:cNvSpPr txBox="1">
            <a:spLocks noGrp="1"/>
          </p:cNvSpPr>
          <p:nvPr>
            <p:ph type="title" idx="4294967295"/>
          </p:nvPr>
        </p:nvSpPr>
        <p:spPr>
          <a:xfrm>
            <a:off x="270975" y="304800"/>
            <a:ext cx="8668500" cy="524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FF"/>
                </a:solidFill>
                <a:latin typeface="Roboto Medium"/>
                <a:ea typeface="Roboto Medium"/>
                <a:cs typeface="Roboto Medium"/>
                <a:sym typeface="Roboto Medium"/>
              </a:rPr>
              <a:t>Today’s topic</a:t>
            </a:r>
            <a:endParaRPr>
              <a:solidFill>
                <a:srgbClr val="0000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94" name="Google Shape;194;g2aa7cbdba92_0_2581"/>
          <p:cNvSpPr txBox="1"/>
          <p:nvPr/>
        </p:nvSpPr>
        <p:spPr>
          <a:xfrm>
            <a:off x="994175" y="2523150"/>
            <a:ext cx="66069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n-US" sz="3100">
                <a:highlight>
                  <a:schemeClr val="dk1"/>
                </a:highlight>
                <a:latin typeface="Rockwell"/>
                <a:ea typeface="Rockwell"/>
                <a:cs typeface="Rockwell"/>
                <a:sym typeface="Rockwell"/>
              </a:rPr>
              <a:t>Central dogma of life</a:t>
            </a:r>
            <a:endParaRPr sz="6700" i="0" u="none" strike="noStrike" cap="none">
              <a:solidFill>
                <a:schemeClr val="dk2"/>
              </a:solidFill>
              <a:highlight>
                <a:schemeClr val="dk1"/>
              </a:highlight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4bc47d4a7_0_27"/>
          <p:cNvSpPr txBox="1">
            <a:spLocks noGrp="1"/>
          </p:cNvSpPr>
          <p:nvPr>
            <p:ph type="title" idx="4294967295"/>
          </p:nvPr>
        </p:nvSpPr>
        <p:spPr>
          <a:xfrm>
            <a:off x="90450" y="46275"/>
            <a:ext cx="8668500" cy="524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rPr>
              <a:t>Unpacking the body</a:t>
            </a:r>
            <a:endParaRPr sz="4400">
              <a:solidFill>
                <a:srgbClr val="0000FF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0" name="Google Shape;200;g264bc47d4a7_0_27"/>
          <p:cNvSpPr txBox="1"/>
          <p:nvPr/>
        </p:nvSpPr>
        <p:spPr>
          <a:xfrm>
            <a:off x="260775" y="533700"/>
            <a:ext cx="8863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latin typeface="Caveat"/>
                <a:ea typeface="Caveat"/>
                <a:cs typeface="Caveat"/>
                <a:sym typeface="Caveat"/>
              </a:rPr>
              <a:t>Atoms in body  - 7,000,000,000,000,000,000,000,000,000 - seven octillion</a:t>
            </a:r>
            <a:endParaRPr sz="2200" b="1" i="0" u="none" strike="noStrike" cap="non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1" name="Google Shape;201;g264bc47d4a7_0_27"/>
          <p:cNvSpPr txBox="1"/>
          <p:nvPr/>
        </p:nvSpPr>
        <p:spPr>
          <a:xfrm>
            <a:off x="2829275" y="5337000"/>
            <a:ext cx="2972700" cy="19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Entire DNA - Distance beyond pluto!!</a:t>
            </a:r>
            <a:endParaRPr sz="1600" b="1">
              <a:solidFill>
                <a:schemeClr val="dk2"/>
              </a:solidFill>
              <a:latin typeface="Caveat"/>
              <a:ea typeface="Caveat"/>
              <a:cs typeface="Caveat"/>
              <a:sym typeface="Cave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Stable for thousands of years !!!</a:t>
            </a:r>
            <a:endParaRPr sz="1600" b="1">
              <a:solidFill>
                <a:schemeClr val="dk2"/>
              </a:solidFill>
              <a:latin typeface="Caveat"/>
              <a:ea typeface="Caveat"/>
              <a:cs typeface="Caveat"/>
              <a:sym typeface="Cave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One error in a billion bases !!!</a:t>
            </a:r>
            <a:endParaRPr sz="1600" b="1">
              <a:solidFill>
                <a:schemeClr val="dk2"/>
              </a:solidFill>
              <a:latin typeface="Caveat"/>
              <a:ea typeface="Caveat"/>
              <a:cs typeface="Caveat"/>
              <a:sym typeface="Cave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g264bc47d4a7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350" y="999775"/>
            <a:ext cx="1812275" cy="181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264bc47d4a7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00" y="3737525"/>
            <a:ext cx="2346499" cy="234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64bc47d4a7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98099" y="3339324"/>
            <a:ext cx="2185802" cy="2185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64bc47d4a7_0_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1599" y="1780738"/>
            <a:ext cx="2346499" cy="2346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264bc47d4a7_0_27"/>
          <p:cNvSpPr txBox="1"/>
          <p:nvPr/>
        </p:nvSpPr>
        <p:spPr>
          <a:xfrm>
            <a:off x="4991200" y="1452338"/>
            <a:ext cx="1812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 Lungs - the size of tennis court !!</a:t>
            </a:r>
            <a:endParaRPr sz="1800" b="1">
              <a:solidFill>
                <a:schemeClr val="dk2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7" name="Google Shape;207;g264bc47d4a7_0_27"/>
          <p:cNvSpPr txBox="1"/>
          <p:nvPr/>
        </p:nvSpPr>
        <p:spPr>
          <a:xfrm>
            <a:off x="6610350" y="2937463"/>
            <a:ext cx="2346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Airways - Stretch from London to moscow !!</a:t>
            </a:r>
            <a:endParaRPr sz="1900" b="1">
              <a:solidFill>
                <a:schemeClr val="dk2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208" name="Google Shape;208;g264bc47d4a7_0_27"/>
          <p:cNvSpPr txBox="1"/>
          <p:nvPr/>
        </p:nvSpPr>
        <p:spPr>
          <a:xfrm>
            <a:off x="143425" y="2276738"/>
            <a:ext cx="20991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2"/>
                </a:solidFill>
                <a:latin typeface="Caveat"/>
                <a:ea typeface="Caveat"/>
                <a:cs typeface="Caveat"/>
                <a:sym typeface="Caveat"/>
              </a:rPr>
              <a:t> Length of all your blood vessels - two and half times around the earth !!</a:t>
            </a:r>
            <a:endParaRPr sz="2000" b="1"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09" name="Google Shape;209;g264bc47d4a7_0_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0775" y="4379150"/>
            <a:ext cx="2478851" cy="247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264bc47d4a7_0_27"/>
          <p:cNvSpPr txBox="1"/>
          <p:nvPr/>
        </p:nvSpPr>
        <p:spPr>
          <a:xfrm>
            <a:off x="6101800" y="6532050"/>
            <a:ext cx="3063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Adapted from The body by Bill Bryson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6aa03443de_0_58"/>
          <p:cNvSpPr txBox="1"/>
          <p:nvPr/>
        </p:nvSpPr>
        <p:spPr>
          <a:xfrm>
            <a:off x="124199" y="550766"/>
            <a:ext cx="9206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0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Central dogma of biology</a:t>
            </a:r>
            <a:endParaRPr sz="5600" b="0" i="0" u="none" strike="noStrike" cap="none">
              <a:solidFill>
                <a:srgbClr val="000000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  <p:sp>
        <p:nvSpPr>
          <p:cNvPr id="216" name="Google Shape;216;g26aa03443de_0_58"/>
          <p:cNvSpPr txBox="1"/>
          <p:nvPr/>
        </p:nvSpPr>
        <p:spPr>
          <a:xfrm>
            <a:off x="482775" y="2043750"/>
            <a:ext cx="79593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D0D0D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sz="2600"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D0D0D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D0D0D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D0D0D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g26aa03443de_0_58"/>
          <p:cNvSpPr txBox="1"/>
          <p:nvPr/>
        </p:nvSpPr>
        <p:spPr>
          <a:xfrm>
            <a:off x="450225" y="2179000"/>
            <a:ext cx="8024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Proposed by Francis Crick in 1958</a:t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Flow of genetic information within a biological system</a:t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Basis for understanding the processes of gene expression and regulation</a:t>
            </a:r>
            <a:endParaRPr sz="24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g26aa03443de_0_69"/>
          <p:cNvGrpSpPr/>
          <p:nvPr/>
        </p:nvGrpSpPr>
        <p:grpSpPr>
          <a:xfrm>
            <a:off x="245775" y="362875"/>
            <a:ext cx="9748865" cy="2839325"/>
            <a:chOff x="1073388" y="2050160"/>
            <a:chExt cx="11922300" cy="2839325"/>
          </a:xfrm>
        </p:grpSpPr>
        <p:sp>
          <p:nvSpPr>
            <p:cNvPr id="224" name="Google Shape;224;g26aa03443de_0_69"/>
            <p:cNvSpPr txBox="1"/>
            <p:nvPr/>
          </p:nvSpPr>
          <p:spPr>
            <a:xfrm>
              <a:off x="1379189" y="4212385"/>
              <a:ext cx="2291700" cy="677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-US" sz="38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DNA</a:t>
              </a:r>
              <a:endPara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" name="Google Shape;225;g26aa03443de_0_69"/>
            <p:cNvCxnSpPr/>
            <p:nvPr/>
          </p:nvCxnSpPr>
          <p:spPr>
            <a:xfrm>
              <a:off x="2936240" y="4597609"/>
              <a:ext cx="1733700" cy="0"/>
            </a:xfrm>
            <a:prstGeom prst="straightConnector1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6" name="Google Shape;226;g26aa03443de_0_69"/>
            <p:cNvSpPr txBox="1"/>
            <p:nvPr/>
          </p:nvSpPr>
          <p:spPr>
            <a:xfrm>
              <a:off x="8788417" y="4100610"/>
              <a:ext cx="3872400" cy="677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-US" sz="38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Protein</a:t>
              </a:r>
              <a:endPara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26aa03443de_0_69"/>
            <p:cNvSpPr txBox="1"/>
            <p:nvPr/>
          </p:nvSpPr>
          <p:spPr>
            <a:xfrm>
              <a:off x="4828922" y="4212385"/>
              <a:ext cx="2565900" cy="6771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-US" sz="38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RNA</a:t>
              </a:r>
              <a:endParaRPr sz="3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" name="Google Shape;228;g26aa03443de_0_69"/>
            <p:cNvCxnSpPr/>
            <p:nvPr/>
          </p:nvCxnSpPr>
          <p:spPr>
            <a:xfrm>
              <a:off x="7011966" y="4544785"/>
              <a:ext cx="1662000" cy="12300"/>
            </a:xfrm>
            <a:prstGeom prst="straightConnector1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29" name="Google Shape;229;g26aa03443de_0_69"/>
            <p:cNvSpPr txBox="1"/>
            <p:nvPr/>
          </p:nvSpPr>
          <p:spPr>
            <a:xfrm>
              <a:off x="2951020" y="3930610"/>
              <a:ext cx="2182500" cy="369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1800" b="1" i="1" u="none" strike="noStrike" cap="none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Transcription</a:t>
              </a:r>
              <a:endParaRPr sz="1800" b="1" i="1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g26aa03443de_0_69"/>
            <p:cNvSpPr txBox="1"/>
            <p:nvPr/>
          </p:nvSpPr>
          <p:spPr>
            <a:xfrm>
              <a:off x="6841157" y="3895111"/>
              <a:ext cx="2182500" cy="369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1800" b="1" i="1" u="none" strike="noStrike" cap="none">
                  <a:solidFill>
                    <a:srgbClr val="222222"/>
                  </a:solidFill>
                  <a:latin typeface="Arial"/>
                  <a:ea typeface="Arial"/>
                  <a:cs typeface="Arial"/>
                  <a:sym typeface="Arial"/>
                </a:rPr>
                <a:t>Translation</a:t>
              </a:r>
              <a:endParaRPr sz="1800" b="1" i="1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g26aa03443de_0_69"/>
            <p:cNvSpPr txBox="1"/>
            <p:nvPr/>
          </p:nvSpPr>
          <p:spPr>
            <a:xfrm>
              <a:off x="1073388" y="2050160"/>
              <a:ext cx="119223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3700" b="1" i="0" u="none" strike="noStrike" cap="none">
                  <a:solidFill>
                    <a:srgbClr val="222222"/>
                  </a:solidFill>
                  <a:latin typeface="Rockwell"/>
                  <a:ea typeface="Rockwell"/>
                  <a:cs typeface="Rockwell"/>
                  <a:sym typeface="Rockwell"/>
                </a:rPr>
                <a:t>Central Dogma of Molecular Biology</a:t>
              </a:r>
              <a:endParaRPr sz="3700" b="1" i="0" u="none" strike="noStrike" cap="none">
                <a:solidFill>
                  <a:srgbClr val="222222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232" name="Google Shape;232;g26aa03443de_0_69"/>
          <p:cNvSpPr/>
          <p:nvPr/>
        </p:nvSpPr>
        <p:spPr>
          <a:xfrm>
            <a:off x="886628" y="3202201"/>
            <a:ext cx="2963400" cy="12999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26aa03443de_0_69"/>
          <p:cNvSpPr txBox="1"/>
          <p:nvPr/>
        </p:nvSpPr>
        <p:spPr>
          <a:xfrm>
            <a:off x="1358700" y="3282300"/>
            <a:ext cx="2268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Code remains almost same</a:t>
            </a:r>
            <a:endParaRPr sz="2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26aa03443de_0_69"/>
          <p:cNvSpPr/>
          <p:nvPr/>
        </p:nvSpPr>
        <p:spPr>
          <a:xfrm>
            <a:off x="4305597" y="3202191"/>
            <a:ext cx="2963400" cy="1299900"/>
          </a:xfrm>
          <a:prstGeom prst="curvedUp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6aa03443de_0_69"/>
          <p:cNvSpPr txBox="1"/>
          <p:nvPr/>
        </p:nvSpPr>
        <p:spPr>
          <a:xfrm>
            <a:off x="5077769" y="3282289"/>
            <a:ext cx="17844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Language changes</a:t>
            </a:r>
            <a:endParaRPr sz="2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6aa03443de_0_287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42" name="Google Shape;242;g26aa03443de_0_287"/>
          <p:cNvSpPr txBox="1"/>
          <p:nvPr/>
        </p:nvSpPr>
        <p:spPr>
          <a:xfrm>
            <a:off x="454575" y="533050"/>
            <a:ext cx="8091900" cy="6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3333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D0D0D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Importance of the Central Dogma</a:t>
            </a:r>
            <a:endParaRPr sz="2500" b="1">
              <a:solidFill>
                <a:srgbClr val="0D0D0D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Rockwell"/>
              <a:buChar char="●"/>
            </a:pPr>
            <a:r>
              <a:rPr lang="en-US" sz="17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Framework for Understanding Genetic Information Flow from DNA to RNA to proteins - development, functioning, and reproduction of all living organisms.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Rockwell"/>
              <a:buChar char="●"/>
            </a:pPr>
            <a:r>
              <a:rPr lang="en-US" sz="17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Basis for Molecular Genetics:  to understand how genes are expressed and regulated- development of genetic engineering, gene therapy, and the CRISPR-Cas9 gene-editing technology.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Rockwell"/>
              <a:buChar char="●"/>
            </a:pPr>
            <a:r>
              <a:rPr lang="en-US" sz="17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Insights into Evolution: The conservation of these mechanisms across diverse forms of life highlights their importance in the evolution of biological systems.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Rockwell"/>
              <a:buChar char="●"/>
            </a:pPr>
            <a:r>
              <a:rPr lang="en-US" sz="17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Medical Research and Diagnostics: identifying the genetic basis of diseases,  better diagnostic tools, treatments, and the development of personalized medicine. 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Rockwell"/>
              <a:buChar char="●"/>
            </a:pPr>
            <a:r>
              <a:rPr lang="en-US" sz="17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Biotechnology and Synthetic Biology: design of synthetic genes to produce new proteins with desired functions- medicine, agriculture, and industry eg insulin, growth hormones, and biofuels.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Rockwell"/>
              <a:buChar char="●"/>
            </a:pPr>
            <a:r>
              <a:rPr lang="en-US" sz="1700">
                <a:solidFill>
                  <a:srgbClr val="0D0D0D"/>
                </a:solidFill>
                <a:highlight>
                  <a:srgbClr val="FFFFFF"/>
                </a:highlight>
                <a:latin typeface="Rockwell"/>
                <a:ea typeface="Rockwell"/>
                <a:cs typeface="Rockwell"/>
                <a:sym typeface="Rockwell"/>
              </a:rPr>
              <a:t>Understanding RNA's Role - new fields of research and therapeutic strategies.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Rockwell"/>
              <a:ea typeface="Rockwell"/>
              <a:cs typeface="Rockwell"/>
              <a:sym typeface="Rockwel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endParaRPr sz="2000" b="1">
              <a:solidFill>
                <a:srgbClr val="0D0D0D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26aa03443de_0_85" descr="Figure 6-4. The chemical structure of RNA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4997" y="218277"/>
            <a:ext cx="5823600" cy="5792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26aa03443de_0_85"/>
          <p:cNvSpPr txBox="1"/>
          <p:nvPr/>
        </p:nvSpPr>
        <p:spPr>
          <a:xfrm>
            <a:off x="718301" y="4963475"/>
            <a:ext cx="366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0" i="0" u="none" strike="noStrike" cap="none">
                <a:solidFill>
                  <a:schemeClr val="dk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RNA</a:t>
            </a:r>
            <a:endParaRPr sz="5600" b="0" i="0" u="none" strike="noStrike" cap="none">
              <a:solidFill>
                <a:schemeClr val="dk1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6aa03443de_0_97"/>
          <p:cNvSpPr txBox="1"/>
          <p:nvPr/>
        </p:nvSpPr>
        <p:spPr>
          <a:xfrm>
            <a:off x="179614" y="587456"/>
            <a:ext cx="86052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Why do you need DNA when you have RNA?</a:t>
            </a:r>
            <a:endParaRPr sz="5600" b="1" i="0" u="none" strike="noStrike" cap="none">
              <a:solidFill>
                <a:schemeClr val="lt1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  <p:sp>
        <p:nvSpPr>
          <p:cNvPr id="254" name="Google Shape;254;g26aa03443de_0_97"/>
          <p:cNvSpPr/>
          <p:nvPr/>
        </p:nvSpPr>
        <p:spPr>
          <a:xfrm>
            <a:off x="179615" y="3356989"/>
            <a:ext cx="606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000"/>
              <a:buFont typeface="Rockwell"/>
              <a:buChar char="•"/>
            </a:pPr>
            <a:r>
              <a:rPr lang="en-US" sz="3000" b="1" i="0" u="none" strike="noStrike" cap="none">
                <a:solidFill>
                  <a:srgbClr val="222222"/>
                </a:solidFill>
                <a:latin typeface="Rockwell"/>
                <a:ea typeface="Rockwell"/>
                <a:cs typeface="Rockwell"/>
                <a:sym typeface="Rockwell"/>
              </a:rPr>
              <a:t>RNA world Hypothesis</a:t>
            </a:r>
            <a:endParaRPr sz="3000" i="0" u="none" strike="noStrike" cap="none">
              <a:solidFill>
                <a:srgbClr val="222222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6aa03443de_0_102"/>
          <p:cNvSpPr txBox="1"/>
          <p:nvPr/>
        </p:nvSpPr>
        <p:spPr>
          <a:xfrm>
            <a:off x="2654135" y="162915"/>
            <a:ext cx="3804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222222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Types of RNA</a:t>
            </a:r>
            <a:endParaRPr sz="4600" b="1" i="0" u="none" strike="noStrike" cap="none">
              <a:solidFill>
                <a:srgbClr val="222222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  <p:sp>
        <p:nvSpPr>
          <p:cNvPr id="260" name="Google Shape;260;g26aa03443de_0_102"/>
          <p:cNvSpPr txBox="1"/>
          <p:nvPr/>
        </p:nvSpPr>
        <p:spPr>
          <a:xfrm>
            <a:off x="234925" y="1070400"/>
            <a:ext cx="8642400" cy="57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messenger RNA (mRNA): </a:t>
            </a:r>
            <a:r>
              <a:rPr lang="en-US" sz="20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carries information from DNA to the ribosomes</a:t>
            </a: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2400"/>
              <a:buFont typeface="Arial"/>
              <a:buNone/>
            </a:pP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ribosomal RNA (rRNA): </a:t>
            </a:r>
            <a:r>
              <a:rPr lang="en-US" sz="20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incorporate into the ribosomes</a:t>
            </a: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2400"/>
              <a:buFont typeface="Arial"/>
              <a:buNone/>
            </a:pP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transfer RNA (tRNA): </a:t>
            </a:r>
            <a:r>
              <a:rPr lang="en-US" sz="20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transfer specific amino acids to growing polypeptide chains</a:t>
            </a: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2400"/>
              <a:buFont typeface="Arial"/>
              <a:buNone/>
            </a:pP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small nuclear RNA (snRNA): </a:t>
            </a:r>
            <a:r>
              <a:rPr lang="en-US" sz="20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splicing of introns from primary genomic transcripts</a:t>
            </a: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microRNA (miRNA)</a:t>
            </a:r>
            <a:r>
              <a:rPr lang="en-US" sz="20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– regulate gene activity; regulate the expression of mRNA</a:t>
            </a: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2400"/>
              <a:buFont typeface="Arial"/>
              <a:buNone/>
            </a:pP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small nucleolar RNA (snoRNA): </a:t>
            </a:r>
            <a:r>
              <a:rPr lang="en-US" sz="20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Involved in post transcriptional modification</a:t>
            </a: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2400"/>
              <a:buFont typeface="Arial"/>
              <a:buNone/>
            </a:pP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long non-coding RNA (lncRNA</a:t>
            </a:r>
            <a:r>
              <a:rPr lang="en-US" sz="20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): longer than 200 nucleotides without protein-coding potential and function</a:t>
            </a: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E599"/>
              </a:buClr>
              <a:buSzPts val="2400"/>
              <a:buFont typeface="Arial"/>
              <a:buNone/>
            </a:pPr>
            <a:endParaRPr sz="2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0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catalytic RNA</a:t>
            </a:r>
            <a:r>
              <a:rPr lang="en-US" sz="2000" b="0" i="0" u="none" strike="noStrike" cap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(ribozymes) -which functions as an enzymatically active RNA molecule</a:t>
            </a:r>
            <a:endParaRPr sz="1000" b="0" i="0" u="none" strike="noStrike" cap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26aa03443de_0_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543" y="74031"/>
            <a:ext cx="8172450" cy="612933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26aa03443de_0_107"/>
          <p:cNvSpPr/>
          <p:nvPr/>
        </p:nvSpPr>
        <p:spPr>
          <a:xfrm>
            <a:off x="1454880" y="5741669"/>
            <a:ext cx="6669212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https://www.youtube.com/watch?v=9kOGOY7vthk</a:t>
            </a:r>
            <a:endParaRPr lang="en-US" sz="2400" b="0" i="0" u="none" strike="noStrike" cap="none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26aa03443de_0_112" descr="Messenger RNA - an overview | ScienceDirect Topic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092" y="1088571"/>
            <a:ext cx="7785680" cy="559307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26aa03443de_0_112"/>
          <p:cNvSpPr txBox="1"/>
          <p:nvPr/>
        </p:nvSpPr>
        <p:spPr>
          <a:xfrm>
            <a:off x="285597" y="97690"/>
            <a:ext cx="8727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chemeClr val="lt1"/>
                </a:solidFill>
                <a:latin typeface="Jim Nightshade"/>
                <a:ea typeface="Jim Nightshade"/>
                <a:cs typeface="Jim Nightshade"/>
                <a:sym typeface="Jim Nightshade"/>
              </a:rPr>
              <a:t>Difference between pro &amp; eukaryotic  RNA</a:t>
            </a:r>
            <a:endParaRPr sz="4600" b="1" i="0" u="none" strike="noStrike" cap="none">
              <a:solidFill>
                <a:schemeClr val="lt1"/>
              </a:solidFill>
              <a:latin typeface="Jim Nightshade"/>
              <a:ea typeface="Jim Nightshade"/>
              <a:cs typeface="Jim Nightshade"/>
              <a:sym typeface="Jim Nightsha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6aa03443de_0_295"/>
          <p:cNvSpPr txBox="1">
            <a:spLocks noGrp="1"/>
          </p:cNvSpPr>
          <p:nvPr>
            <p:ph type="sldNum" idx="12"/>
          </p:nvPr>
        </p:nvSpPr>
        <p:spPr>
          <a:xfrm>
            <a:off x="8390734" y="6058224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79" name="Google Shape;279;g26aa03443de_0_295"/>
          <p:cNvSpPr txBox="1"/>
          <p:nvPr/>
        </p:nvSpPr>
        <p:spPr>
          <a:xfrm>
            <a:off x="1120800" y="1435275"/>
            <a:ext cx="690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https://media.hhmi.org/biointeractive/click/genetic-medicine-interactive/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427</Words>
  <Application>Microsoft Office PowerPoint</Application>
  <PresentationFormat>On-screen Show (4:3)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Calibri</vt:lpstr>
      <vt:lpstr>Times</vt:lpstr>
      <vt:lpstr>Arial</vt:lpstr>
      <vt:lpstr>Roboto Medium</vt:lpstr>
      <vt:lpstr>Nunito</vt:lpstr>
      <vt:lpstr>Rockwell</vt:lpstr>
      <vt:lpstr>Caveat</vt:lpstr>
      <vt:lpstr>Jim Nightshade</vt:lpstr>
      <vt:lpstr>Helvetica Neue</vt:lpstr>
      <vt:lpstr>Shift</vt:lpstr>
      <vt:lpstr>Today’s topic</vt:lpstr>
      <vt:lpstr>Unpacking the body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. EMBL</dc:creator>
  <cp:lastModifiedBy>AYAN SADHUKHAN</cp:lastModifiedBy>
  <cp:revision>6</cp:revision>
  <dcterms:created xsi:type="dcterms:W3CDTF">2008-02-05T04:18:24Z</dcterms:created>
  <dcterms:modified xsi:type="dcterms:W3CDTF">2025-09-21T12:31:15Z</dcterms:modified>
</cp:coreProperties>
</file>