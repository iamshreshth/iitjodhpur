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83" r:id="rId16"/>
    <p:sldId id="274" r:id="rId17"/>
    <p:sldId id="275" r:id="rId18"/>
    <p:sldId id="276" r:id="rId19"/>
    <p:sldId id="277" r:id="rId20"/>
    <p:sldId id="278" r:id="rId21"/>
    <p:sldId id="279" r:id="rId22"/>
    <p:sldId id="280" r:id="rId23"/>
    <p:sldId id="281" r:id="rId24"/>
    <p:sldId id="282" r:id="rId25"/>
  </p:sldIdLst>
  <p:sldSz cx="9144000" cy="6858000" type="screen4x3"/>
  <p:notesSz cx="7010400" cy="9296400"/>
  <p:embeddedFontLst>
    <p:embeddedFont>
      <p:font typeface="Nunito" pitchFamily="2" charset="0"/>
      <p:regular r:id="rId27"/>
      <p:bold r:id="rId28"/>
      <p:italic r:id="rId29"/>
      <p:boldItalic r:id="rId30"/>
    </p:embeddedFont>
    <p:embeddedFont>
      <p:font typeface="Roboto Medium" panose="02000000000000000000" pitchFamily="2" charset="0"/>
      <p:regular r:id="rId31"/>
      <p:bold r:id="rId32"/>
      <p:italic r:id="rId33"/>
      <p:boldItalic r:id="rId34"/>
    </p:embeddedFont>
    <p:embeddedFont>
      <p:font typeface="Times" panose="02020603050405020304" pitchFamily="18"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j6R9ZVuMuCUt09huxHu8oehjH0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92" autoAdjust="0"/>
    <p:restoredTop sz="94660"/>
  </p:normalViewPr>
  <p:slideViewPr>
    <p:cSldViewPr snapToGrid="0">
      <p:cViewPr varScale="1">
        <p:scale>
          <a:sx n="82" d="100"/>
          <a:sy n="82" d="100"/>
        </p:scale>
        <p:origin x="1698" y="84"/>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4820"/>
          </a:xfrm>
          <a:prstGeom prst="rect">
            <a:avLst/>
          </a:prstGeom>
          <a:noFill/>
          <a:ln>
            <a:noFill/>
          </a:ln>
        </p:spPr>
        <p:txBody>
          <a:bodyPr spcFirstLastPara="1" wrap="square" lIns="93175" tIns="46575" rIns="93175" bIns="4657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2560" y="0"/>
            <a:ext cx="3037840" cy="464820"/>
          </a:xfrm>
          <a:prstGeom prst="rect">
            <a:avLst/>
          </a:prstGeom>
          <a:noFill/>
          <a:ln>
            <a:noFill/>
          </a:ln>
        </p:spPr>
        <p:txBody>
          <a:bodyPr spcFirstLastPara="1" wrap="square" lIns="93175" tIns="46575" rIns="93175" bIns="4657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4720" y="4415790"/>
            <a:ext cx="5140960" cy="4183380"/>
          </a:xfrm>
          <a:prstGeom prst="rect">
            <a:avLst/>
          </a:prstGeom>
          <a:noFill/>
          <a:ln>
            <a:noFill/>
          </a:ln>
        </p:spPr>
        <p:txBody>
          <a:bodyPr spcFirstLastPara="1" wrap="square" lIns="93175" tIns="46575" rIns="93175" bIns="46575" anchor="t" anchorCtr="0">
            <a:noAutofit/>
          </a:bodyPr>
          <a:lstStyle>
            <a:lvl1pPr marL="457200" marR="0" lvl="0" indent="-228600" algn="l" rtl="0">
              <a:lnSpc>
                <a:spcPct val="100000"/>
              </a:lnSpc>
              <a:spcBef>
                <a:spcPts val="600"/>
              </a:spcBef>
              <a:spcAft>
                <a:spcPts val="0"/>
              </a:spcAft>
              <a:buClr>
                <a:srgbClr val="000000"/>
              </a:buClr>
              <a:buSzPts val="1400"/>
              <a:buFont typeface="Arial"/>
              <a:buNone/>
              <a:defRPr sz="2000" b="0" i="0" u="none" strike="noStrike" cap="none">
                <a:solidFill>
                  <a:schemeClr val="dk1"/>
                </a:solidFill>
                <a:latin typeface="Times"/>
                <a:ea typeface="Times"/>
                <a:cs typeface="Times"/>
                <a:sym typeface="Times"/>
              </a:defRPr>
            </a:lvl1pPr>
            <a:lvl2pPr marL="914400" marR="0" lvl="1" indent="-228600" algn="l" rtl="0">
              <a:lnSpc>
                <a:spcPct val="100000"/>
              </a:lnSpc>
              <a:spcBef>
                <a:spcPts val="600"/>
              </a:spcBef>
              <a:spcAft>
                <a:spcPts val="0"/>
              </a:spcAft>
              <a:buClr>
                <a:srgbClr val="000000"/>
              </a:buClr>
              <a:buSzPts val="1400"/>
              <a:buFont typeface="Arial"/>
              <a:buNone/>
              <a:defRPr sz="2000" b="0" i="0" u="none" strike="noStrike" cap="none">
                <a:solidFill>
                  <a:schemeClr val="dk1"/>
                </a:solidFill>
                <a:latin typeface="Times"/>
                <a:ea typeface="Times"/>
                <a:cs typeface="Times"/>
                <a:sym typeface="Times"/>
              </a:defRPr>
            </a:lvl2pPr>
            <a:lvl3pPr marL="1371600" marR="0" lvl="2" indent="-228600" algn="l" rtl="0">
              <a:lnSpc>
                <a:spcPct val="100000"/>
              </a:lnSpc>
              <a:spcBef>
                <a:spcPts val="600"/>
              </a:spcBef>
              <a:spcAft>
                <a:spcPts val="0"/>
              </a:spcAft>
              <a:buClr>
                <a:srgbClr val="000000"/>
              </a:buClr>
              <a:buSzPts val="1400"/>
              <a:buFont typeface="Arial"/>
              <a:buNone/>
              <a:defRPr sz="2000" b="0" i="0" u="none" strike="noStrike" cap="none">
                <a:solidFill>
                  <a:schemeClr val="dk1"/>
                </a:solidFill>
                <a:latin typeface="Times"/>
                <a:ea typeface="Times"/>
                <a:cs typeface="Times"/>
                <a:sym typeface="Times"/>
              </a:defRPr>
            </a:lvl3pPr>
            <a:lvl4pPr marL="1828800" marR="0" lvl="3" indent="-228600" algn="l" rtl="0">
              <a:lnSpc>
                <a:spcPct val="100000"/>
              </a:lnSpc>
              <a:spcBef>
                <a:spcPts val="600"/>
              </a:spcBef>
              <a:spcAft>
                <a:spcPts val="0"/>
              </a:spcAft>
              <a:buClr>
                <a:srgbClr val="000000"/>
              </a:buClr>
              <a:buSzPts val="1400"/>
              <a:buFont typeface="Arial"/>
              <a:buNone/>
              <a:defRPr sz="2000" b="0" i="0" u="none" strike="noStrike" cap="none">
                <a:solidFill>
                  <a:schemeClr val="dk1"/>
                </a:solidFill>
                <a:latin typeface="Times"/>
                <a:ea typeface="Times"/>
                <a:cs typeface="Times"/>
                <a:sym typeface="Times"/>
              </a:defRPr>
            </a:lvl4pPr>
            <a:lvl5pPr marL="2286000" marR="0" lvl="4" indent="-228600" algn="l" rtl="0">
              <a:lnSpc>
                <a:spcPct val="100000"/>
              </a:lnSpc>
              <a:spcBef>
                <a:spcPts val="600"/>
              </a:spcBef>
              <a:spcAft>
                <a:spcPts val="0"/>
              </a:spcAft>
              <a:buClr>
                <a:srgbClr val="000000"/>
              </a:buClr>
              <a:buSzPts val="1400"/>
              <a:buFont typeface="Arial"/>
              <a:buNone/>
              <a:defRPr sz="2000" b="0" i="0" u="none" strike="noStrike" cap="none">
                <a:solidFill>
                  <a:schemeClr val="dk1"/>
                </a:solidFill>
                <a:latin typeface="Times"/>
                <a:ea typeface="Times"/>
                <a:cs typeface="Times"/>
                <a:sym typeface="Time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1580"/>
            <a:ext cx="3037840" cy="464820"/>
          </a:xfrm>
          <a:prstGeom prst="rect">
            <a:avLst/>
          </a:prstGeom>
          <a:noFill/>
          <a:ln>
            <a:noFill/>
          </a:ln>
        </p:spPr>
        <p:txBody>
          <a:bodyPr spcFirstLastPara="1" wrap="square" lIns="93175" tIns="46575" rIns="93175" bIns="4657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2560" y="8831580"/>
            <a:ext cx="3037840" cy="464820"/>
          </a:xfrm>
          <a:prstGeom prst="rect">
            <a:avLst/>
          </a:prstGeom>
          <a:noFill/>
          <a:ln>
            <a:noFill/>
          </a:ln>
        </p:spPr>
        <p:txBody>
          <a:bodyPr spcFirstLastPara="1" wrap="square" lIns="93175" tIns="46575" rIns="93175" bIns="465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Times"/>
                <a:ea typeface="Times"/>
                <a:cs typeface="Times"/>
                <a:sym typeface="Times"/>
              </a:rPr>
              <a:t>‹#›</a:t>
            </a:fld>
            <a:endParaRPr sz="1200" b="0" i="0" u="none" strike="noStrike" cap="none">
              <a:solidFill>
                <a:schemeClr val="dk1"/>
              </a:solidFill>
              <a:latin typeface="Times"/>
              <a:ea typeface="Times"/>
              <a:cs typeface="Times"/>
              <a:sym typeface="Time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ac93cdc357_0_132:notes"/>
          <p:cNvSpPr txBox="1">
            <a:spLocks noGrp="1"/>
          </p:cNvSpPr>
          <p:nvPr>
            <p:ph type="body" idx="1"/>
          </p:nvPr>
        </p:nvSpPr>
        <p:spPr>
          <a:xfrm>
            <a:off x="934720" y="4415790"/>
            <a:ext cx="5141100" cy="4183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600"/>
              </a:spcBef>
              <a:spcAft>
                <a:spcPts val="0"/>
              </a:spcAft>
              <a:buSzPts val="1400"/>
              <a:buNone/>
            </a:pPr>
            <a:endParaRPr/>
          </a:p>
        </p:txBody>
      </p:sp>
      <p:sp>
        <p:nvSpPr>
          <p:cNvPr id="136" name="Google Shape;136;g2ac93cdc357_0_13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65a72ae61c_0_12: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201" name="Google Shape;201;g265a72ae61c_0_12: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660a7d0dad_0_0: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r>
              <a:rPr lang="en-US" sz="1800"/>
              <a:t>The building blocks of DNA are the 5-carbon sugar deoxyribose linked together by phosphodiester bonds forming two strands of sugar-phosphate backbones on the outside of the double helix. Each ribose also binds one of four alternative bases: adenine (A), guanine (G), cytosine (C) or thymine (T).The opposing strands are held together by basepairing between the two strands: G is always paired with C by three hydrogen bonds and A is always paired with T by two hydrogen bonds.</a:t>
            </a:r>
            <a:endParaRPr sz="1800"/>
          </a:p>
        </p:txBody>
      </p:sp>
      <p:sp>
        <p:nvSpPr>
          <p:cNvPr id="208" name="Google Shape;208;g2660a7d0dad_0_0: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67994c7a4b_0_54: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r>
              <a:rPr lang="en-US" sz="1800"/>
              <a:t>The building blocks of DNA are the 5-carbon sugar deoxyribose linked together by phosphodiester bonds forming two strands of sugar-phosphate backbones on the outside of the double helix. Each ribose also binds one of four alternative bases: adenine (A), guanine (G), cytosine (C) or thymine (T).The opposing strands are held together by basepairing between the two strands: G is always paired with C by three hydrogen bonds and A is always paired with T by two hydrogen bonds.</a:t>
            </a:r>
            <a:endParaRPr sz="1800"/>
          </a:p>
        </p:txBody>
      </p:sp>
      <p:sp>
        <p:nvSpPr>
          <p:cNvPr id="218" name="Google Shape;218;g267994c7a4b_0_54: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6628c913b2_0_12: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228" name="Google Shape;228;g26628c913b2_0_12: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6628c913b2_0_18: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236" name="Google Shape;236;g26628c913b2_0_18: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6628c913b2_0_32: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242" name="Google Shape;242;g26628c913b2_0_32: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6628c913b2_0_49: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248" name="Google Shape;248;g26628c913b2_0_49: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b3663f5c74_0_26: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255" name="Google Shape;255;g2b3663f5c74_0_26: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b3663f5c74_0_34: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261" name="Google Shape;261;g2b3663f5c74_0_34: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b3663f5c74_0_48: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r>
              <a:rPr lang="en-US" sz="1500"/>
              <a:t>Each cell of a human body has DNA which is 6 feet long and has around 3 billion base pairs and contains 30,000 genes. The average number of cells in the human body is around 10 trillion. Therefore, the length of the entire human DNA will be around 10 billion miles.</a:t>
            </a:r>
            <a:endParaRPr sz="1500"/>
          </a:p>
        </p:txBody>
      </p:sp>
      <p:sp>
        <p:nvSpPr>
          <p:cNvPr id="269" name="Google Shape;269;g2b3663f5c74_0_48: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b3663f5c74_0_57: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278" name="Google Shape;278;g2b3663f5c74_0_57: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b3663f5c74_0_61: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303" name="Google Shape;303;g2b3663f5c74_0_61: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b3663f5c74_0_65: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309" name="Google Shape;309;g2b3663f5c74_0_65: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b3663f5c74_0_69: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315" name="Google Shape;315;g2b3663f5c74_0_6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b3663f5c74_0_73: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334" name="Google Shape;334;g2b3663f5c74_0_73: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b3663f5c74_0_77: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343" name="Google Shape;343;g2b3663f5c74_0_77: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67994c7a4b_0_13: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267994c7a4b_0_13: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b3663f5c74_0_111: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r>
              <a:rPr lang="en-US" sz="1500"/>
              <a:t>Sc are turning molecules into music</a:t>
            </a:r>
            <a:endParaRPr sz="1500"/>
          </a:p>
        </p:txBody>
      </p:sp>
      <p:sp>
        <p:nvSpPr>
          <p:cNvPr id="358" name="Google Shape;358;g2b3663f5c74_0_111: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267994c7a4b_0_21: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365" name="Google Shape;365;g267994c7a4b_0_21: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67994c7a4b_0_36: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375" name="Google Shape;375;g267994c7a4b_0_36: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267994c7a4b_0_30: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383" name="Google Shape;383;g267994c7a4b_0_30:notes"/>
          <p:cNvSpPr>
            <a:spLocks noGrp="1" noRot="1" noChangeAspect="1"/>
          </p:cNvSpPr>
          <p:nvPr>
            <p:ph type="sldImg" idx="2"/>
          </p:nvPr>
        </p:nvSpPr>
        <p:spPr>
          <a:xfrm>
            <a:off x="1181100" y="696913"/>
            <a:ext cx="46482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2656a8d398b_0_402:notes"/>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t" anchorCtr="0">
            <a:noAutofit/>
          </a:bodyPr>
          <a:lstStyle/>
          <a:p>
            <a:pPr marL="0" lvl="0" indent="0" algn="l" rtl="0">
              <a:lnSpc>
                <a:spcPct val="100000"/>
              </a:lnSpc>
              <a:spcBef>
                <a:spcPts val="0"/>
              </a:spcBef>
              <a:spcAft>
                <a:spcPts val="0"/>
              </a:spcAft>
              <a:buSzPts val="1100"/>
              <a:buNone/>
            </a:pPr>
            <a:endParaRPr/>
          </a:p>
        </p:txBody>
      </p:sp>
      <p:sp>
        <p:nvSpPr>
          <p:cNvPr id="391" name="Google Shape;391;g2656a8d398b_0_402:notes"/>
          <p:cNvSpPr>
            <a:spLocks noGrp="1" noRot="1" noChangeAspect="1"/>
          </p:cNvSpPr>
          <p:nvPr>
            <p:ph type="sldImg" idx="2"/>
          </p:nvPr>
        </p:nvSpPr>
        <p:spPr>
          <a:xfrm>
            <a:off x="1168400" y="697230"/>
            <a:ext cx="4673700" cy="34863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g2ac93cdc357_0_258"/>
          <p:cNvSpPr txBox="1">
            <a:spLocks noGrp="1"/>
          </p:cNvSpPr>
          <p:nvPr>
            <p:ph type="title"/>
          </p:nvPr>
        </p:nvSpPr>
        <p:spPr>
          <a:xfrm>
            <a:off x="628650" y="365126"/>
            <a:ext cx="78867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g2ac93cdc357_0_258"/>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 name="Google Shape;16;g2ac93cdc357_0_258"/>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 name="Google Shape;17;g2ac93cdc357_0_258"/>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 name="Google Shape;18;g2ac93cdc357_0_258"/>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19"/>
        <p:cNvGrpSpPr/>
        <p:nvPr/>
      </p:nvGrpSpPr>
      <p:grpSpPr>
        <a:xfrm>
          <a:off x="0" y="0"/>
          <a:ext cx="0" cy="0"/>
          <a:chOff x="0" y="0"/>
          <a:chExt cx="0" cy="0"/>
        </a:xfrm>
      </p:grpSpPr>
      <p:sp>
        <p:nvSpPr>
          <p:cNvPr id="20" name="Google Shape;20;g2ac93cdc357_0_143"/>
          <p:cNvSpPr/>
          <p:nvPr/>
        </p:nvSpPr>
        <p:spPr>
          <a:xfrm>
            <a:off x="31" y="3766000"/>
            <a:ext cx="7370400" cy="30921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g2ac93cdc357_0_143"/>
          <p:cNvSpPr/>
          <p:nvPr/>
        </p:nvSpPr>
        <p:spPr>
          <a:xfrm flipH="1">
            <a:off x="3582600" y="2067600"/>
            <a:ext cx="5561400" cy="47904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g2ac93cdc357_0_143"/>
          <p:cNvSpPr/>
          <p:nvPr/>
        </p:nvSpPr>
        <p:spPr>
          <a:xfrm rot="10800000">
            <a:off x="5058905" y="-100"/>
            <a:ext cx="4085100" cy="2736900"/>
          </a:xfrm>
          <a:prstGeom prst="rtTriangl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g2ac93cdc357_0_143"/>
          <p:cNvSpPr/>
          <p:nvPr/>
        </p:nvSpPr>
        <p:spPr>
          <a:xfrm>
            <a:off x="203275" y="275000"/>
            <a:ext cx="87375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4" name="Google Shape;24;g2ac93cdc357_0_143"/>
          <p:cNvGrpSpPr/>
          <p:nvPr/>
        </p:nvGrpSpPr>
        <p:grpSpPr>
          <a:xfrm>
            <a:off x="255200" y="790"/>
            <a:ext cx="2250363" cy="1392365"/>
            <a:chOff x="255200" y="592"/>
            <a:chExt cx="2250363" cy="1044300"/>
          </a:xfrm>
        </p:grpSpPr>
        <p:sp>
          <p:nvSpPr>
            <p:cNvPr id="25" name="Google Shape;25;g2ac93cdc357_0_143"/>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g2ac93cdc357_0_143"/>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g2ac93cdc357_0_143"/>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 name="Google Shape;28;g2ac93cdc357_0_143"/>
          <p:cNvGrpSpPr/>
          <p:nvPr/>
        </p:nvGrpSpPr>
        <p:grpSpPr>
          <a:xfrm>
            <a:off x="905395" y="790"/>
            <a:ext cx="2250363" cy="1392365"/>
            <a:chOff x="905395" y="592"/>
            <a:chExt cx="2250363" cy="1044300"/>
          </a:xfrm>
        </p:grpSpPr>
        <p:sp>
          <p:nvSpPr>
            <p:cNvPr id="29" name="Google Shape;29;g2ac93cdc357_0_143"/>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g2ac93cdc357_0_143"/>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g2ac93cdc357_0_143"/>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2" name="Google Shape;32;g2ac93cdc357_0_143"/>
          <p:cNvGrpSpPr/>
          <p:nvPr/>
        </p:nvGrpSpPr>
        <p:grpSpPr>
          <a:xfrm>
            <a:off x="7057468" y="6784"/>
            <a:ext cx="1851281" cy="1002839"/>
            <a:chOff x="6917201" y="0"/>
            <a:chExt cx="2227776" cy="863400"/>
          </a:xfrm>
        </p:grpSpPr>
        <p:sp>
          <p:nvSpPr>
            <p:cNvPr id="33" name="Google Shape;33;g2ac93cdc357_0_14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g2ac93cdc357_0_14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g2ac93cdc357_0_14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6" name="Google Shape;36;g2ac93cdc357_0_143"/>
          <p:cNvGrpSpPr/>
          <p:nvPr/>
        </p:nvGrpSpPr>
        <p:grpSpPr>
          <a:xfrm>
            <a:off x="6553032" y="5623802"/>
            <a:ext cx="2389067" cy="1234317"/>
            <a:chOff x="6917201" y="0"/>
            <a:chExt cx="2227776" cy="863400"/>
          </a:xfrm>
        </p:grpSpPr>
        <p:sp>
          <p:nvSpPr>
            <p:cNvPr id="37" name="Google Shape;37;g2ac93cdc357_0_143"/>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g2ac93cdc357_0_143"/>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g2ac93cdc357_0_143"/>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0" name="Google Shape;40;g2ac93cdc357_0_143"/>
          <p:cNvGrpSpPr/>
          <p:nvPr/>
        </p:nvGrpSpPr>
        <p:grpSpPr>
          <a:xfrm>
            <a:off x="199149" y="5407536"/>
            <a:ext cx="2795413" cy="1444382"/>
            <a:chOff x="6917201" y="0"/>
            <a:chExt cx="2227776" cy="863400"/>
          </a:xfrm>
        </p:grpSpPr>
        <p:sp>
          <p:nvSpPr>
            <p:cNvPr id="41" name="Google Shape;41;g2ac93cdc357_0_143"/>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g2ac93cdc357_0_143"/>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g2ac93cdc357_0_143"/>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4" name="Google Shape;44;g2ac93cdc357_0_143"/>
          <p:cNvSpPr txBox="1">
            <a:spLocks noGrp="1"/>
          </p:cNvSpPr>
          <p:nvPr>
            <p:ph type="ctrTitle"/>
          </p:nvPr>
        </p:nvSpPr>
        <p:spPr>
          <a:xfrm>
            <a:off x="1858703" y="2430444"/>
            <a:ext cx="5361300" cy="1930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45" name="Google Shape;45;g2ac93cdc357_0_143"/>
          <p:cNvSpPr txBox="1">
            <a:spLocks noGrp="1"/>
          </p:cNvSpPr>
          <p:nvPr>
            <p:ph type="subTitle" idx="1"/>
          </p:nvPr>
        </p:nvSpPr>
        <p:spPr>
          <a:xfrm>
            <a:off x="1858700" y="4550878"/>
            <a:ext cx="5361300" cy="6969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6" name="Google Shape;46;g2ac93cdc357_0_143"/>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47"/>
        <p:cNvGrpSpPr/>
        <p:nvPr/>
      </p:nvGrpSpPr>
      <p:grpSpPr>
        <a:xfrm>
          <a:off x="0" y="0"/>
          <a:ext cx="0" cy="0"/>
          <a:chOff x="0" y="0"/>
          <a:chExt cx="0" cy="0"/>
        </a:xfrm>
      </p:grpSpPr>
      <p:sp>
        <p:nvSpPr>
          <p:cNvPr id="48" name="Google Shape;48;g2ac93cdc357_0_171"/>
          <p:cNvSpPr/>
          <p:nvPr/>
        </p:nvSpPr>
        <p:spPr>
          <a:xfrm flipH="1">
            <a:off x="4757100" y="3079200"/>
            <a:ext cx="4386900" cy="37788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g2ac93cdc357_0_171"/>
          <p:cNvGrpSpPr/>
          <p:nvPr/>
        </p:nvGrpSpPr>
        <p:grpSpPr>
          <a:xfrm>
            <a:off x="5594191" y="5281486"/>
            <a:ext cx="2910144" cy="1576482"/>
            <a:chOff x="6917201" y="0"/>
            <a:chExt cx="2227776" cy="863400"/>
          </a:xfrm>
        </p:grpSpPr>
        <p:sp>
          <p:nvSpPr>
            <p:cNvPr id="50" name="Google Shape;50;g2ac93cdc357_0_17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g2ac93cdc357_0_17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g2ac93cdc357_0_17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3" name="Google Shape;53;g2ac93cdc357_0_171"/>
          <p:cNvGrpSpPr/>
          <p:nvPr/>
        </p:nvGrpSpPr>
        <p:grpSpPr>
          <a:xfrm>
            <a:off x="199149" y="3"/>
            <a:ext cx="2795413" cy="1444382"/>
            <a:chOff x="6917201" y="0"/>
            <a:chExt cx="2227776" cy="863400"/>
          </a:xfrm>
        </p:grpSpPr>
        <p:sp>
          <p:nvSpPr>
            <p:cNvPr id="54" name="Google Shape;54;g2ac93cdc357_0_17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g2ac93cdc357_0_17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g2ac93cdc357_0_17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7" name="Google Shape;57;g2ac93cdc357_0_171"/>
          <p:cNvSpPr txBox="1">
            <a:spLocks noGrp="1"/>
          </p:cNvSpPr>
          <p:nvPr>
            <p:ph type="title"/>
          </p:nvPr>
        </p:nvSpPr>
        <p:spPr>
          <a:xfrm>
            <a:off x="1888684" y="2328133"/>
            <a:ext cx="5377500" cy="2194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a:endParaRPr/>
          </a:p>
        </p:txBody>
      </p:sp>
      <p:sp>
        <p:nvSpPr>
          <p:cNvPr id="58" name="Google Shape;58;g2ac93cdc357_0_171"/>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59"/>
        <p:cNvGrpSpPr/>
        <p:nvPr/>
      </p:nvGrpSpPr>
      <p:grpSpPr>
        <a:xfrm>
          <a:off x="0" y="0"/>
          <a:ext cx="0" cy="0"/>
          <a:chOff x="0" y="0"/>
          <a:chExt cx="0" cy="0"/>
        </a:xfrm>
      </p:grpSpPr>
      <p:sp>
        <p:nvSpPr>
          <p:cNvPr id="60" name="Google Shape;60;g2ac93cdc357_0_183"/>
          <p:cNvSpPr/>
          <p:nvPr/>
        </p:nvSpPr>
        <p:spPr>
          <a:xfrm flipH="1">
            <a:off x="3582600" y="2067600"/>
            <a:ext cx="5561400" cy="47904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g2ac93cdc357_0_183"/>
          <p:cNvSpPr/>
          <p:nvPr/>
        </p:nvSpPr>
        <p:spPr>
          <a:xfrm>
            <a:off x="31" y="3766000"/>
            <a:ext cx="7370400" cy="30921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g2ac93cdc357_0_183"/>
          <p:cNvSpPr/>
          <p:nvPr/>
        </p:nvSpPr>
        <p:spPr>
          <a:xfrm>
            <a:off x="203225" y="275000"/>
            <a:ext cx="87375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g2ac93cdc357_0_183"/>
          <p:cNvSpPr txBox="1">
            <a:spLocks noGrp="1"/>
          </p:cNvSpPr>
          <p:nvPr>
            <p:ph type="title"/>
          </p:nvPr>
        </p:nvSpPr>
        <p:spPr>
          <a:xfrm>
            <a:off x="819150" y="1127467"/>
            <a:ext cx="7505700" cy="127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64" name="Google Shape;64;g2ac93cdc357_0_183"/>
          <p:cNvSpPr txBox="1">
            <a:spLocks noGrp="1"/>
          </p:cNvSpPr>
          <p:nvPr>
            <p:ph type="body" idx="1"/>
          </p:nvPr>
        </p:nvSpPr>
        <p:spPr>
          <a:xfrm>
            <a:off x="819150" y="2654300"/>
            <a:ext cx="7505700" cy="32640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5" name="Google Shape;65;g2ac93cdc357_0_183"/>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66"/>
        <p:cNvGrpSpPr/>
        <p:nvPr/>
      </p:nvGrpSpPr>
      <p:grpSpPr>
        <a:xfrm>
          <a:off x="0" y="0"/>
          <a:ext cx="0" cy="0"/>
          <a:chOff x="0" y="0"/>
          <a:chExt cx="0" cy="0"/>
        </a:xfrm>
      </p:grpSpPr>
      <p:sp>
        <p:nvSpPr>
          <p:cNvPr id="67" name="Google Shape;67;g2ac93cdc357_0_190"/>
          <p:cNvSpPr/>
          <p:nvPr/>
        </p:nvSpPr>
        <p:spPr>
          <a:xfrm flipH="1">
            <a:off x="3582600" y="2067600"/>
            <a:ext cx="5561400" cy="47904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g2ac93cdc357_0_190"/>
          <p:cNvSpPr/>
          <p:nvPr/>
        </p:nvSpPr>
        <p:spPr>
          <a:xfrm>
            <a:off x="31" y="3766000"/>
            <a:ext cx="7370400" cy="30921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g2ac93cdc357_0_190"/>
          <p:cNvSpPr/>
          <p:nvPr/>
        </p:nvSpPr>
        <p:spPr>
          <a:xfrm>
            <a:off x="203225" y="275000"/>
            <a:ext cx="87375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g2ac93cdc357_0_190"/>
          <p:cNvSpPr txBox="1">
            <a:spLocks noGrp="1"/>
          </p:cNvSpPr>
          <p:nvPr>
            <p:ph type="title"/>
          </p:nvPr>
        </p:nvSpPr>
        <p:spPr>
          <a:xfrm>
            <a:off x="819150" y="1127467"/>
            <a:ext cx="7505700" cy="127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71" name="Google Shape;71;g2ac93cdc357_0_190"/>
          <p:cNvSpPr txBox="1">
            <a:spLocks noGrp="1"/>
          </p:cNvSpPr>
          <p:nvPr>
            <p:ph type="body" idx="1"/>
          </p:nvPr>
        </p:nvSpPr>
        <p:spPr>
          <a:xfrm>
            <a:off x="819150" y="2654300"/>
            <a:ext cx="3686100" cy="32640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2" name="Google Shape;72;g2ac93cdc357_0_190"/>
          <p:cNvSpPr txBox="1">
            <a:spLocks noGrp="1"/>
          </p:cNvSpPr>
          <p:nvPr>
            <p:ph type="body" idx="2"/>
          </p:nvPr>
        </p:nvSpPr>
        <p:spPr>
          <a:xfrm>
            <a:off x="4638675" y="2654300"/>
            <a:ext cx="3686100" cy="32640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3" name="Google Shape;73;g2ac93cdc357_0_190"/>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74"/>
        <p:cNvGrpSpPr/>
        <p:nvPr/>
      </p:nvGrpSpPr>
      <p:grpSpPr>
        <a:xfrm>
          <a:off x="0" y="0"/>
          <a:ext cx="0" cy="0"/>
          <a:chOff x="0" y="0"/>
          <a:chExt cx="0" cy="0"/>
        </a:xfrm>
      </p:grpSpPr>
      <p:sp>
        <p:nvSpPr>
          <p:cNvPr id="75" name="Google Shape;75;g2ac93cdc357_0_198"/>
          <p:cNvSpPr/>
          <p:nvPr/>
        </p:nvSpPr>
        <p:spPr>
          <a:xfrm flipH="1">
            <a:off x="3582600" y="2067600"/>
            <a:ext cx="5561400" cy="47904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ac93cdc357_0_198"/>
          <p:cNvSpPr/>
          <p:nvPr/>
        </p:nvSpPr>
        <p:spPr>
          <a:xfrm>
            <a:off x="31" y="3766000"/>
            <a:ext cx="7370400" cy="30921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ac93cdc357_0_198"/>
          <p:cNvSpPr/>
          <p:nvPr/>
        </p:nvSpPr>
        <p:spPr>
          <a:xfrm>
            <a:off x="203225" y="275000"/>
            <a:ext cx="87375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ac93cdc357_0_198"/>
          <p:cNvSpPr txBox="1">
            <a:spLocks noGrp="1"/>
          </p:cNvSpPr>
          <p:nvPr>
            <p:ph type="title"/>
          </p:nvPr>
        </p:nvSpPr>
        <p:spPr>
          <a:xfrm>
            <a:off x="819150" y="1127467"/>
            <a:ext cx="7505700" cy="127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79" name="Google Shape;79;g2ac93cdc357_0_198"/>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80"/>
        <p:cNvGrpSpPr/>
        <p:nvPr/>
      </p:nvGrpSpPr>
      <p:grpSpPr>
        <a:xfrm>
          <a:off x="0" y="0"/>
          <a:ext cx="0" cy="0"/>
          <a:chOff x="0" y="0"/>
          <a:chExt cx="0" cy="0"/>
        </a:xfrm>
      </p:grpSpPr>
      <p:sp>
        <p:nvSpPr>
          <p:cNvPr id="81" name="Google Shape;81;g2ac93cdc357_0_204"/>
          <p:cNvSpPr/>
          <p:nvPr/>
        </p:nvSpPr>
        <p:spPr>
          <a:xfrm flipH="1">
            <a:off x="3582600" y="2067600"/>
            <a:ext cx="5561400" cy="47904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g2ac93cdc357_0_204"/>
          <p:cNvSpPr/>
          <p:nvPr/>
        </p:nvSpPr>
        <p:spPr>
          <a:xfrm>
            <a:off x="31" y="3766000"/>
            <a:ext cx="7370400" cy="3092100"/>
          </a:xfrm>
          <a:prstGeom prst="rtTriangl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g2ac93cdc357_0_204"/>
          <p:cNvSpPr/>
          <p:nvPr/>
        </p:nvSpPr>
        <p:spPr>
          <a:xfrm>
            <a:off x="203225" y="275000"/>
            <a:ext cx="87375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g2ac93cdc357_0_204"/>
          <p:cNvSpPr txBox="1">
            <a:spLocks noGrp="1"/>
          </p:cNvSpPr>
          <p:nvPr>
            <p:ph type="title"/>
          </p:nvPr>
        </p:nvSpPr>
        <p:spPr>
          <a:xfrm>
            <a:off x="819150" y="1127467"/>
            <a:ext cx="3709200" cy="1844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85" name="Google Shape;85;g2ac93cdc357_0_204"/>
          <p:cNvSpPr txBox="1">
            <a:spLocks noGrp="1"/>
          </p:cNvSpPr>
          <p:nvPr>
            <p:ph type="body" idx="1"/>
          </p:nvPr>
        </p:nvSpPr>
        <p:spPr>
          <a:xfrm>
            <a:off x="830700" y="3092067"/>
            <a:ext cx="3709200" cy="28263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86" name="Google Shape;86;g2ac93cdc357_0_204"/>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87"/>
        <p:cNvGrpSpPr/>
        <p:nvPr/>
      </p:nvGrpSpPr>
      <p:grpSpPr>
        <a:xfrm>
          <a:off x="0" y="0"/>
          <a:ext cx="0" cy="0"/>
          <a:chOff x="0" y="0"/>
          <a:chExt cx="0" cy="0"/>
        </a:xfrm>
      </p:grpSpPr>
      <p:sp>
        <p:nvSpPr>
          <p:cNvPr id="88" name="Google Shape;88;g2ac93cdc357_0_211"/>
          <p:cNvSpPr/>
          <p:nvPr/>
        </p:nvSpPr>
        <p:spPr>
          <a:xfrm>
            <a:off x="0" y="3764192"/>
            <a:ext cx="7369200" cy="30891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g2ac93cdc357_0_211"/>
          <p:cNvSpPr/>
          <p:nvPr/>
        </p:nvSpPr>
        <p:spPr>
          <a:xfrm flipH="1">
            <a:off x="3583210" y="2072150"/>
            <a:ext cx="5560500" cy="47859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ac93cdc357_0_211"/>
          <p:cNvGrpSpPr/>
          <p:nvPr/>
        </p:nvGrpSpPr>
        <p:grpSpPr>
          <a:xfrm>
            <a:off x="255991" y="-11"/>
            <a:ext cx="2251347" cy="1391229"/>
            <a:chOff x="3961956" y="4383950"/>
            <a:chExt cx="1160548" cy="548700"/>
          </a:xfrm>
        </p:grpSpPr>
        <p:sp>
          <p:nvSpPr>
            <p:cNvPr id="91" name="Google Shape;91;g2ac93cdc357_0_211"/>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g2ac93cdc357_0_211"/>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g2ac93cdc357_0_211"/>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4" name="Google Shape;94;g2ac93cdc357_0_211"/>
          <p:cNvSpPr/>
          <p:nvPr/>
        </p:nvSpPr>
        <p:spPr>
          <a:xfrm>
            <a:off x="203225" y="275000"/>
            <a:ext cx="87375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5" name="Google Shape;95;g2ac93cdc357_0_211"/>
          <p:cNvGrpSpPr/>
          <p:nvPr/>
        </p:nvGrpSpPr>
        <p:grpSpPr>
          <a:xfrm>
            <a:off x="34934" y="6029501"/>
            <a:ext cx="1593305" cy="822734"/>
            <a:chOff x="6917201" y="0"/>
            <a:chExt cx="2227776" cy="863400"/>
          </a:xfrm>
        </p:grpSpPr>
        <p:sp>
          <p:nvSpPr>
            <p:cNvPr id="96" name="Google Shape;96;g2ac93cdc357_0_211"/>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g2ac93cdc357_0_211"/>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g2ac93cdc357_0_211"/>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9" name="Google Shape;99;g2ac93cdc357_0_211"/>
          <p:cNvGrpSpPr/>
          <p:nvPr/>
        </p:nvGrpSpPr>
        <p:grpSpPr>
          <a:xfrm>
            <a:off x="5886353" y="1657"/>
            <a:ext cx="3257454" cy="1681990"/>
            <a:chOff x="6917201" y="0"/>
            <a:chExt cx="2227776" cy="863400"/>
          </a:xfrm>
        </p:grpSpPr>
        <p:sp>
          <p:nvSpPr>
            <p:cNvPr id="100" name="Google Shape;100;g2ac93cdc357_0_211"/>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g2ac93cdc357_0_211"/>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g2ac93cdc357_0_211"/>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3" name="Google Shape;103;g2ac93cdc357_0_211"/>
          <p:cNvSpPr txBox="1">
            <a:spLocks noGrp="1"/>
          </p:cNvSpPr>
          <p:nvPr>
            <p:ph type="title"/>
          </p:nvPr>
        </p:nvSpPr>
        <p:spPr>
          <a:xfrm>
            <a:off x="1393929" y="1734861"/>
            <a:ext cx="6366900" cy="33855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a:endParaRPr/>
          </a:p>
        </p:txBody>
      </p:sp>
      <p:sp>
        <p:nvSpPr>
          <p:cNvPr id="104" name="Google Shape;104;g2ac93cdc357_0_211"/>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105"/>
        <p:cNvGrpSpPr/>
        <p:nvPr/>
      </p:nvGrpSpPr>
      <p:grpSpPr>
        <a:xfrm>
          <a:off x="0" y="0"/>
          <a:ext cx="0" cy="0"/>
          <a:chOff x="0" y="0"/>
          <a:chExt cx="0" cy="0"/>
        </a:xfrm>
      </p:grpSpPr>
      <p:sp>
        <p:nvSpPr>
          <p:cNvPr id="106" name="Google Shape;106;g2ac93cdc357_0_229"/>
          <p:cNvSpPr/>
          <p:nvPr/>
        </p:nvSpPr>
        <p:spPr>
          <a:xfrm flipH="1">
            <a:off x="3582600" y="2067600"/>
            <a:ext cx="5561400" cy="47904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g2ac93cdc357_0_229"/>
          <p:cNvSpPr/>
          <p:nvPr/>
        </p:nvSpPr>
        <p:spPr>
          <a:xfrm>
            <a:off x="31" y="3766000"/>
            <a:ext cx="7370400" cy="30921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g2ac93cdc357_0_229"/>
          <p:cNvSpPr/>
          <p:nvPr/>
        </p:nvSpPr>
        <p:spPr>
          <a:xfrm>
            <a:off x="203225" y="275000"/>
            <a:ext cx="87375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g2ac93cdc357_0_229"/>
          <p:cNvSpPr txBox="1">
            <a:spLocks noGrp="1"/>
          </p:cNvSpPr>
          <p:nvPr>
            <p:ph type="title"/>
          </p:nvPr>
        </p:nvSpPr>
        <p:spPr>
          <a:xfrm>
            <a:off x="819150" y="1127467"/>
            <a:ext cx="6424200" cy="93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10" name="Google Shape;110;g2ac93cdc357_0_229"/>
          <p:cNvSpPr txBox="1">
            <a:spLocks noGrp="1"/>
          </p:cNvSpPr>
          <p:nvPr>
            <p:ph type="subTitle" idx="1"/>
          </p:nvPr>
        </p:nvSpPr>
        <p:spPr>
          <a:xfrm>
            <a:off x="819150" y="2067600"/>
            <a:ext cx="5859900" cy="52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11" name="Google Shape;111;g2ac93cdc357_0_229"/>
          <p:cNvSpPr txBox="1">
            <a:spLocks noGrp="1"/>
          </p:cNvSpPr>
          <p:nvPr>
            <p:ph type="body" idx="2"/>
          </p:nvPr>
        </p:nvSpPr>
        <p:spPr>
          <a:xfrm>
            <a:off x="819150" y="3289400"/>
            <a:ext cx="5859900" cy="27939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12" name="Google Shape;112;g2ac93cdc357_0_229"/>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13"/>
        <p:cNvGrpSpPr/>
        <p:nvPr/>
      </p:nvGrpSpPr>
      <p:grpSpPr>
        <a:xfrm>
          <a:off x="0" y="0"/>
          <a:ext cx="0" cy="0"/>
          <a:chOff x="0" y="0"/>
          <a:chExt cx="0" cy="0"/>
        </a:xfrm>
      </p:grpSpPr>
      <p:sp>
        <p:nvSpPr>
          <p:cNvPr id="114" name="Google Shape;114;g2ac93cdc357_0_237"/>
          <p:cNvSpPr/>
          <p:nvPr/>
        </p:nvSpPr>
        <p:spPr>
          <a:xfrm>
            <a:off x="31" y="3766000"/>
            <a:ext cx="7370400" cy="3092100"/>
          </a:xfrm>
          <a:prstGeom prst="rtTriangl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g2ac93cdc357_0_237"/>
          <p:cNvSpPr/>
          <p:nvPr/>
        </p:nvSpPr>
        <p:spPr>
          <a:xfrm flipH="1">
            <a:off x="3582600" y="2067600"/>
            <a:ext cx="5561400" cy="4790400"/>
          </a:xfrm>
          <a:prstGeom prst="rtTriangl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g2ac93cdc357_0_237"/>
          <p:cNvSpPr/>
          <p:nvPr/>
        </p:nvSpPr>
        <p:spPr>
          <a:xfrm>
            <a:off x="203225" y="275000"/>
            <a:ext cx="87375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g2ac93cdc357_0_237"/>
          <p:cNvSpPr txBox="1">
            <a:spLocks noGrp="1"/>
          </p:cNvSpPr>
          <p:nvPr>
            <p:ph type="body" idx="1"/>
          </p:nvPr>
        </p:nvSpPr>
        <p:spPr>
          <a:xfrm>
            <a:off x="328025" y="5551333"/>
            <a:ext cx="7415100" cy="806700"/>
          </a:xfrm>
          <a:prstGeom prst="rect">
            <a:avLst/>
          </a:prstGeom>
          <a:noFill/>
          <a:ln>
            <a:noFill/>
          </a:ln>
        </p:spPr>
        <p:txBody>
          <a:bodyPr spcFirstLastPara="1" wrap="square" lIns="91425" tIns="91425" rIns="91425" bIns="91425" anchor="b"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118" name="Google Shape;118;g2ac93cdc357_0_237"/>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19"/>
        <p:cNvGrpSpPr/>
        <p:nvPr/>
      </p:nvGrpSpPr>
      <p:grpSpPr>
        <a:xfrm>
          <a:off x="0" y="0"/>
          <a:ext cx="0" cy="0"/>
          <a:chOff x="0" y="0"/>
          <a:chExt cx="0" cy="0"/>
        </a:xfrm>
      </p:grpSpPr>
      <p:sp>
        <p:nvSpPr>
          <p:cNvPr id="120" name="Google Shape;120;g2ac93cdc357_0_243"/>
          <p:cNvSpPr/>
          <p:nvPr/>
        </p:nvSpPr>
        <p:spPr>
          <a:xfrm flipH="1">
            <a:off x="5569200" y="3778767"/>
            <a:ext cx="3574800" cy="30792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1" name="Google Shape;121;g2ac93cdc357_0_243"/>
          <p:cNvGrpSpPr/>
          <p:nvPr/>
        </p:nvGrpSpPr>
        <p:grpSpPr>
          <a:xfrm>
            <a:off x="5959222" y="5492768"/>
            <a:ext cx="2520951" cy="1365553"/>
            <a:chOff x="6917201" y="0"/>
            <a:chExt cx="2227776" cy="863400"/>
          </a:xfrm>
        </p:grpSpPr>
        <p:sp>
          <p:nvSpPr>
            <p:cNvPr id="122" name="Google Shape;122;g2ac93cdc357_0_24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g2ac93cdc357_0_24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g2ac93cdc357_0_24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5" name="Google Shape;125;g2ac93cdc357_0_243"/>
          <p:cNvGrpSpPr/>
          <p:nvPr/>
        </p:nvGrpSpPr>
        <p:grpSpPr>
          <a:xfrm>
            <a:off x="199149" y="3"/>
            <a:ext cx="2795413" cy="1444382"/>
            <a:chOff x="6917201" y="0"/>
            <a:chExt cx="2227776" cy="863400"/>
          </a:xfrm>
        </p:grpSpPr>
        <p:sp>
          <p:nvSpPr>
            <p:cNvPr id="126" name="Google Shape;126;g2ac93cdc357_0_24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g2ac93cdc357_0_24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g2ac93cdc357_0_24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9" name="Google Shape;129;g2ac93cdc357_0_243"/>
          <p:cNvSpPr txBox="1">
            <a:spLocks noGrp="1"/>
          </p:cNvSpPr>
          <p:nvPr>
            <p:ph type="title" hasCustomPrompt="1"/>
          </p:nvPr>
        </p:nvSpPr>
        <p:spPr>
          <a:xfrm>
            <a:off x="1385850" y="1845133"/>
            <a:ext cx="6372300" cy="18396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30" name="Google Shape;130;g2ac93cdc357_0_243"/>
          <p:cNvSpPr txBox="1">
            <a:spLocks noGrp="1"/>
          </p:cNvSpPr>
          <p:nvPr>
            <p:ph type="body" idx="1"/>
          </p:nvPr>
        </p:nvSpPr>
        <p:spPr>
          <a:xfrm>
            <a:off x="1385850" y="3818467"/>
            <a:ext cx="6372300" cy="854700"/>
          </a:xfrm>
          <a:prstGeom prst="rect">
            <a:avLst/>
          </a:prstGeom>
          <a:noFill/>
          <a:ln>
            <a:noFill/>
          </a:ln>
        </p:spPr>
        <p:txBody>
          <a:bodyPr spcFirstLastPara="1" wrap="square" lIns="91425" tIns="91425" rIns="91425" bIns="91425" anchor="t" anchorCtr="0">
            <a:normAutofit/>
          </a:bodyPr>
          <a:lstStyle>
            <a:lvl1pPr marL="457200" lvl="0" indent="-311150" algn="ctr">
              <a:lnSpc>
                <a:spcPct val="115000"/>
              </a:lnSpc>
              <a:spcBef>
                <a:spcPts val="0"/>
              </a:spcBef>
              <a:spcAft>
                <a:spcPts val="0"/>
              </a:spcAft>
              <a:buSzPts val="1300"/>
              <a:buChar char="●"/>
              <a:defRPr/>
            </a:lvl1pPr>
            <a:lvl2pPr marL="914400" lvl="1" indent="-298450" algn="ctr">
              <a:lnSpc>
                <a:spcPct val="115000"/>
              </a:lnSpc>
              <a:spcBef>
                <a:spcPts val="0"/>
              </a:spcBef>
              <a:spcAft>
                <a:spcPts val="0"/>
              </a:spcAft>
              <a:buSzPts val="1100"/>
              <a:buChar char="○"/>
              <a:defRPr/>
            </a:lvl2pPr>
            <a:lvl3pPr marL="1371600" lvl="2" indent="-298450" algn="ctr">
              <a:lnSpc>
                <a:spcPct val="115000"/>
              </a:lnSpc>
              <a:spcBef>
                <a:spcPts val="0"/>
              </a:spcBef>
              <a:spcAft>
                <a:spcPts val="0"/>
              </a:spcAft>
              <a:buSzPts val="1100"/>
              <a:buChar char="■"/>
              <a:defRPr/>
            </a:lvl3pPr>
            <a:lvl4pPr marL="1828800" lvl="3" indent="-298450" algn="ctr">
              <a:lnSpc>
                <a:spcPct val="115000"/>
              </a:lnSpc>
              <a:spcBef>
                <a:spcPts val="0"/>
              </a:spcBef>
              <a:spcAft>
                <a:spcPts val="0"/>
              </a:spcAft>
              <a:buSzPts val="1100"/>
              <a:buChar char="●"/>
              <a:defRPr/>
            </a:lvl4pPr>
            <a:lvl5pPr marL="2286000" lvl="4" indent="-298450" algn="ctr">
              <a:lnSpc>
                <a:spcPct val="115000"/>
              </a:lnSpc>
              <a:spcBef>
                <a:spcPts val="0"/>
              </a:spcBef>
              <a:spcAft>
                <a:spcPts val="0"/>
              </a:spcAft>
              <a:buSzPts val="1100"/>
              <a:buChar char="○"/>
              <a:defRPr/>
            </a:lvl5pPr>
            <a:lvl6pPr marL="2743200" lvl="5" indent="-298450" algn="ctr">
              <a:lnSpc>
                <a:spcPct val="115000"/>
              </a:lnSpc>
              <a:spcBef>
                <a:spcPts val="0"/>
              </a:spcBef>
              <a:spcAft>
                <a:spcPts val="0"/>
              </a:spcAft>
              <a:buSzPts val="1100"/>
              <a:buChar char="■"/>
              <a:defRPr/>
            </a:lvl6pPr>
            <a:lvl7pPr marL="3200400" lvl="6" indent="-298450" algn="ctr">
              <a:lnSpc>
                <a:spcPct val="115000"/>
              </a:lnSpc>
              <a:spcBef>
                <a:spcPts val="0"/>
              </a:spcBef>
              <a:spcAft>
                <a:spcPts val="0"/>
              </a:spcAft>
              <a:buSzPts val="1100"/>
              <a:buChar char="●"/>
              <a:defRPr/>
            </a:lvl7pPr>
            <a:lvl8pPr marL="3657600" lvl="7" indent="-298450" algn="ctr">
              <a:lnSpc>
                <a:spcPct val="115000"/>
              </a:lnSpc>
              <a:spcBef>
                <a:spcPts val="0"/>
              </a:spcBef>
              <a:spcAft>
                <a:spcPts val="0"/>
              </a:spcAft>
              <a:buSzPts val="1100"/>
              <a:buChar char="○"/>
              <a:defRPr/>
            </a:lvl8pPr>
            <a:lvl9pPr marL="4114800" lvl="8" indent="-298450" algn="ctr">
              <a:lnSpc>
                <a:spcPct val="115000"/>
              </a:lnSpc>
              <a:spcBef>
                <a:spcPts val="0"/>
              </a:spcBef>
              <a:spcAft>
                <a:spcPts val="0"/>
              </a:spcAft>
              <a:buSzPts val="1100"/>
              <a:buChar char="■"/>
              <a:defRPr/>
            </a:lvl9pPr>
          </a:lstStyle>
          <a:p>
            <a:endParaRPr/>
          </a:p>
        </p:txBody>
      </p:sp>
      <p:sp>
        <p:nvSpPr>
          <p:cNvPr id="131" name="Google Shape;131;g2ac93cdc357_0_243"/>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2"/>
        <p:cNvGrpSpPr/>
        <p:nvPr/>
      </p:nvGrpSpPr>
      <p:grpSpPr>
        <a:xfrm>
          <a:off x="0" y="0"/>
          <a:ext cx="0" cy="0"/>
          <a:chOff x="0" y="0"/>
          <a:chExt cx="0" cy="0"/>
        </a:xfrm>
      </p:grpSpPr>
      <p:sp>
        <p:nvSpPr>
          <p:cNvPr id="133" name="Google Shape;133;g2ac93cdc357_0_256"/>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9"/>
        <p:cNvGrpSpPr/>
        <p:nvPr/>
      </p:nvGrpSpPr>
      <p:grpSpPr>
        <a:xfrm>
          <a:off x="0" y="0"/>
          <a:ext cx="0" cy="0"/>
          <a:chOff x="0" y="0"/>
          <a:chExt cx="0" cy="0"/>
        </a:xfrm>
      </p:grpSpPr>
      <p:sp>
        <p:nvSpPr>
          <p:cNvPr id="10" name="Google Shape;10;g2ac93cdc357_0_139"/>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2pPr>
            <a:lvl3pPr marR="0" lvl="2"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3pPr>
            <a:lvl4pPr marR="0" lvl="3"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4pPr>
            <a:lvl5pPr marR="0" lvl="4"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5pPr>
            <a:lvl6pPr marR="0" lvl="5"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6pPr>
            <a:lvl7pPr marR="0" lvl="6"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7pPr>
            <a:lvl8pPr marR="0" lvl="7"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8pPr>
            <a:lvl9pPr marR="0" lvl="8" algn="l" rtl="0">
              <a:lnSpc>
                <a:spcPct val="100000"/>
              </a:lnSpc>
              <a:spcBef>
                <a:spcPts val="0"/>
              </a:spcBef>
              <a:spcAft>
                <a:spcPts val="0"/>
              </a:spcAft>
              <a:buClr>
                <a:schemeClr val="lt1"/>
              </a:buClr>
              <a:buSzPts val="2800"/>
              <a:buFont typeface="Nunito"/>
              <a:buNone/>
              <a:defRPr sz="2800" b="0" i="0" u="none" strike="noStrike" cap="none">
                <a:solidFill>
                  <a:schemeClr val="lt1"/>
                </a:solidFill>
                <a:latin typeface="Nunito"/>
                <a:ea typeface="Nunito"/>
                <a:cs typeface="Nunito"/>
                <a:sym typeface="Nunito"/>
              </a:defRPr>
            </a:lvl9pPr>
          </a:lstStyle>
          <a:p>
            <a:endParaRPr/>
          </a:p>
        </p:txBody>
      </p:sp>
      <p:sp>
        <p:nvSpPr>
          <p:cNvPr id="11" name="Google Shape;11;g2ac93cdc357_0_139"/>
          <p:cNvSpPr txBox="1">
            <a:spLocks noGrp="1"/>
          </p:cNvSpPr>
          <p:nvPr>
            <p:ph type="body" idx="1"/>
          </p:nvPr>
        </p:nvSpPr>
        <p:spPr>
          <a:xfrm>
            <a:off x="311700" y="1536633"/>
            <a:ext cx="8520600" cy="45216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dk2"/>
              </a:buClr>
              <a:buSzPts val="1300"/>
              <a:buFont typeface="Calibri"/>
              <a:buChar char="●"/>
              <a:defRPr sz="1300" b="0" i="0" u="none" strike="noStrike" cap="none">
                <a:solidFill>
                  <a:schemeClr val="dk2"/>
                </a:solidFill>
                <a:latin typeface="Calibri"/>
                <a:ea typeface="Calibri"/>
                <a:cs typeface="Calibri"/>
                <a:sym typeface="Calibri"/>
              </a:defRPr>
            </a:lvl1pPr>
            <a:lvl2pPr marL="914400" marR="0" lvl="1"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2pPr>
            <a:lvl3pPr marL="1371600" marR="0" lvl="2"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3pPr>
            <a:lvl4pPr marL="1828800" marR="0" lvl="3"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4pPr>
            <a:lvl5pPr marL="2286000" marR="0" lvl="4"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5pPr>
            <a:lvl6pPr marL="2743200" marR="0" lvl="5"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6pPr>
            <a:lvl7pPr marL="3200400" marR="0" lvl="6"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7pPr>
            <a:lvl8pPr marL="3657600" marR="0" lvl="7"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8pPr>
            <a:lvl9pPr marL="4114800" marR="0" lvl="8" indent="-298450" algn="l" rtl="0">
              <a:lnSpc>
                <a:spcPct val="115000"/>
              </a:lnSpc>
              <a:spcBef>
                <a:spcPts val="0"/>
              </a:spcBef>
              <a:spcAft>
                <a:spcPts val="0"/>
              </a:spcAft>
              <a:buClr>
                <a:schemeClr val="dk2"/>
              </a:buClr>
              <a:buSzPts val="1100"/>
              <a:buFont typeface="Calibri"/>
              <a:buChar char="■"/>
              <a:defRPr sz="1100" b="0" i="0" u="none" strike="noStrike" cap="none">
                <a:solidFill>
                  <a:schemeClr val="dk2"/>
                </a:solidFill>
                <a:latin typeface="Calibri"/>
                <a:ea typeface="Calibri"/>
                <a:cs typeface="Calibri"/>
                <a:sym typeface="Calibri"/>
              </a:defRPr>
            </a:lvl9pPr>
          </a:lstStyle>
          <a:p>
            <a:endParaRPr/>
          </a:p>
        </p:txBody>
      </p:sp>
      <p:sp>
        <p:nvSpPr>
          <p:cNvPr id="12" name="Google Shape;12;g2ac93cdc357_0_139"/>
          <p:cNvSpPr txBox="1">
            <a:spLocks noGrp="1"/>
          </p:cNvSpPr>
          <p:nvPr>
            <p:ph type="sldNum" idx="12"/>
          </p:nvPr>
        </p:nvSpPr>
        <p:spPr>
          <a:xfrm>
            <a:off x="8390734" y="6058224"/>
            <a:ext cx="548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youtu.be/o_-6JXLYS-k?si=WlJeegTfEUJIR1Zp"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s://youtu.be/o_-6JXLYS-k?si=WlJeegTfEUJIR1Zp"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hyperlink" Target="https://www.smithsonianmag.com/science-nature/why-scientists-are-turning-molecules-into-music-180980022/"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hyperlink" Target="https://www.youtube.com/watch?v=3nPK_O1dRmY"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www.youtube.com/watch?v=Vky3h5_mFYY"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9DAF8"/>
        </a:solidFill>
        <a:effectLst/>
      </p:bgPr>
    </p:bg>
    <p:spTree>
      <p:nvGrpSpPr>
        <p:cNvPr id="1" name="Shape 137"/>
        <p:cNvGrpSpPr/>
        <p:nvPr/>
      </p:nvGrpSpPr>
      <p:grpSpPr>
        <a:xfrm>
          <a:off x="0" y="0"/>
          <a:ext cx="0" cy="0"/>
          <a:chOff x="0" y="0"/>
          <a:chExt cx="0" cy="0"/>
        </a:xfrm>
      </p:grpSpPr>
      <p:sp>
        <p:nvSpPr>
          <p:cNvPr id="138" name="Google Shape;138;g2ac93cdc357_0_132"/>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endParaRPr/>
          </a:p>
        </p:txBody>
      </p:sp>
      <p:sp>
        <p:nvSpPr>
          <p:cNvPr id="139" name="Google Shape;139;g2ac93cdc357_0_132"/>
          <p:cNvSpPr txBox="1">
            <a:spLocks noGrp="1"/>
          </p:cNvSpPr>
          <p:nvPr>
            <p:ph type="body" idx="1"/>
          </p:nvPr>
        </p:nvSpPr>
        <p:spPr>
          <a:xfrm>
            <a:off x="218625" y="455525"/>
            <a:ext cx="8815200" cy="1761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540"/>
              </a:spcBef>
              <a:spcAft>
                <a:spcPts val="0"/>
              </a:spcAft>
              <a:buSzPts val="1800"/>
              <a:buNone/>
            </a:pPr>
            <a:r>
              <a:rPr lang="en-US" sz="5500" b="1" u="sng" dirty="0"/>
              <a:t>Introduction to Bioengineering  Theory </a:t>
            </a:r>
            <a:endParaRPr sz="5500" b="1" u="sng" dirty="0"/>
          </a:p>
          <a:p>
            <a:pPr marL="0" lvl="0" indent="0" algn="l" rtl="0">
              <a:lnSpc>
                <a:spcPct val="90000"/>
              </a:lnSpc>
              <a:spcBef>
                <a:spcPts val="540"/>
              </a:spcBef>
              <a:spcAft>
                <a:spcPts val="0"/>
              </a:spcAft>
              <a:buSzPts val="1800"/>
              <a:buNone/>
            </a:pPr>
            <a:endParaRPr sz="2400" b="1" dirty="0"/>
          </a:p>
          <a:p>
            <a:pPr marL="0" lvl="0" indent="0" algn="l" rtl="0">
              <a:lnSpc>
                <a:spcPct val="90000"/>
              </a:lnSpc>
              <a:spcBef>
                <a:spcPts val="540"/>
              </a:spcBef>
              <a:spcAft>
                <a:spcPts val="0"/>
              </a:spcAft>
              <a:buSzPts val="1800"/>
              <a:buNone/>
            </a:pPr>
            <a:r>
              <a:rPr lang="en-US" sz="2400" b="1" dirty="0"/>
              <a:t>                             </a:t>
            </a:r>
            <a:r>
              <a:rPr lang="en-US" sz="5500" b="1" dirty="0"/>
              <a:t>(BBL1020; 3-0-0) </a:t>
            </a:r>
            <a:endParaRPr sz="5500" b="1" dirty="0"/>
          </a:p>
          <a:p>
            <a:pPr marL="0" lvl="0" indent="0" algn="l" rtl="0">
              <a:lnSpc>
                <a:spcPct val="90000"/>
              </a:lnSpc>
              <a:spcBef>
                <a:spcPts val="540"/>
              </a:spcBef>
              <a:spcAft>
                <a:spcPts val="0"/>
              </a:spcAft>
              <a:buSzPts val="1800"/>
              <a:buNone/>
            </a:pPr>
            <a:endParaRPr sz="2400" b="1" dirty="0"/>
          </a:p>
          <a:p>
            <a:pPr marL="0" lvl="0" indent="0" algn="l" rtl="0">
              <a:lnSpc>
                <a:spcPct val="90000"/>
              </a:lnSpc>
              <a:spcBef>
                <a:spcPts val="540"/>
              </a:spcBef>
              <a:spcAft>
                <a:spcPts val="0"/>
              </a:spcAft>
              <a:buSzPts val="1800"/>
              <a:buNone/>
            </a:pPr>
            <a:r>
              <a:rPr lang="en-US" sz="4600" b="1" dirty="0"/>
              <a:t>   </a:t>
            </a:r>
            <a:endParaRPr dirty="0"/>
          </a:p>
        </p:txBody>
      </p:sp>
      <p:sp>
        <p:nvSpPr>
          <p:cNvPr id="140" name="Google Shape;140;g2ac93cdc357_0_132"/>
          <p:cNvSpPr txBox="1">
            <a:spLocks noGrp="1"/>
          </p:cNvSpPr>
          <p:nvPr>
            <p:ph type="body" idx="1"/>
          </p:nvPr>
        </p:nvSpPr>
        <p:spPr>
          <a:xfrm>
            <a:off x="2857825" y="4979050"/>
            <a:ext cx="3503700" cy="9963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540"/>
              </a:spcBef>
              <a:spcAft>
                <a:spcPts val="0"/>
              </a:spcAft>
              <a:buSzPts val="1800"/>
              <a:buNone/>
            </a:pPr>
            <a:r>
              <a:rPr lang="en-US" sz="5500" b="1" dirty="0"/>
              <a:t>Genome</a:t>
            </a:r>
          </a:p>
          <a:p>
            <a:pPr marL="0" lvl="0" indent="0" algn="l" rtl="0">
              <a:lnSpc>
                <a:spcPct val="90000"/>
              </a:lnSpc>
              <a:spcBef>
                <a:spcPts val="540"/>
              </a:spcBef>
              <a:spcAft>
                <a:spcPts val="0"/>
              </a:spcAft>
              <a:buSzPts val="1800"/>
              <a:buNone/>
            </a:pPr>
            <a:r>
              <a:rPr lang="en-US" sz="5500" b="1" dirty="0"/>
              <a:t>Mutations</a:t>
            </a:r>
            <a:endParaRPr dirty="0"/>
          </a:p>
        </p:txBody>
      </p:sp>
      <p:pic>
        <p:nvPicPr>
          <p:cNvPr id="141" name="Google Shape;141;g2ac93cdc357_0_132"/>
          <p:cNvPicPr preferRelativeResize="0"/>
          <p:nvPr/>
        </p:nvPicPr>
        <p:blipFill rotWithShape="1">
          <a:blip r:embed="rId3">
            <a:alphaModFix/>
          </a:blip>
          <a:srcRect/>
          <a:stretch/>
        </p:blipFill>
        <p:spPr>
          <a:xfrm>
            <a:off x="66225" y="63350"/>
            <a:ext cx="1059800" cy="11688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65a72ae61c_0_12"/>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Bio-macromolecules: DNA- Building block of life</a:t>
            </a:r>
            <a:endParaRPr>
              <a:solidFill>
                <a:srgbClr val="0000FF"/>
              </a:solidFill>
              <a:latin typeface="Roboto Medium"/>
              <a:ea typeface="Roboto Medium"/>
              <a:cs typeface="Roboto Medium"/>
              <a:sym typeface="Roboto Medium"/>
            </a:endParaRPr>
          </a:p>
        </p:txBody>
      </p:sp>
      <p:pic>
        <p:nvPicPr>
          <p:cNvPr id="204" name="Google Shape;204;g265a72ae61c_0_12"/>
          <p:cNvPicPr preferRelativeResize="0"/>
          <p:nvPr/>
        </p:nvPicPr>
        <p:blipFill rotWithShape="1">
          <a:blip r:embed="rId3">
            <a:alphaModFix/>
          </a:blip>
          <a:srcRect l="3093" t="7455" r="6702" b="8305"/>
          <a:stretch/>
        </p:blipFill>
        <p:spPr>
          <a:xfrm>
            <a:off x="5873725" y="866600"/>
            <a:ext cx="2989550" cy="3015606"/>
          </a:xfrm>
          <a:prstGeom prst="rect">
            <a:avLst/>
          </a:prstGeom>
          <a:noFill/>
          <a:ln>
            <a:noFill/>
          </a:ln>
        </p:spPr>
      </p:pic>
      <p:pic>
        <p:nvPicPr>
          <p:cNvPr id="205" name="Google Shape;205;g265a72ae61c_0_12"/>
          <p:cNvPicPr preferRelativeResize="0"/>
          <p:nvPr/>
        </p:nvPicPr>
        <p:blipFill rotWithShape="1">
          <a:blip r:embed="rId4">
            <a:alphaModFix/>
          </a:blip>
          <a:srcRect l="1991" t="3988" r="2269" b="3692"/>
          <a:stretch/>
        </p:blipFill>
        <p:spPr>
          <a:xfrm>
            <a:off x="262350" y="866600"/>
            <a:ext cx="5611374" cy="3279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2660a7d0dad_0_0"/>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Bio-macromolecules: DNA- Building block of life</a:t>
            </a:r>
            <a:endParaRPr>
              <a:solidFill>
                <a:srgbClr val="0000FF"/>
              </a:solidFill>
              <a:latin typeface="Roboto Medium"/>
              <a:ea typeface="Roboto Medium"/>
              <a:cs typeface="Roboto Medium"/>
              <a:sym typeface="Roboto Medium"/>
            </a:endParaRPr>
          </a:p>
        </p:txBody>
      </p:sp>
      <p:sp>
        <p:nvSpPr>
          <p:cNvPr id="211" name="Google Shape;211;g2660a7d0dad_0_0"/>
          <p:cNvSpPr txBox="1"/>
          <p:nvPr/>
        </p:nvSpPr>
        <p:spPr>
          <a:xfrm>
            <a:off x="4022925" y="6136450"/>
            <a:ext cx="47781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i="1">
                <a:solidFill>
                  <a:schemeClr val="accent6"/>
                </a:solidFill>
                <a:latin typeface="Calibri"/>
                <a:ea typeface="Calibri"/>
                <a:cs typeface="Calibri"/>
                <a:sym typeface="Calibri"/>
              </a:rPr>
              <a:t>https://youtu.be/o_-6JXLYS-k?si=WlJeegTfEUJIR1Zp</a:t>
            </a:r>
            <a:endParaRPr sz="1500" b="0" i="1" u="none" strike="noStrike" cap="none">
              <a:solidFill>
                <a:schemeClr val="accent6"/>
              </a:solidFill>
              <a:latin typeface="Calibri"/>
              <a:ea typeface="Calibri"/>
              <a:cs typeface="Calibri"/>
              <a:sym typeface="Calibri"/>
            </a:endParaRPr>
          </a:p>
        </p:txBody>
      </p:sp>
      <p:pic>
        <p:nvPicPr>
          <p:cNvPr id="212" name="Google Shape;212;g2660a7d0dad_0_0"/>
          <p:cNvPicPr preferRelativeResize="0"/>
          <p:nvPr/>
        </p:nvPicPr>
        <p:blipFill>
          <a:blip r:embed="rId3">
            <a:alphaModFix/>
          </a:blip>
          <a:stretch>
            <a:fillRect/>
          </a:stretch>
        </p:blipFill>
        <p:spPr>
          <a:xfrm>
            <a:off x="4538425" y="1506650"/>
            <a:ext cx="4262601" cy="2726899"/>
          </a:xfrm>
          <a:prstGeom prst="rect">
            <a:avLst/>
          </a:prstGeom>
          <a:noFill/>
          <a:ln>
            <a:noFill/>
          </a:ln>
        </p:spPr>
      </p:pic>
      <p:sp>
        <p:nvSpPr>
          <p:cNvPr id="213" name="Google Shape;213;g2660a7d0dad_0_0"/>
          <p:cNvSpPr txBox="1"/>
          <p:nvPr/>
        </p:nvSpPr>
        <p:spPr>
          <a:xfrm>
            <a:off x="2598050" y="845563"/>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t>The </a:t>
            </a:r>
            <a:r>
              <a:rPr lang="en-US" sz="2000" b="1" u="sng">
                <a:solidFill>
                  <a:schemeClr val="hlink"/>
                </a:solidFill>
                <a:hlinkClick r:id="rId4"/>
              </a:rPr>
              <a:t>Structure</a:t>
            </a:r>
            <a:r>
              <a:rPr lang="en-US" sz="2000" b="1"/>
              <a:t> of DNA</a:t>
            </a:r>
            <a:endParaRPr sz="2000" b="1"/>
          </a:p>
        </p:txBody>
      </p:sp>
      <p:pic>
        <p:nvPicPr>
          <p:cNvPr id="214" name="Google Shape;214;g2660a7d0dad_0_0"/>
          <p:cNvPicPr preferRelativeResize="0"/>
          <p:nvPr/>
        </p:nvPicPr>
        <p:blipFill>
          <a:blip r:embed="rId5">
            <a:alphaModFix/>
          </a:blip>
          <a:stretch>
            <a:fillRect/>
          </a:stretch>
        </p:blipFill>
        <p:spPr>
          <a:xfrm>
            <a:off x="194775" y="1433862"/>
            <a:ext cx="3952055" cy="3245525"/>
          </a:xfrm>
          <a:prstGeom prst="rect">
            <a:avLst/>
          </a:prstGeom>
          <a:noFill/>
          <a:ln>
            <a:noFill/>
          </a:ln>
        </p:spPr>
      </p:pic>
      <p:sp>
        <p:nvSpPr>
          <p:cNvPr id="215" name="Google Shape;215;g2660a7d0dad_0_0"/>
          <p:cNvSpPr txBox="1"/>
          <p:nvPr/>
        </p:nvSpPr>
        <p:spPr>
          <a:xfrm>
            <a:off x="194775" y="4775075"/>
            <a:ext cx="87405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a:latin typeface="Calibri"/>
                <a:ea typeface="Calibri"/>
                <a:cs typeface="Calibri"/>
                <a:sym typeface="Calibri"/>
              </a:rPr>
              <a:t>The building blocks of DNA are the </a:t>
            </a:r>
            <a:r>
              <a:rPr lang="en-US" sz="1600" u="sng">
                <a:latin typeface="Calibri"/>
                <a:ea typeface="Calibri"/>
                <a:cs typeface="Calibri"/>
                <a:sym typeface="Calibri"/>
              </a:rPr>
              <a:t>5-carbon sugar deoxyribose</a:t>
            </a:r>
            <a:r>
              <a:rPr lang="en-US" sz="1600">
                <a:latin typeface="Calibri"/>
                <a:ea typeface="Calibri"/>
                <a:cs typeface="Calibri"/>
                <a:sym typeface="Calibri"/>
              </a:rPr>
              <a:t> linked together by </a:t>
            </a:r>
            <a:r>
              <a:rPr lang="en-US" sz="1600" u="sng">
                <a:latin typeface="Calibri"/>
                <a:ea typeface="Calibri"/>
                <a:cs typeface="Calibri"/>
                <a:sym typeface="Calibri"/>
              </a:rPr>
              <a:t>phosphodiester bonds</a:t>
            </a:r>
            <a:r>
              <a:rPr lang="en-US" sz="1600">
                <a:latin typeface="Calibri"/>
                <a:ea typeface="Calibri"/>
                <a:cs typeface="Calibri"/>
                <a:sym typeface="Calibri"/>
              </a:rPr>
              <a:t> forming two strands of sugar-phosphate backbones on the outside of the double helix. </a:t>
            </a:r>
            <a:endParaRPr sz="1600">
              <a:latin typeface="Calibri"/>
              <a:ea typeface="Calibri"/>
              <a:cs typeface="Calibri"/>
              <a:sym typeface="Calibri"/>
            </a:endParaRPr>
          </a:p>
          <a:p>
            <a:pPr marL="0" lvl="0" indent="0" algn="l" rtl="0">
              <a:spcBef>
                <a:spcPts val="0"/>
              </a:spcBef>
              <a:spcAft>
                <a:spcPts val="0"/>
              </a:spcAft>
              <a:buNone/>
            </a:pPr>
            <a:r>
              <a:rPr lang="en-US" sz="1600">
                <a:latin typeface="Calibri"/>
                <a:ea typeface="Calibri"/>
                <a:cs typeface="Calibri"/>
                <a:sym typeface="Calibri"/>
              </a:rPr>
              <a:t>Each ribose binds one of four alternative bases: adenine (A), guanine (G), cytosine (C) or thymine (T).</a:t>
            </a:r>
            <a:endParaRPr sz="1600">
              <a:latin typeface="Calibri"/>
              <a:ea typeface="Calibri"/>
              <a:cs typeface="Calibri"/>
              <a:sym typeface="Calibri"/>
            </a:endParaRPr>
          </a:p>
          <a:p>
            <a:pPr marL="0" lvl="0" indent="0" algn="l" rtl="0">
              <a:spcBef>
                <a:spcPts val="0"/>
              </a:spcBef>
              <a:spcAft>
                <a:spcPts val="0"/>
              </a:spcAft>
              <a:buNone/>
            </a:pPr>
            <a:r>
              <a:rPr lang="en-US" sz="1600">
                <a:latin typeface="Calibri"/>
                <a:ea typeface="Calibri"/>
                <a:cs typeface="Calibri"/>
                <a:sym typeface="Calibri"/>
              </a:rPr>
              <a:t>The opposing strands are held together by base pairing between the two strands: G is always paired with C by </a:t>
            </a:r>
            <a:r>
              <a:rPr lang="en-US" sz="1600" u="sng">
                <a:latin typeface="Calibri"/>
                <a:ea typeface="Calibri"/>
                <a:cs typeface="Calibri"/>
                <a:sym typeface="Calibri"/>
              </a:rPr>
              <a:t>three</a:t>
            </a:r>
            <a:r>
              <a:rPr lang="en-US" sz="1600">
                <a:latin typeface="Calibri"/>
                <a:ea typeface="Calibri"/>
                <a:cs typeface="Calibri"/>
                <a:sym typeface="Calibri"/>
              </a:rPr>
              <a:t> hydrogen bonds and A is always paired with T by </a:t>
            </a:r>
            <a:r>
              <a:rPr lang="en-US" sz="1600" u="sng">
                <a:latin typeface="Calibri"/>
                <a:ea typeface="Calibri"/>
                <a:cs typeface="Calibri"/>
                <a:sym typeface="Calibri"/>
              </a:rPr>
              <a:t>two </a:t>
            </a:r>
            <a:r>
              <a:rPr lang="en-US" sz="1600">
                <a:latin typeface="Calibri"/>
                <a:ea typeface="Calibri"/>
                <a:cs typeface="Calibri"/>
                <a:sym typeface="Calibri"/>
              </a:rPr>
              <a:t>hydrogen bonds.</a:t>
            </a:r>
            <a:endParaRPr sz="16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g267994c7a4b_0_54"/>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Bio-macromolecules: DNA- Building block of life</a:t>
            </a:r>
            <a:endParaRPr>
              <a:solidFill>
                <a:srgbClr val="0000FF"/>
              </a:solidFill>
              <a:latin typeface="Roboto Medium"/>
              <a:ea typeface="Roboto Medium"/>
              <a:cs typeface="Roboto Medium"/>
              <a:sym typeface="Roboto Medium"/>
            </a:endParaRPr>
          </a:p>
        </p:txBody>
      </p:sp>
      <p:sp>
        <p:nvSpPr>
          <p:cNvPr id="221" name="Google Shape;221;g267994c7a4b_0_54"/>
          <p:cNvSpPr txBox="1"/>
          <p:nvPr/>
        </p:nvSpPr>
        <p:spPr>
          <a:xfrm>
            <a:off x="4022925" y="6136450"/>
            <a:ext cx="47781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i="1">
                <a:solidFill>
                  <a:schemeClr val="accent6"/>
                </a:solidFill>
                <a:latin typeface="Calibri"/>
                <a:ea typeface="Calibri"/>
                <a:cs typeface="Calibri"/>
                <a:sym typeface="Calibri"/>
              </a:rPr>
              <a:t>https://youtu.be/o_-6JXLYS-k?si=WlJeegTfEUJIR1Zp</a:t>
            </a:r>
            <a:endParaRPr sz="1500" b="0" i="1" u="none" strike="noStrike" cap="none">
              <a:solidFill>
                <a:schemeClr val="accent6"/>
              </a:solidFill>
              <a:latin typeface="Calibri"/>
              <a:ea typeface="Calibri"/>
              <a:cs typeface="Calibri"/>
              <a:sym typeface="Calibri"/>
            </a:endParaRPr>
          </a:p>
        </p:txBody>
      </p:sp>
      <p:pic>
        <p:nvPicPr>
          <p:cNvPr id="222" name="Google Shape;222;g267994c7a4b_0_54"/>
          <p:cNvPicPr preferRelativeResize="0"/>
          <p:nvPr/>
        </p:nvPicPr>
        <p:blipFill>
          <a:blip r:embed="rId3">
            <a:alphaModFix/>
          </a:blip>
          <a:stretch>
            <a:fillRect/>
          </a:stretch>
        </p:blipFill>
        <p:spPr>
          <a:xfrm>
            <a:off x="4538425" y="1506650"/>
            <a:ext cx="4262601" cy="2726899"/>
          </a:xfrm>
          <a:prstGeom prst="rect">
            <a:avLst/>
          </a:prstGeom>
          <a:noFill/>
          <a:ln>
            <a:noFill/>
          </a:ln>
        </p:spPr>
      </p:pic>
      <p:sp>
        <p:nvSpPr>
          <p:cNvPr id="223" name="Google Shape;223;g267994c7a4b_0_54"/>
          <p:cNvSpPr txBox="1"/>
          <p:nvPr/>
        </p:nvSpPr>
        <p:spPr>
          <a:xfrm>
            <a:off x="2598050" y="845563"/>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t>The </a:t>
            </a:r>
            <a:r>
              <a:rPr lang="en-US" sz="2000" b="1" u="sng">
                <a:solidFill>
                  <a:schemeClr val="hlink"/>
                </a:solidFill>
                <a:hlinkClick r:id="rId4"/>
              </a:rPr>
              <a:t>Structure</a:t>
            </a:r>
            <a:r>
              <a:rPr lang="en-US" sz="2000" b="1"/>
              <a:t> of DNA</a:t>
            </a:r>
            <a:endParaRPr sz="2000" b="1"/>
          </a:p>
        </p:txBody>
      </p:sp>
      <p:sp>
        <p:nvSpPr>
          <p:cNvPr id="224" name="Google Shape;224;g267994c7a4b_0_54"/>
          <p:cNvSpPr txBox="1"/>
          <p:nvPr/>
        </p:nvSpPr>
        <p:spPr>
          <a:xfrm>
            <a:off x="194775" y="4775075"/>
            <a:ext cx="87405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a:latin typeface="Calibri"/>
                <a:ea typeface="Calibri"/>
                <a:cs typeface="Calibri"/>
                <a:sym typeface="Calibri"/>
              </a:rPr>
              <a:t>The building blocks of DNA are the </a:t>
            </a:r>
            <a:r>
              <a:rPr lang="en-US" sz="1600" u="sng">
                <a:latin typeface="Calibri"/>
                <a:ea typeface="Calibri"/>
                <a:cs typeface="Calibri"/>
                <a:sym typeface="Calibri"/>
              </a:rPr>
              <a:t>5-carbon sugar deoxyribose</a:t>
            </a:r>
            <a:r>
              <a:rPr lang="en-US" sz="1600">
                <a:latin typeface="Calibri"/>
                <a:ea typeface="Calibri"/>
                <a:cs typeface="Calibri"/>
                <a:sym typeface="Calibri"/>
              </a:rPr>
              <a:t> linked together by </a:t>
            </a:r>
            <a:r>
              <a:rPr lang="en-US" sz="1600" u="sng">
                <a:latin typeface="Calibri"/>
                <a:ea typeface="Calibri"/>
                <a:cs typeface="Calibri"/>
                <a:sym typeface="Calibri"/>
              </a:rPr>
              <a:t>phosphodiester bonds</a:t>
            </a:r>
            <a:r>
              <a:rPr lang="en-US" sz="1600">
                <a:latin typeface="Calibri"/>
                <a:ea typeface="Calibri"/>
                <a:cs typeface="Calibri"/>
                <a:sym typeface="Calibri"/>
              </a:rPr>
              <a:t> forming two strands of sugar-phosphate backbones on the outside of the double helix. </a:t>
            </a:r>
            <a:endParaRPr sz="1600">
              <a:latin typeface="Calibri"/>
              <a:ea typeface="Calibri"/>
              <a:cs typeface="Calibri"/>
              <a:sym typeface="Calibri"/>
            </a:endParaRPr>
          </a:p>
          <a:p>
            <a:pPr marL="0" lvl="0" indent="0" algn="l" rtl="0">
              <a:spcBef>
                <a:spcPts val="0"/>
              </a:spcBef>
              <a:spcAft>
                <a:spcPts val="0"/>
              </a:spcAft>
              <a:buNone/>
            </a:pPr>
            <a:r>
              <a:rPr lang="en-US" sz="1600">
                <a:latin typeface="Calibri"/>
                <a:ea typeface="Calibri"/>
                <a:cs typeface="Calibri"/>
                <a:sym typeface="Calibri"/>
              </a:rPr>
              <a:t>Each ribose binds one of four alternative bases: adenine (A), guanine (G), cytosine (C) or thymine (T).</a:t>
            </a:r>
            <a:endParaRPr sz="1600">
              <a:latin typeface="Calibri"/>
              <a:ea typeface="Calibri"/>
              <a:cs typeface="Calibri"/>
              <a:sym typeface="Calibri"/>
            </a:endParaRPr>
          </a:p>
          <a:p>
            <a:pPr marL="0" lvl="0" indent="0" algn="l" rtl="0">
              <a:spcBef>
                <a:spcPts val="0"/>
              </a:spcBef>
              <a:spcAft>
                <a:spcPts val="0"/>
              </a:spcAft>
              <a:buNone/>
            </a:pPr>
            <a:r>
              <a:rPr lang="en-US" sz="1600">
                <a:latin typeface="Calibri"/>
                <a:ea typeface="Calibri"/>
                <a:cs typeface="Calibri"/>
                <a:sym typeface="Calibri"/>
              </a:rPr>
              <a:t>The opposing strands are held together by base pairing between the two strands: G is always paired with C by </a:t>
            </a:r>
            <a:r>
              <a:rPr lang="en-US" sz="1600" u="sng">
                <a:latin typeface="Calibri"/>
                <a:ea typeface="Calibri"/>
                <a:cs typeface="Calibri"/>
                <a:sym typeface="Calibri"/>
              </a:rPr>
              <a:t>three</a:t>
            </a:r>
            <a:r>
              <a:rPr lang="en-US" sz="1600">
                <a:latin typeface="Calibri"/>
                <a:ea typeface="Calibri"/>
                <a:cs typeface="Calibri"/>
                <a:sym typeface="Calibri"/>
              </a:rPr>
              <a:t> hydrogen bonds and A is always paired with T by </a:t>
            </a:r>
            <a:r>
              <a:rPr lang="en-US" sz="1600" u="sng">
                <a:latin typeface="Calibri"/>
                <a:ea typeface="Calibri"/>
                <a:cs typeface="Calibri"/>
                <a:sym typeface="Calibri"/>
              </a:rPr>
              <a:t>two </a:t>
            </a:r>
            <a:r>
              <a:rPr lang="en-US" sz="1600">
                <a:latin typeface="Calibri"/>
                <a:ea typeface="Calibri"/>
                <a:cs typeface="Calibri"/>
                <a:sym typeface="Calibri"/>
              </a:rPr>
              <a:t>hydrogen bonds.</a:t>
            </a:r>
            <a:endParaRPr sz="1600">
              <a:latin typeface="Calibri"/>
              <a:ea typeface="Calibri"/>
              <a:cs typeface="Calibri"/>
              <a:sym typeface="Calibri"/>
            </a:endParaRPr>
          </a:p>
        </p:txBody>
      </p:sp>
      <p:pic>
        <p:nvPicPr>
          <p:cNvPr id="225" name="Google Shape;225;g267994c7a4b_0_54"/>
          <p:cNvPicPr preferRelativeResize="0"/>
          <p:nvPr/>
        </p:nvPicPr>
        <p:blipFill rotWithShape="1">
          <a:blip r:embed="rId5">
            <a:alphaModFix/>
          </a:blip>
          <a:srcRect r="2771"/>
          <a:stretch/>
        </p:blipFill>
        <p:spPr>
          <a:xfrm>
            <a:off x="355425" y="1262350"/>
            <a:ext cx="3951274" cy="35510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26628c913b2_0_12"/>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Bio-macromolecules: Code- Computer or DNA</a:t>
            </a:r>
            <a:endParaRPr>
              <a:solidFill>
                <a:srgbClr val="0000FF"/>
              </a:solidFill>
              <a:latin typeface="Roboto Medium"/>
              <a:ea typeface="Roboto Medium"/>
              <a:cs typeface="Roboto Medium"/>
              <a:sym typeface="Roboto Medium"/>
            </a:endParaRPr>
          </a:p>
        </p:txBody>
      </p:sp>
      <p:pic>
        <p:nvPicPr>
          <p:cNvPr id="231" name="Google Shape;231;g26628c913b2_0_12"/>
          <p:cNvPicPr preferRelativeResize="0"/>
          <p:nvPr/>
        </p:nvPicPr>
        <p:blipFill rotWithShape="1">
          <a:blip r:embed="rId3">
            <a:alphaModFix/>
          </a:blip>
          <a:srcRect l="3047" t="3289" r="2878" b="2716"/>
          <a:stretch/>
        </p:blipFill>
        <p:spPr>
          <a:xfrm>
            <a:off x="306850" y="3820450"/>
            <a:ext cx="4470700" cy="2656825"/>
          </a:xfrm>
          <a:prstGeom prst="rect">
            <a:avLst/>
          </a:prstGeom>
          <a:noFill/>
          <a:ln>
            <a:noFill/>
          </a:ln>
        </p:spPr>
      </p:pic>
      <p:pic>
        <p:nvPicPr>
          <p:cNvPr id="232" name="Google Shape;232;g26628c913b2_0_12"/>
          <p:cNvPicPr preferRelativeResize="0"/>
          <p:nvPr/>
        </p:nvPicPr>
        <p:blipFill>
          <a:blip r:embed="rId4">
            <a:alphaModFix/>
          </a:blip>
          <a:stretch>
            <a:fillRect/>
          </a:stretch>
        </p:blipFill>
        <p:spPr>
          <a:xfrm>
            <a:off x="4929950" y="905700"/>
            <a:ext cx="4061650" cy="3479718"/>
          </a:xfrm>
          <a:prstGeom prst="rect">
            <a:avLst/>
          </a:prstGeom>
          <a:noFill/>
          <a:ln>
            <a:noFill/>
          </a:ln>
        </p:spPr>
      </p:pic>
      <p:pic>
        <p:nvPicPr>
          <p:cNvPr id="233" name="Google Shape;233;g26628c913b2_0_12"/>
          <p:cNvPicPr preferRelativeResize="0"/>
          <p:nvPr/>
        </p:nvPicPr>
        <p:blipFill rotWithShape="1">
          <a:blip r:embed="rId5">
            <a:alphaModFix/>
          </a:blip>
          <a:srcRect l="1584"/>
          <a:stretch/>
        </p:blipFill>
        <p:spPr>
          <a:xfrm>
            <a:off x="306850" y="905700"/>
            <a:ext cx="4470700" cy="2762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26628c913b2_0_18"/>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Bio-macromolecules: Code- Computer or DNA</a:t>
            </a:r>
            <a:endParaRPr>
              <a:solidFill>
                <a:srgbClr val="0000FF"/>
              </a:solidFill>
              <a:latin typeface="Roboto Medium"/>
              <a:ea typeface="Roboto Medium"/>
              <a:cs typeface="Roboto Medium"/>
              <a:sym typeface="Roboto Medium"/>
            </a:endParaRPr>
          </a:p>
        </p:txBody>
      </p:sp>
      <p:sp>
        <p:nvSpPr>
          <p:cNvPr id="239" name="Google Shape;239;g26628c913b2_0_18"/>
          <p:cNvSpPr txBox="1"/>
          <p:nvPr/>
        </p:nvSpPr>
        <p:spPr>
          <a:xfrm>
            <a:off x="194775" y="873900"/>
            <a:ext cx="8949300" cy="535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latin typeface="Calibri"/>
                <a:ea typeface="Calibri"/>
                <a:cs typeface="Calibri"/>
                <a:sym typeface="Calibri"/>
              </a:rPr>
              <a:t>The genetic functions of DNA can thus be understood as the synergism of two</a:t>
            </a:r>
            <a:endParaRPr sz="2100">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properties –</a:t>
            </a:r>
            <a:endParaRPr sz="2100">
              <a:latin typeface="Calibri"/>
              <a:ea typeface="Calibri"/>
              <a:cs typeface="Calibri"/>
              <a:sym typeface="Calibri"/>
            </a:endParaRPr>
          </a:p>
          <a:p>
            <a:pPr marL="0" lvl="0" indent="0" algn="l" rtl="0">
              <a:spcBef>
                <a:spcPts val="0"/>
              </a:spcBef>
              <a:spcAft>
                <a:spcPts val="0"/>
              </a:spcAft>
              <a:buNone/>
            </a:pPr>
            <a:endParaRPr sz="2100">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[1] a tape containing the </a:t>
            </a:r>
            <a:r>
              <a:rPr lang="en-US" sz="2100" u="sng">
                <a:latin typeface="Calibri"/>
                <a:ea typeface="Calibri"/>
                <a:cs typeface="Calibri"/>
                <a:sym typeface="Calibri"/>
              </a:rPr>
              <a:t>information store encoding the sequences of RNA &amp; proteins molecules</a:t>
            </a:r>
            <a:endParaRPr sz="2100" u="sng">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[2] polymer existing as </a:t>
            </a:r>
            <a:r>
              <a:rPr lang="en-US" sz="2100" u="sng">
                <a:latin typeface="Calibri"/>
                <a:ea typeface="Calibri"/>
                <a:cs typeface="Calibri"/>
                <a:sym typeface="Calibri"/>
              </a:rPr>
              <a:t>double-helical string enabling the packaging, accessibility and replication of the information store.</a:t>
            </a:r>
            <a:endParaRPr sz="2100" u="sng">
              <a:latin typeface="Calibri"/>
              <a:ea typeface="Calibri"/>
              <a:cs typeface="Calibri"/>
              <a:sym typeface="Calibri"/>
            </a:endParaRPr>
          </a:p>
          <a:p>
            <a:pPr marL="0" lvl="0" indent="0" algn="l" rtl="0">
              <a:spcBef>
                <a:spcPts val="0"/>
              </a:spcBef>
              <a:spcAft>
                <a:spcPts val="0"/>
              </a:spcAft>
              <a:buNone/>
            </a:pPr>
            <a:endParaRPr sz="2100">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Crucially, both the coding of proteins and RNA molecules and also the physicochemical properties of the polymer are specified by the </a:t>
            </a:r>
            <a:r>
              <a:rPr lang="en-US" sz="2100" u="sng">
                <a:latin typeface="Calibri"/>
                <a:ea typeface="Calibri"/>
                <a:cs typeface="Calibri"/>
                <a:sym typeface="Calibri"/>
              </a:rPr>
              <a:t>base sequence</a:t>
            </a:r>
            <a:r>
              <a:rPr lang="en-US" sz="2100">
                <a:latin typeface="Calibri"/>
                <a:ea typeface="Calibri"/>
                <a:cs typeface="Calibri"/>
                <a:sym typeface="Calibri"/>
              </a:rPr>
              <a:t>.</a:t>
            </a:r>
            <a:endParaRPr sz="2100">
              <a:latin typeface="Calibri"/>
              <a:ea typeface="Calibri"/>
              <a:cs typeface="Calibri"/>
              <a:sym typeface="Calibri"/>
            </a:endParaRPr>
          </a:p>
          <a:p>
            <a:pPr marL="0" lvl="0" indent="0" algn="l" rtl="0">
              <a:spcBef>
                <a:spcPts val="0"/>
              </a:spcBef>
              <a:spcAft>
                <a:spcPts val="0"/>
              </a:spcAft>
              <a:buNone/>
            </a:pPr>
            <a:endParaRPr sz="2100">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In genomes, DNA molecules are generally very long, thin polymers with a diameter of 2 nm and a length that can extend to 10</a:t>
            </a:r>
            <a:r>
              <a:rPr lang="en-US" sz="2100" baseline="30000">
                <a:latin typeface="Calibri"/>
                <a:ea typeface="Calibri"/>
                <a:cs typeface="Calibri"/>
                <a:sym typeface="Calibri"/>
              </a:rPr>
              <a:t>9</a:t>
            </a:r>
            <a:r>
              <a:rPr lang="en-US" sz="2100">
                <a:latin typeface="Calibri"/>
                <a:ea typeface="Calibri"/>
                <a:cs typeface="Calibri"/>
                <a:sym typeface="Calibri"/>
              </a:rPr>
              <a:t> nm. As an information store, not only must DNA be able to encode the genetic information required to specify proteins, but also it should be packaged in a compact form that allows the accessibility of that information to be regulated.</a:t>
            </a:r>
            <a:endParaRPr sz="21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26628c913b2_0_32"/>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Genome: The Book of Life</a:t>
            </a:r>
            <a:endParaRPr>
              <a:solidFill>
                <a:srgbClr val="0000FF"/>
              </a:solidFill>
              <a:latin typeface="Roboto Medium"/>
              <a:ea typeface="Roboto Medium"/>
              <a:cs typeface="Roboto Medium"/>
              <a:sym typeface="Roboto Medium"/>
            </a:endParaRPr>
          </a:p>
        </p:txBody>
      </p:sp>
      <p:pic>
        <p:nvPicPr>
          <p:cNvPr id="245" name="Google Shape;245;g26628c913b2_0_32"/>
          <p:cNvPicPr preferRelativeResize="0"/>
          <p:nvPr/>
        </p:nvPicPr>
        <p:blipFill>
          <a:blip r:embed="rId3">
            <a:alphaModFix/>
          </a:blip>
          <a:stretch>
            <a:fillRect/>
          </a:stretch>
        </p:blipFill>
        <p:spPr>
          <a:xfrm>
            <a:off x="237750" y="1320700"/>
            <a:ext cx="8668501" cy="4103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26628c913b2_0_49"/>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Types of DNA</a:t>
            </a:r>
            <a:endParaRPr>
              <a:solidFill>
                <a:srgbClr val="0000FF"/>
              </a:solidFill>
              <a:latin typeface="Roboto Medium"/>
              <a:ea typeface="Roboto Medium"/>
              <a:cs typeface="Roboto Medium"/>
              <a:sym typeface="Roboto Medium"/>
            </a:endParaRPr>
          </a:p>
        </p:txBody>
      </p:sp>
      <p:pic>
        <p:nvPicPr>
          <p:cNvPr id="251" name="Google Shape;251;g26628c913b2_0_49"/>
          <p:cNvPicPr preferRelativeResize="0"/>
          <p:nvPr/>
        </p:nvPicPr>
        <p:blipFill rotWithShape="1">
          <a:blip r:embed="rId3">
            <a:alphaModFix/>
          </a:blip>
          <a:srcRect l="1314" t="3037" r="2029" b="2031"/>
          <a:stretch/>
        </p:blipFill>
        <p:spPr>
          <a:xfrm>
            <a:off x="814950" y="838775"/>
            <a:ext cx="6939625" cy="3675350"/>
          </a:xfrm>
          <a:prstGeom prst="rect">
            <a:avLst/>
          </a:prstGeom>
          <a:noFill/>
          <a:ln>
            <a:noFill/>
          </a:ln>
        </p:spPr>
      </p:pic>
      <p:pic>
        <p:nvPicPr>
          <p:cNvPr id="252" name="Google Shape;252;g26628c913b2_0_49"/>
          <p:cNvPicPr preferRelativeResize="0"/>
          <p:nvPr/>
        </p:nvPicPr>
        <p:blipFill rotWithShape="1">
          <a:blip r:embed="rId4">
            <a:alphaModFix/>
          </a:blip>
          <a:srcRect l="1913" t="4822" r="3371" b="9215"/>
          <a:stretch/>
        </p:blipFill>
        <p:spPr>
          <a:xfrm>
            <a:off x="606425" y="4750450"/>
            <a:ext cx="7522256" cy="1582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2b3663f5c74_0_26"/>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57142"/>
              <a:buFont typeface="Calibri"/>
              <a:buNone/>
            </a:pPr>
            <a:r>
              <a:rPr lang="en-US">
                <a:solidFill>
                  <a:srgbClr val="0000FF"/>
                </a:solidFill>
                <a:latin typeface="Roboto Medium"/>
                <a:ea typeface="Roboto Medium"/>
                <a:cs typeface="Roboto Medium"/>
                <a:sym typeface="Roboto Medium"/>
              </a:rPr>
              <a:t>Conditions Favoring A-form, B-form, and Z-form of DNA</a:t>
            </a:r>
            <a:endParaRPr>
              <a:solidFill>
                <a:srgbClr val="0000FF"/>
              </a:solidFill>
              <a:latin typeface="Roboto Medium"/>
              <a:ea typeface="Roboto Medium"/>
              <a:cs typeface="Roboto Medium"/>
              <a:sym typeface="Roboto Medium"/>
            </a:endParaRPr>
          </a:p>
        </p:txBody>
      </p:sp>
      <p:sp>
        <p:nvSpPr>
          <p:cNvPr id="258" name="Google Shape;258;g2b3663f5c74_0_26"/>
          <p:cNvSpPr txBox="1"/>
          <p:nvPr/>
        </p:nvSpPr>
        <p:spPr>
          <a:xfrm>
            <a:off x="243750" y="806800"/>
            <a:ext cx="8738100" cy="560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latin typeface="Calibri"/>
                <a:ea typeface="Calibri"/>
                <a:cs typeface="Calibri"/>
                <a:sym typeface="Calibri"/>
              </a:rPr>
              <a:t>1. The ionic or hydration environment, which can facilitate conversion between different helical forms.</a:t>
            </a:r>
            <a:endParaRPr sz="2300">
              <a:latin typeface="Calibri"/>
              <a:ea typeface="Calibri"/>
              <a:cs typeface="Calibri"/>
              <a:sym typeface="Calibri"/>
            </a:endParaRPr>
          </a:p>
          <a:p>
            <a:pPr marL="0" lvl="0" indent="0" algn="l" rtl="0">
              <a:spcBef>
                <a:spcPts val="0"/>
              </a:spcBef>
              <a:spcAft>
                <a:spcPts val="0"/>
              </a:spcAft>
              <a:buNone/>
            </a:pPr>
            <a:r>
              <a:rPr lang="en-US" sz="2300">
                <a:latin typeface="Calibri"/>
                <a:ea typeface="Calibri"/>
                <a:cs typeface="Calibri"/>
                <a:sym typeface="Calibri"/>
              </a:rPr>
              <a:t>  Eg. A-DNA: favored by low hydration</a:t>
            </a:r>
            <a:endParaRPr sz="2300">
              <a:latin typeface="Calibri"/>
              <a:ea typeface="Calibri"/>
              <a:cs typeface="Calibri"/>
              <a:sym typeface="Calibri"/>
            </a:endParaRPr>
          </a:p>
          <a:p>
            <a:pPr marL="0" lvl="0" indent="0" algn="l" rtl="0">
              <a:spcBef>
                <a:spcPts val="0"/>
              </a:spcBef>
              <a:spcAft>
                <a:spcPts val="0"/>
              </a:spcAft>
              <a:buNone/>
            </a:pPr>
            <a:r>
              <a:rPr lang="en-US" sz="2300">
                <a:latin typeface="Calibri"/>
                <a:ea typeface="Calibri"/>
                <a:cs typeface="Calibri"/>
                <a:sym typeface="Calibri"/>
              </a:rPr>
              <a:t>         Z-DNA: favored by high salt.</a:t>
            </a:r>
            <a:endParaRPr sz="2300">
              <a:latin typeface="Calibri"/>
              <a:ea typeface="Calibri"/>
              <a:cs typeface="Calibri"/>
              <a:sym typeface="Calibri"/>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US" sz="2300">
                <a:latin typeface="Calibri"/>
                <a:ea typeface="Calibri"/>
                <a:cs typeface="Calibri"/>
                <a:sym typeface="Calibri"/>
              </a:rPr>
              <a:t>2. DNA sequence:</a:t>
            </a:r>
            <a:endParaRPr sz="2300">
              <a:latin typeface="Calibri"/>
              <a:ea typeface="Calibri"/>
              <a:cs typeface="Calibri"/>
              <a:sym typeface="Calibri"/>
            </a:endParaRPr>
          </a:p>
          <a:p>
            <a:pPr marL="0" lvl="0" indent="0" algn="l" rtl="0">
              <a:spcBef>
                <a:spcPts val="0"/>
              </a:spcBef>
              <a:spcAft>
                <a:spcPts val="0"/>
              </a:spcAft>
              <a:buNone/>
            </a:pPr>
            <a:r>
              <a:rPr lang="en-US" sz="2300">
                <a:latin typeface="Calibri"/>
                <a:ea typeface="Calibri"/>
                <a:cs typeface="Calibri"/>
                <a:sym typeface="Calibri"/>
              </a:rPr>
              <a:t>•A-DNA is favored by certain stretches of purines (or pyrimidines)</a:t>
            </a:r>
            <a:endParaRPr sz="2300">
              <a:latin typeface="Calibri"/>
              <a:ea typeface="Calibri"/>
              <a:cs typeface="Calibri"/>
              <a:sym typeface="Calibri"/>
            </a:endParaRPr>
          </a:p>
          <a:p>
            <a:pPr marL="0" lvl="0" indent="0" algn="l" rtl="0">
              <a:spcBef>
                <a:spcPts val="0"/>
              </a:spcBef>
              <a:spcAft>
                <a:spcPts val="0"/>
              </a:spcAft>
              <a:buNone/>
            </a:pPr>
            <a:r>
              <a:rPr lang="en-US" sz="2300">
                <a:latin typeface="Calibri"/>
                <a:ea typeface="Calibri"/>
                <a:cs typeface="Calibri"/>
                <a:sym typeface="Calibri"/>
              </a:rPr>
              <a:t>•Z-DNA can be most readily formed by alternating purine-pyrimidine steps.</a:t>
            </a:r>
            <a:endParaRPr sz="2300">
              <a:latin typeface="Calibri"/>
              <a:ea typeface="Calibri"/>
              <a:cs typeface="Calibri"/>
              <a:sym typeface="Calibri"/>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US" sz="2300">
                <a:latin typeface="Calibri"/>
                <a:ea typeface="Calibri"/>
                <a:cs typeface="Calibri"/>
                <a:sym typeface="Calibri"/>
              </a:rPr>
              <a:t>3. Presence of proteins that can bind to DNA in one helical conformation and force the DNA to adopt a different conformation, such as proteins which bind to B-DNA and can drive it to either A-or Z forms.</a:t>
            </a:r>
            <a:endParaRPr sz="2300">
              <a:latin typeface="Calibri"/>
              <a:ea typeface="Calibri"/>
              <a:cs typeface="Calibri"/>
              <a:sym typeface="Calibri"/>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US" sz="2300">
                <a:latin typeface="Calibri"/>
                <a:ea typeface="Calibri"/>
                <a:cs typeface="Calibri"/>
                <a:sym typeface="Calibri"/>
              </a:rPr>
              <a:t>In living cells, most of the DNA is in a mixture of A and B-DNA conformations, with a few small regions capable of forming Z-DNA.</a:t>
            </a:r>
            <a:endParaRPr sz="23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b3663f5c74_0_34"/>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Brief history behind the discovery of DNA</a:t>
            </a:r>
            <a:endParaRPr>
              <a:solidFill>
                <a:srgbClr val="0000FF"/>
              </a:solidFill>
              <a:latin typeface="Roboto Medium"/>
              <a:ea typeface="Roboto Medium"/>
              <a:cs typeface="Roboto Medium"/>
              <a:sym typeface="Roboto Medium"/>
            </a:endParaRPr>
          </a:p>
        </p:txBody>
      </p:sp>
      <p:sp>
        <p:nvSpPr>
          <p:cNvPr id="264" name="Google Shape;264;g2b3663f5c74_0_34"/>
          <p:cNvSpPr txBox="1"/>
          <p:nvPr/>
        </p:nvSpPr>
        <p:spPr>
          <a:xfrm>
            <a:off x="243750" y="806800"/>
            <a:ext cx="8619600" cy="532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a:latin typeface="Calibri"/>
                <a:ea typeface="Calibri"/>
                <a:cs typeface="Calibri"/>
                <a:sym typeface="Calibri"/>
              </a:rPr>
              <a:t>Many people believe that </a:t>
            </a:r>
            <a:r>
              <a:rPr lang="en-US" sz="2100" b="1">
                <a:latin typeface="Calibri"/>
                <a:ea typeface="Calibri"/>
                <a:cs typeface="Calibri"/>
                <a:sym typeface="Calibri"/>
              </a:rPr>
              <a:t>James Watson and Francis </a:t>
            </a:r>
            <a:endParaRPr sz="2100" b="1">
              <a:latin typeface="Calibri"/>
              <a:ea typeface="Calibri"/>
              <a:cs typeface="Calibri"/>
              <a:sym typeface="Calibri"/>
            </a:endParaRPr>
          </a:p>
          <a:p>
            <a:pPr marL="0" lvl="0" indent="0" algn="l" rtl="0">
              <a:spcBef>
                <a:spcPts val="0"/>
              </a:spcBef>
              <a:spcAft>
                <a:spcPts val="0"/>
              </a:spcAft>
              <a:buNone/>
            </a:pPr>
            <a:r>
              <a:rPr lang="en-US" sz="2100" b="1">
                <a:latin typeface="Calibri"/>
                <a:ea typeface="Calibri"/>
                <a:cs typeface="Calibri"/>
                <a:sym typeface="Calibri"/>
              </a:rPr>
              <a:t>Crick</a:t>
            </a:r>
            <a:r>
              <a:rPr lang="en-US" sz="2100">
                <a:latin typeface="Calibri"/>
                <a:ea typeface="Calibri"/>
                <a:cs typeface="Calibri"/>
                <a:sym typeface="Calibri"/>
              </a:rPr>
              <a:t> discovered DNA in the 1950s. In reality, this is not </a:t>
            </a:r>
            <a:endParaRPr sz="2100">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the case.</a:t>
            </a:r>
            <a:endParaRPr sz="2100">
              <a:latin typeface="Calibri"/>
              <a:ea typeface="Calibri"/>
              <a:cs typeface="Calibri"/>
              <a:sym typeface="Calibri"/>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Rather, DNA was first identified in the late 1860s by </a:t>
            </a:r>
            <a:endParaRPr sz="2100">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Swiss chemist </a:t>
            </a:r>
            <a:r>
              <a:rPr lang="en-US" sz="2100" b="1">
                <a:latin typeface="Calibri"/>
                <a:ea typeface="Calibri"/>
                <a:cs typeface="Calibri"/>
                <a:sym typeface="Calibri"/>
              </a:rPr>
              <a:t>Friedrich Miescher</a:t>
            </a:r>
            <a:r>
              <a:rPr lang="en-US" sz="2100">
                <a:latin typeface="Calibri"/>
                <a:ea typeface="Calibri"/>
                <a:cs typeface="Calibri"/>
                <a:sym typeface="Calibri"/>
              </a:rPr>
              <a:t>.</a:t>
            </a:r>
            <a:endParaRPr sz="2100">
              <a:latin typeface="Calibri"/>
              <a:ea typeface="Calibri"/>
              <a:cs typeface="Calibri"/>
              <a:sym typeface="Calibri"/>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Then, in the decades following Miescher's discovery, other scientists--notably, </a:t>
            </a:r>
            <a:r>
              <a:rPr lang="en-US" sz="2100" b="1">
                <a:latin typeface="Calibri"/>
                <a:ea typeface="Calibri"/>
                <a:cs typeface="Calibri"/>
                <a:sym typeface="Calibri"/>
              </a:rPr>
              <a:t>Phoebus Levene</a:t>
            </a:r>
            <a:r>
              <a:rPr lang="en-US" sz="2100">
                <a:latin typeface="Calibri"/>
                <a:ea typeface="Calibri"/>
                <a:cs typeface="Calibri"/>
                <a:sym typeface="Calibri"/>
              </a:rPr>
              <a:t> and </a:t>
            </a:r>
            <a:r>
              <a:rPr lang="en-US" sz="2100" b="1">
                <a:latin typeface="Calibri"/>
                <a:ea typeface="Calibri"/>
                <a:cs typeface="Calibri"/>
                <a:sym typeface="Calibri"/>
              </a:rPr>
              <a:t>Erwin Chargaff</a:t>
            </a:r>
            <a:r>
              <a:rPr lang="en-US" sz="2100">
                <a:latin typeface="Calibri"/>
                <a:ea typeface="Calibri"/>
                <a:cs typeface="Calibri"/>
                <a:sym typeface="Calibri"/>
              </a:rPr>
              <a:t>--carried out a series of research efforts that revealed additional details about the DNA molecule, including its primary chemical components and the ways in which they joined with one another.</a:t>
            </a:r>
            <a:endParaRPr sz="2100">
              <a:latin typeface="Calibri"/>
              <a:ea typeface="Calibri"/>
              <a:cs typeface="Calibri"/>
              <a:sym typeface="Calibri"/>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Further, </a:t>
            </a:r>
            <a:r>
              <a:rPr lang="en-US" sz="2100" b="1">
                <a:latin typeface="Calibri"/>
                <a:ea typeface="Calibri"/>
                <a:cs typeface="Calibri"/>
                <a:sym typeface="Calibri"/>
              </a:rPr>
              <a:t>Rosalind Elsie Franklin</a:t>
            </a:r>
            <a:r>
              <a:rPr lang="en-US" sz="2100">
                <a:latin typeface="Calibri"/>
                <a:ea typeface="Calibri"/>
                <a:cs typeface="Calibri"/>
                <a:sym typeface="Calibri"/>
              </a:rPr>
              <a:t> (British chemist and X-ray crystallographer) got the X-ray diffraction images of DNA</a:t>
            </a:r>
            <a:endParaRPr sz="2100">
              <a:latin typeface="Calibri"/>
              <a:ea typeface="Calibri"/>
              <a:cs typeface="Calibri"/>
              <a:sym typeface="Calibri"/>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US" sz="2100">
                <a:latin typeface="Calibri"/>
                <a:ea typeface="Calibri"/>
                <a:cs typeface="Calibri"/>
                <a:sym typeface="Calibri"/>
              </a:rPr>
              <a:t>Without the scientific foundation provided by these pioneers, Watson and Crick may never have reached their groundbreaking conclusion of 1953: that the DNA molecule exists in the form of a three-dimensional double helix.</a:t>
            </a:r>
            <a:endParaRPr sz="2100">
              <a:latin typeface="Calibri"/>
              <a:ea typeface="Calibri"/>
              <a:cs typeface="Calibri"/>
              <a:sym typeface="Calibri"/>
            </a:endParaRPr>
          </a:p>
        </p:txBody>
      </p:sp>
      <p:sp>
        <p:nvSpPr>
          <p:cNvPr id="265" name="Google Shape;265;g2b3663f5c74_0_34"/>
          <p:cNvSpPr txBox="1"/>
          <p:nvPr/>
        </p:nvSpPr>
        <p:spPr>
          <a:xfrm>
            <a:off x="4063050" y="6081175"/>
            <a:ext cx="4672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i="1">
                <a:solidFill>
                  <a:srgbClr val="0000FF"/>
                </a:solidFill>
              </a:rPr>
              <a:t>https://youtu.be/NGBDFq5Kaw0?si=t4ofs5MB_HSY6TDl</a:t>
            </a:r>
            <a:endParaRPr i="1">
              <a:solidFill>
                <a:srgbClr val="0000FF"/>
              </a:solidFill>
            </a:endParaRPr>
          </a:p>
        </p:txBody>
      </p:sp>
      <p:pic>
        <p:nvPicPr>
          <p:cNvPr id="266" name="Google Shape;266;g2b3663f5c74_0_34"/>
          <p:cNvPicPr preferRelativeResize="0"/>
          <p:nvPr/>
        </p:nvPicPr>
        <p:blipFill rotWithShape="1">
          <a:blip r:embed="rId3">
            <a:alphaModFix/>
          </a:blip>
          <a:srcRect t="2837" r="3966" b="3502"/>
          <a:stretch/>
        </p:blipFill>
        <p:spPr>
          <a:xfrm>
            <a:off x="6706775" y="806800"/>
            <a:ext cx="2232775" cy="2039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g2b3663f5c74_0_48"/>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DNA as genetic material</a:t>
            </a:r>
            <a:endParaRPr>
              <a:solidFill>
                <a:srgbClr val="0000FF"/>
              </a:solidFill>
              <a:latin typeface="Roboto Medium"/>
              <a:ea typeface="Roboto Medium"/>
              <a:cs typeface="Roboto Medium"/>
              <a:sym typeface="Roboto Medium"/>
            </a:endParaRPr>
          </a:p>
        </p:txBody>
      </p:sp>
      <p:pic>
        <p:nvPicPr>
          <p:cNvPr id="272" name="Google Shape;272;g2b3663f5c74_0_48"/>
          <p:cNvPicPr preferRelativeResize="0"/>
          <p:nvPr/>
        </p:nvPicPr>
        <p:blipFill>
          <a:blip r:embed="rId3">
            <a:alphaModFix/>
          </a:blip>
          <a:stretch>
            <a:fillRect/>
          </a:stretch>
        </p:blipFill>
        <p:spPr>
          <a:xfrm>
            <a:off x="265200" y="922000"/>
            <a:ext cx="5850874" cy="3130650"/>
          </a:xfrm>
          <a:prstGeom prst="rect">
            <a:avLst/>
          </a:prstGeom>
          <a:noFill/>
          <a:ln>
            <a:noFill/>
          </a:ln>
        </p:spPr>
      </p:pic>
      <p:pic>
        <p:nvPicPr>
          <p:cNvPr id="273" name="Google Shape;273;g2b3663f5c74_0_48"/>
          <p:cNvPicPr preferRelativeResize="0"/>
          <p:nvPr/>
        </p:nvPicPr>
        <p:blipFill>
          <a:blip r:embed="rId4">
            <a:alphaModFix/>
          </a:blip>
          <a:stretch>
            <a:fillRect/>
          </a:stretch>
        </p:blipFill>
        <p:spPr>
          <a:xfrm>
            <a:off x="3971700" y="907475"/>
            <a:ext cx="4891575" cy="5533100"/>
          </a:xfrm>
          <a:prstGeom prst="rect">
            <a:avLst/>
          </a:prstGeom>
          <a:noFill/>
          <a:ln>
            <a:noFill/>
          </a:ln>
        </p:spPr>
      </p:pic>
      <p:sp>
        <p:nvSpPr>
          <p:cNvPr id="274" name="Google Shape;274;g2b3663f5c74_0_48"/>
          <p:cNvSpPr txBox="1"/>
          <p:nvPr/>
        </p:nvSpPr>
        <p:spPr>
          <a:xfrm>
            <a:off x="265200" y="4390825"/>
            <a:ext cx="35175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Human: 30,000 genes (unique)</a:t>
            </a:r>
            <a:endParaRPr sz="1900" b="1">
              <a:solidFill>
                <a:schemeClr val="dk2"/>
              </a:solidFill>
              <a:latin typeface="Calibri"/>
              <a:ea typeface="Calibri"/>
              <a:cs typeface="Calibri"/>
              <a:sym typeface="Calibri"/>
            </a:endParaRPr>
          </a:p>
        </p:txBody>
      </p:sp>
      <p:sp>
        <p:nvSpPr>
          <p:cNvPr id="275" name="Google Shape;275;g2b3663f5c74_0_48"/>
          <p:cNvSpPr txBox="1"/>
          <p:nvPr/>
        </p:nvSpPr>
        <p:spPr>
          <a:xfrm>
            <a:off x="265200" y="4932350"/>
            <a:ext cx="33435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a:latin typeface="Calibri"/>
                <a:ea typeface="Calibri"/>
                <a:cs typeface="Calibri"/>
                <a:sym typeface="Calibri"/>
              </a:rPr>
              <a:t>The nuclear genome comprises ~ 3 200 000 000 nucleotides of DNA</a:t>
            </a:r>
            <a:endParaRPr sz="2000" b="1">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g2b3663f5c74_0_57"/>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The human genome project</a:t>
            </a:r>
            <a:endParaRPr>
              <a:solidFill>
                <a:srgbClr val="0000FF"/>
              </a:solidFill>
              <a:latin typeface="Roboto Medium"/>
              <a:ea typeface="Roboto Medium"/>
              <a:cs typeface="Roboto Medium"/>
              <a:sym typeface="Roboto Medium"/>
            </a:endParaRPr>
          </a:p>
        </p:txBody>
      </p:sp>
      <p:pic>
        <p:nvPicPr>
          <p:cNvPr id="281" name="Google Shape;281;g2b3663f5c74_0_57"/>
          <p:cNvPicPr preferRelativeResize="0"/>
          <p:nvPr/>
        </p:nvPicPr>
        <p:blipFill rotWithShape="1">
          <a:blip r:embed="rId3">
            <a:alphaModFix/>
          </a:blip>
          <a:srcRect b="4141"/>
          <a:stretch/>
        </p:blipFill>
        <p:spPr>
          <a:xfrm>
            <a:off x="248425" y="967975"/>
            <a:ext cx="6632801" cy="2501472"/>
          </a:xfrm>
          <a:prstGeom prst="rect">
            <a:avLst/>
          </a:prstGeom>
          <a:noFill/>
          <a:ln>
            <a:noFill/>
          </a:ln>
        </p:spPr>
      </p:pic>
      <p:sp>
        <p:nvSpPr>
          <p:cNvPr id="282" name="Google Shape;282;g2b3663f5c74_0_57"/>
          <p:cNvSpPr txBox="1"/>
          <p:nvPr/>
        </p:nvSpPr>
        <p:spPr>
          <a:xfrm>
            <a:off x="346000" y="3582600"/>
            <a:ext cx="18186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HGP Timeline</a:t>
            </a:r>
            <a:endParaRPr sz="1900" b="1">
              <a:solidFill>
                <a:schemeClr val="dk2"/>
              </a:solidFill>
              <a:latin typeface="Calibri"/>
              <a:ea typeface="Calibri"/>
              <a:cs typeface="Calibri"/>
              <a:sym typeface="Calibri"/>
            </a:endParaRPr>
          </a:p>
        </p:txBody>
      </p:sp>
      <p:cxnSp>
        <p:nvCxnSpPr>
          <p:cNvPr id="283" name="Google Shape;283;g2b3663f5c74_0_57"/>
          <p:cNvCxnSpPr/>
          <p:nvPr/>
        </p:nvCxnSpPr>
        <p:spPr>
          <a:xfrm>
            <a:off x="732996" y="4704200"/>
            <a:ext cx="7597800" cy="0"/>
          </a:xfrm>
          <a:prstGeom prst="straightConnector1">
            <a:avLst/>
          </a:prstGeom>
          <a:noFill/>
          <a:ln w="19050" cap="flat" cmpd="sng">
            <a:solidFill>
              <a:schemeClr val="dk2"/>
            </a:solidFill>
            <a:prstDash val="solid"/>
            <a:round/>
            <a:headEnd type="none" w="med" len="med"/>
            <a:tailEnd type="none" w="med" len="med"/>
          </a:ln>
        </p:spPr>
      </p:cxnSp>
      <p:cxnSp>
        <p:nvCxnSpPr>
          <p:cNvPr id="284" name="Google Shape;284;g2b3663f5c74_0_57"/>
          <p:cNvCxnSpPr/>
          <p:nvPr/>
        </p:nvCxnSpPr>
        <p:spPr>
          <a:xfrm>
            <a:off x="749269" y="4719600"/>
            <a:ext cx="0" cy="292800"/>
          </a:xfrm>
          <a:prstGeom prst="straightConnector1">
            <a:avLst/>
          </a:prstGeom>
          <a:noFill/>
          <a:ln w="19050" cap="flat" cmpd="sng">
            <a:solidFill>
              <a:schemeClr val="dk2"/>
            </a:solidFill>
            <a:prstDash val="solid"/>
            <a:round/>
            <a:headEnd type="none" w="med" len="med"/>
            <a:tailEnd type="triangle" w="med" len="med"/>
          </a:ln>
        </p:spPr>
      </p:cxnSp>
      <p:sp>
        <p:nvSpPr>
          <p:cNvPr id="285" name="Google Shape;285;g2b3663f5c74_0_57"/>
          <p:cNvSpPr txBox="1"/>
          <p:nvPr/>
        </p:nvSpPr>
        <p:spPr>
          <a:xfrm>
            <a:off x="148222" y="4893411"/>
            <a:ext cx="14442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Launched in </a:t>
            </a:r>
            <a:endParaRPr sz="1900" b="1">
              <a:solidFill>
                <a:schemeClr val="dk2"/>
              </a:solidFill>
              <a:latin typeface="Calibri"/>
              <a:ea typeface="Calibri"/>
              <a:cs typeface="Calibri"/>
              <a:sym typeface="Calibri"/>
            </a:endParaRPr>
          </a:p>
          <a:p>
            <a:pPr marL="0" lvl="0" indent="0" algn="l" rtl="0">
              <a:spcBef>
                <a:spcPts val="0"/>
              </a:spcBef>
              <a:spcAft>
                <a:spcPts val="0"/>
              </a:spcAft>
              <a:buNone/>
            </a:pPr>
            <a:r>
              <a:rPr lang="en-US" sz="1900" b="1">
                <a:solidFill>
                  <a:schemeClr val="dk2"/>
                </a:solidFill>
                <a:latin typeface="Calibri"/>
                <a:ea typeface="Calibri"/>
                <a:cs typeface="Calibri"/>
                <a:sym typeface="Calibri"/>
              </a:rPr>
              <a:t>US</a:t>
            </a:r>
            <a:endParaRPr sz="1900" b="1">
              <a:solidFill>
                <a:schemeClr val="dk2"/>
              </a:solidFill>
              <a:latin typeface="Calibri"/>
              <a:ea typeface="Calibri"/>
              <a:cs typeface="Calibri"/>
              <a:sym typeface="Calibri"/>
            </a:endParaRPr>
          </a:p>
        </p:txBody>
      </p:sp>
      <p:cxnSp>
        <p:nvCxnSpPr>
          <p:cNvPr id="286" name="Google Shape;286;g2b3663f5c74_0_57"/>
          <p:cNvCxnSpPr/>
          <p:nvPr/>
        </p:nvCxnSpPr>
        <p:spPr>
          <a:xfrm>
            <a:off x="2548103" y="4719600"/>
            <a:ext cx="0" cy="292800"/>
          </a:xfrm>
          <a:prstGeom prst="straightConnector1">
            <a:avLst/>
          </a:prstGeom>
          <a:noFill/>
          <a:ln w="19050" cap="flat" cmpd="sng">
            <a:solidFill>
              <a:schemeClr val="dk2"/>
            </a:solidFill>
            <a:prstDash val="solid"/>
            <a:round/>
            <a:headEnd type="none" w="med" len="med"/>
            <a:tailEnd type="triangle" w="med" len="med"/>
          </a:ln>
        </p:spPr>
      </p:cxnSp>
      <p:cxnSp>
        <p:nvCxnSpPr>
          <p:cNvPr id="287" name="Google Shape;287;g2b3663f5c74_0_57"/>
          <p:cNvCxnSpPr/>
          <p:nvPr/>
        </p:nvCxnSpPr>
        <p:spPr>
          <a:xfrm>
            <a:off x="4376903" y="4719600"/>
            <a:ext cx="0" cy="292800"/>
          </a:xfrm>
          <a:prstGeom prst="straightConnector1">
            <a:avLst/>
          </a:prstGeom>
          <a:noFill/>
          <a:ln w="19050" cap="flat" cmpd="sng">
            <a:solidFill>
              <a:schemeClr val="dk2"/>
            </a:solidFill>
            <a:prstDash val="solid"/>
            <a:round/>
            <a:headEnd type="none" w="med" len="med"/>
            <a:tailEnd type="triangle" w="med" len="med"/>
          </a:ln>
        </p:spPr>
      </p:cxnSp>
      <p:cxnSp>
        <p:nvCxnSpPr>
          <p:cNvPr id="288" name="Google Shape;288;g2b3663f5c74_0_57"/>
          <p:cNvCxnSpPr/>
          <p:nvPr/>
        </p:nvCxnSpPr>
        <p:spPr>
          <a:xfrm>
            <a:off x="6281903" y="4719600"/>
            <a:ext cx="0" cy="292800"/>
          </a:xfrm>
          <a:prstGeom prst="straightConnector1">
            <a:avLst/>
          </a:prstGeom>
          <a:noFill/>
          <a:ln w="19050" cap="flat" cmpd="sng">
            <a:solidFill>
              <a:schemeClr val="dk2"/>
            </a:solidFill>
            <a:prstDash val="solid"/>
            <a:round/>
            <a:headEnd type="none" w="med" len="med"/>
            <a:tailEnd type="triangle" w="med" len="med"/>
          </a:ln>
        </p:spPr>
      </p:cxnSp>
      <p:cxnSp>
        <p:nvCxnSpPr>
          <p:cNvPr id="289" name="Google Shape;289;g2b3663f5c74_0_57"/>
          <p:cNvCxnSpPr/>
          <p:nvPr/>
        </p:nvCxnSpPr>
        <p:spPr>
          <a:xfrm>
            <a:off x="8323891" y="4704189"/>
            <a:ext cx="0" cy="292800"/>
          </a:xfrm>
          <a:prstGeom prst="straightConnector1">
            <a:avLst/>
          </a:prstGeom>
          <a:noFill/>
          <a:ln w="19050" cap="flat" cmpd="sng">
            <a:solidFill>
              <a:schemeClr val="dk2"/>
            </a:solidFill>
            <a:prstDash val="solid"/>
            <a:round/>
            <a:headEnd type="none" w="med" len="med"/>
            <a:tailEnd type="triangle" w="med" len="med"/>
          </a:ln>
        </p:spPr>
      </p:cxnSp>
      <p:sp>
        <p:nvSpPr>
          <p:cNvPr id="290" name="Google Shape;290;g2b3663f5c74_0_57"/>
          <p:cNvSpPr txBox="1"/>
          <p:nvPr/>
        </p:nvSpPr>
        <p:spPr>
          <a:xfrm>
            <a:off x="6957425" y="4893411"/>
            <a:ext cx="2077500" cy="10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Finished version of human genome published (92%)</a:t>
            </a:r>
            <a:endParaRPr sz="1900" b="1">
              <a:solidFill>
                <a:schemeClr val="dk2"/>
              </a:solidFill>
              <a:latin typeface="Calibri"/>
              <a:ea typeface="Calibri"/>
              <a:cs typeface="Calibri"/>
              <a:sym typeface="Calibri"/>
            </a:endParaRPr>
          </a:p>
        </p:txBody>
      </p:sp>
      <p:sp>
        <p:nvSpPr>
          <p:cNvPr id="291" name="Google Shape;291;g2b3663f5c74_0_57"/>
          <p:cNvSpPr txBox="1"/>
          <p:nvPr/>
        </p:nvSpPr>
        <p:spPr>
          <a:xfrm>
            <a:off x="346000" y="4211800"/>
            <a:ext cx="9396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1990: </a:t>
            </a:r>
            <a:endParaRPr/>
          </a:p>
        </p:txBody>
      </p:sp>
      <p:sp>
        <p:nvSpPr>
          <p:cNvPr id="292" name="Google Shape;292;g2b3663f5c74_0_57"/>
          <p:cNvSpPr txBox="1"/>
          <p:nvPr/>
        </p:nvSpPr>
        <p:spPr>
          <a:xfrm>
            <a:off x="7826725" y="4227200"/>
            <a:ext cx="9396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2003: </a:t>
            </a:r>
            <a:endParaRPr/>
          </a:p>
        </p:txBody>
      </p:sp>
      <p:sp>
        <p:nvSpPr>
          <p:cNvPr id="293" name="Google Shape;293;g2b3663f5c74_0_57"/>
          <p:cNvSpPr txBox="1"/>
          <p:nvPr/>
        </p:nvSpPr>
        <p:spPr>
          <a:xfrm>
            <a:off x="2098600" y="4211800"/>
            <a:ext cx="9396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1996: </a:t>
            </a:r>
            <a:endParaRPr/>
          </a:p>
        </p:txBody>
      </p:sp>
      <p:sp>
        <p:nvSpPr>
          <p:cNvPr id="294" name="Google Shape;294;g2b3663f5c74_0_57"/>
          <p:cNvSpPr txBox="1"/>
          <p:nvPr/>
        </p:nvSpPr>
        <p:spPr>
          <a:xfrm>
            <a:off x="1519822" y="4893411"/>
            <a:ext cx="19275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Human genome</a:t>
            </a:r>
            <a:endParaRPr sz="1900" b="1">
              <a:solidFill>
                <a:schemeClr val="dk2"/>
              </a:solidFill>
              <a:latin typeface="Calibri"/>
              <a:ea typeface="Calibri"/>
              <a:cs typeface="Calibri"/>
              <a:sym typeface="Calibri"/>
            </a:endParaRPr>
          </a:p>
          <a:p>
            <a:pPr marL="0" lvl="0" indent="0" algn="l" rtl="0">
              <a:spcBef>
                <a:spcPts val="0"/>
              </a:spcBef>
              <a:spcAft>
                <a:spcPts val="0"/>
              </a:spcAft>
              <a:buNone/>
            </a:pPr>
            <a:r>
              <a:rPr lang="en-US" sz="1900" b="1">
                <a:solidFill>
                  <a:schemeClr val="dk2"/>
                </a:solidFill>
                <a:latin typeface="Calibri"/>
                <a:ea typeface="Calibri"/>
                <a:cs typeface="Calibri"/>
                <a:sym typeface="Calibri"/>
              </a:rPr>
              <a:t>map established</a:t>
            </a:r>
            <a:endParaRPr sz="1900" b="1">
              <a:solidFill>
                <a:schemeClr val="dk2"/>
              </a:solidFill>
              <a:latin typeface="Calibri"/>
              <a:ea typeface="Calibri"/>
              <a:cs typeface="Calibri"/>
              <a:sym typeface="Calibri"/>
            </a:endParaRPr>
          </a:p>
        </p:txBody>
      </p:sp>
      <p:sp>
        <p:nvSpPr>
          <p:cNvPr id="295" name="Google Shape;295;g2b3663f5c74_0_57"/>
          <p:cNvSpPr txBox="1"/>
          <p:nvPr/>
        </p:nvSpPr>
        <p:spPr>
          <a:xfrm>
            <a:off x="3348625" y="4893400"/>
            <a:ext cx="2077500" cy="164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Incorporation of the 30K genes in human gene map;</a:t>
            </a:r>
            <a:endParaRPr sz="1900" b="1">
              <a:solidFill>
                <a:schemeClr val="dk2"/>
              </a:solidFill>
              <a:latin typeface="Calibri"/>
              <a:ea typeface="Calibri"/>
              <a:cs typeface="Calibri"/>
              <a:sym typeface="Calibri"/>
            </a:endParaRPr>
          </a:p>
          <a:p>
            <a:pPr marL="0" lvl="0" indent="0" algn="l" rtl="0">
              <a:spcBef>
                <a:spcPts val="0"/>
              </a:spcBef>
              <a:spcAft>
                <a:spcPts val="0"/>
              </a:spcAft>
              <a:buNone/>
            </a:pPr>
            <a:r>
              <a:rPr lang="en-US" sz="1900" b="1">
                <a:solidFill>
                  <a:schemeClr val="dk2"/>
                </a:solidFill>
                <a:latin typeface="Calibri"/>
                <a:ea typeface="Calibri"/>
                <a:cs typeface="Calibri"/>
                <a:sym typeface="Calibri"/>
              </a:rPr>
              <a:t>chr 22 fully sequenced</a:t>
            </a:r>
            <a:endParaRPr sz="1900" b="1">
              <a:solidFill>
                <a:schemeClr val="dk2"/>
              </a:solidFill>
              <a:latin typeface="Calibri"/>
              <a:ea typeface="Calibri"/>
              <a:cs typeface="Calibri"/>
              <a:sym typeface="Calibri"/>
            </a:endParaRPr>
          </a:p>
        </p:txBody>
      </p:sp>
      <p:sp>
        <p:nvSpPr>
          <p:cNvPr id="296" name="Google Shape;296;g2b3663f5c74_0_57"/>
          <p:cNvSpPr txBox="1"/>
          <p:nvPr/>
        </p:nvSpPr>
        <p:spPr>
          <a:xfrm>
            <a:off x="5276122" y="4890811"/>
            <a:ext cx="1927500" cy="10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Draft version of human genome published</a:t>
            </a:r>
            <a:endParaRPr sz="1900" b="1">
              <a:solidFill>
                <a:schemeClr val="dk2"/>
              </a:solidFill>
              <a:latin typeface="Calibri"/>
              <a:ea typeface="Calibri"/>
              <a:cs typeface="Calibri"/>
              <a:sym typeface="Calibri"/>
            </a:endParaRPr>
          </a:p>
        </p:txBody>
      </p:sp>
      <p:sp>
        <p:nvSpPr>
          <p:cNvPr id="297" name="Google Shape;297;g2b3663f5c74_0_57"/>
          <p:cNvSpPr txBox="1"/>
          <p:nvPr/>
        </p:nvSpPr>
        <p:spPr>
          <a:xfrm>
            <a:off x="3927400" y="4211800"/>
            <a:ext cx="1348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1998; 1999 </a:t>
            </a:r>
            <a:endParaRPr/>
          </a:p>
        </p:txBody>
      </p:sp>
      <p:sp>
        <p:nvSpPr>
          <p:cNvPr id="298" name="Google Shape;298;g2b3663f5c74_0_57"/>
          <p:cNvSpPr txBox="1"/>
          <p:nvPr/>
        </p:nvSpPr>
        <p:spPr>
          <a:xfrm>
            <a:off x="5832400" y="4211800"/>
            <a:ext cx="9396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2"/>
                </a:solidFill>
                <a:latin typeface="Calibri"/>
                <a:ea typeface="Calibri"/>
                <a:cs typeface="Calibri"/>
                <a:sym typeface="Calibri"/>
              </a:rPr>
              <a:t>2001:  </a:t>
            </a:r>
            <a:endParaRPr/>
          </a:p>
        </p:txBody>
      </p:sp>
      <p:sp>
        <p:nvSpPr>
          <p:cNvPr id="299" name="Google Shape;299;g2b3663f5c74_0_57"/>
          <p:cNvSpPr txBox="1"/>
          <p:nvPr/>
        </p:nvSpPr>
        <p:spPr>
          <a:xfrm>
            <a:off x="6998525" y="2266800"/>
            <a:ext cx="1927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t>Celera Genomics, Craig Venter (Privately funded)</a:t>
            </a:r>
            <a:endParaRPr b="1"/>
          </a:p>
        </p:txBody>
      </p:sp>
      <p:sp>
        <p:nvSpPr>
          <p:cNvPr id="300" name="Google Shape;300;g2b3663f5c74_0_57"/>
          <p:cNvSpPr txBox="1"/>
          <p:nvPr/>
        </p:nvSpPr>
        <p:spPr>
          <a:xfrm>
            <a:off x="6998525" y="971400"/>
            <a:ext cx="19275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t>United States govt. through the National Institutes of Health (Publicly funded)</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2b3663f5c74_0_61"/>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Evolution of sequencing technologies</a:t>
            </a:r>
            <a:endParaRPr>
              <a:solidFill>
                <a:srgbClr val="0000FF"/>
              </a:solidFill>
              <a:latin typeface="Roboto Medium"/>
              <a:ea typeface="Roboto Medium"/>
              <a:cs typeface="Roboto Medium"/>
              <a:sym typeface="Roboto Medium"/>
            </a:endParaRPr>
          </a:p>
        </p:txBody>
      </p:sp>
      <p:pic>
        <p:nvPicPr>
          <p:cNvPr id="306" name="Google Shape;306;g2b3663f5c74_0_61"/>
          <p:cNvPicPr preferRelativeResize="0"/>
          <p:nvPr/>
        </p:nvPicPr>
        <p:blipFill>
          <a:blip r:embed="rId3">
            <a:alphaModFix/>
          </a:blip>
          <a:stretch>
            <a:fillRect/>
          </a:stretch>
        </p:blipFill>
        <p:spPr>
          <a:xfrm>
            <a:off x="439200" y="921125"/>
            <a:ext cx="8321349" cy="5364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310"/>
        <p:cNvGrpSpPr/>
        <p:nvPr/>
      </p:nvGrpSpPr>
      <p:grpSpPr>
        <a:xfrm>
          <a:off x="0" y="0"/>
          <a:ext cx="0" cy="0"/>
          <a:chOff x="0" y="0"/>
          <a:chExt cx="0" cy="0"/>
        </a:xfrm>
      </p:grpSpPr>
      <p:sp>
        <p:nvSpPr>
          <p:cNvPr id="311" name="Google Shape;311;g2b3663f5c74_0_65"/>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Each genome has a unique story!</a:t>
            </a:r>
            <a:endParaRPr>
              <a:solidFill>
                <a:srgbClr val="0000FF"/>
              </a:solidFill>
              <a:latin typeface="Roboto Medium"/>
              <a:ea typeface="Roboto Medium"/>
              <a:cs typeface="Roboto Medium"/>
              <a:sym typeface="Roboto Medium"/>
            </a:endParaRPr>
          </a:p>
        </p:txBody>
      </p:sp>
      <p:pic>
        <p:nvPicPr>
          <p:cNvPr id="312" name="Google Shape;312;g2b3663f5c74_0_65"/>
          <p:cNvPicPr preferRelativeResize="0"/>
          <p:nvPr/>
        </p:nvPicPr>
        <p:blipFill>
          <a:blip r:embed="rId3">
            <a:alphaModFix/>
          </a:blip>
          <a:stretch>
            <a:fillRect/>
          </a:stretch>
        </p:blipFill>
        <p:spPr>
          <a:xfrm>
            <a:off x="237750" y="890300"/>
            <a:ext cx="8668499" cy="41772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dna sequence&#10;&#10;AI-generated content may be incorrect.">
            <a:extLst>
              <a:ext uri="{FF2B5EF4-FFF2-40B4-BE49-F238E27FC236}">
                <a16:creationId xmlns:a16="http://schemas.microsoft.com/office/drawing/2014/main" id="{378A4B2F-41CF-10AE-E2A6-3D816B228A21}"/>
              </a:ext>
            </a:extLst>
          </p:cNvPr>
          <p:cNvPicPr>
            <a:picLocks noChangeAspect="1"/>
          </p:cNvPicPr>
          <p:nvPr/>
        </p:nvPicPr>
        <p:blipFill>
          <a:blip r:embed="rId2"/>
          <a:stretch>
            <a:fillRect/>
          </a:stretch>
        </p:blipFill>
        <p:spPr>
          <a:xfrm>
            <a:off x="1154414" y="199663"/>
            <a:ext cx="6835172" cy="5743339"/>
          </a:xfrm>
          <a:prstGeom prst="rect">
            <a:avLst/>
          </a:prstGeom>
        </p:spPr>
      </p:pic>
    </p:spTree>
    <p:extLst>
      <p:ext uri="{BB962C8B-B14F-4D97-AF65-F5344CB8AC3E}">
        <p14:creationId xmlns:p14="http://schemas.microsoft.com/office/powerpoint/2010/main" val="3279081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2b3663f5c74_0_69"/>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Genes get altered: Mutations</a:t>
            </a:r>
            <a:endParaRPr>
              <a:solidFill>
                <a:srgbClr val="0000FF"/>
              </a:solidFill>
              <a:latin typeface="Roboto Medium"/>
              <a:ea typeface="Roboto Medium"/>
              <a:cs typeface="Roboto Medium"/>
              <a:sym typeface="Roboto Medium"/>
            </a:endParaRPr>
          </a:p>
        </p:txBody>
      </p:sp>
      <p:sp>
        <p:nvSpPr>
          <p:cNvPr id="318" name="Google Shape;318;g2b3663f5c74_0_69"/>
          <p:cNvSpPr/>
          <p:nvPr/>
        </p:nvSpPr>
        <p:spPr>
          <a:xfrm>
            <a:off x="670500" y="1169900"/>
            <a:ext cx="2666100" cy="1047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19" name="Google Shape;319;g2b3663f5c74_0_69"/>
          <p:cNvSpPr txBox="1"/>
          <p:nvPr/>
        </p:nvSpPr>
        <p:spPr>
          <a:xfrm>
            <a:off x="967050" y="1325150"/>
            <a:ext cx="20730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solidFill>
                  <a:schemeClr val="dk2"/>
                </a:solidFill>
                <a:latin typeface="Calibri"/>
                <a:ea typeface="Calibri"/>
                <a:cs typeface="Calibri"/>
                <a:sym typeface="Calibri"/>
              </a:rPr>
              <a:t>Substitution</a:t>
            </a:r>
            <a:endParaRPr sz="2600" b="1">
              <a:solidFill>
                <a:schemeClr val="dk2"/>
              </a:solidFill>
              <a:latin typeface="Calibri"/>
              <a:ea typeface="Calibri"/>
              <a:cs typeface="Calibri"/>
              <a:sym typeface="Calibri"/>
            </a:endParaRPr>
          </a:p>
        </p:txBody>
      </p:sp>
      <p:sp>
        <p:nvSpPr>
          <p:cNvPr id="320" name="Google Shape;320;g2b3663f5c74_0_69"/>
          <p:cNvSpPr/>
          <p:nvPr/>
        </p:nvSpPr>
        <p:spPr>
          <a:xfrm>
            <a:off x="2346900" y="2312900"/>
            <a:ext cx="2666100" cy="1047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21" name="Google Shape;321;g2b3663f5c74_0_69"/>
          <p:cNvSpPr txBox="1"/>
          <p:nvPr/>
        </p:nvSpPr>
        <p:spPr>
          <a:xfrm>
            <a:off x="2453925" y="2315750"/>
            <a:ext cx="24828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solidFill>
                  <a:schemeClr val="dk2"/>
                </a:solidFill>
                <a:latin typeface="Calibri"/>
                <a:ea typeface="Calibri"/>
                <a:cs typeface="Calibri"/>
                <a:sym typeface="Calibri"/>
              </a:rPr>
              <a:t>Indel: Insertion/ Deletion</a:t>
            </a:r>
            <a:endParaRPr sz="2600" b="1">
              <a:solidFill>
                <a:schemeClr val="dk2"/>
              </a:solidFill>
              <a:latin typeface="Calibri"/>
              <a:ea typeface="Calibri"/>
              <a:cs typeface="Calibri"/>
              <a:sym typeface="Calibri"/>
            </a:endParaRPr>
          </a:p>
        </p:txBody>
      </p:sp>
      <p:sp>
        <p:nvSpPr>
          <p:cNvPr id="322" name="Google Shape;322;g2b3663f5c74_0_69"/>
          <p:cNvSpPr/>
          <p:nvPr/>
        </p:nvSpPr>
        <p:spPr>
          <a:xfrm>
            <a:off x="3947100" y="3455900"/>
            <a:ext cx="2666100" cy="1047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23" name="Google Shape;323;g2b3663f5c74_0_69"/>
          <p:cNvSpPr txBox="1"/>
          <p:nvPr/>
        </p:nvSpPr>
        <p:spPr>
          <a:xfrm>
            <a:off x="4435125" y="3687350"/>
            <a:ext cx="18366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solidFill>
                  <a:schemeClr val="dk2"/>
                </a:solidFill>
                <a:latin typeface="Calibri"/>
                <a:ea typeface="Calibri"/>
                <a:cs typeface="Calibri"/>
                <a:sym typeface="Calibri"/>
              </a:rPr>
              <a:t>Duplication</a:t>
            </a:r>
            <a:endParaRPr sz="2600" b="1">
              <a:solidFill>
                <a:schemeClr val="dk2"/>
              </a:solidFill>
              <a:latin typeface="Calibri"/>
              <a:ea typeface="Calibri"/>
              <a:cs typeface="Calibri"/>
              <a:sym typeface="Calibri"/>
            </a:endParaRPr>
          </a:p>
        </p:txBody>
      </p:sp>
      <p:sp>
        <p:nvSpPr>
          <p:cNvPr id="324" name="Google Shape;324;g2b3663f5c74_0_69"/>
          <p:cNvSpPr/>
          <p:nvPr/>
        </p:nvSpPr>
        <p:spPr>
          <a:xfrm>
            <a:off x="5775900" y="4598900"/>
            <a:ext cx="2666100" cy="1047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25" name="Google Shape;325;g2b3663f5c74_0_69"/>
          <p:cNvSpPr txBox="1"/>
          <p:nvPr/>
        </p:nvSpPr>
        <p:spPr>
          <a:xfrm>
            <a:off x="6263925" y="4601750"/>
            <a:ext cx="20730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b="1">
                <a:solidFill>
                  <a:schemeClr val="dk2"/>
                </a:solidFill>
                <a:latin typeface="Calibri"/>
                <a:ea typeface="Calibri"/>
                <a:cs typeface="Calibri"/>
                <a:sym typeface="Calibri"/>
              </a:rPr>
              <a:t>Repeat expansion</a:t>
            </a:r>
            <a:endParaRPr sz="2600" b="1">
              <a:solidFill>
                <a:schemeClr val="dk2"/>
              </a:solidFill>
              <a:latin typeface="Calibri"/>
              <a:ea typeface="Calibri"/>
              <a:cs typeface="Calibri"/>
              <a:sym typeface="Calibri"/>
            </a:endParaRPr>
          </a:p>
        </p:txBody>
      </p:sp>
      <p:cxnSp>
        <p:nvCxnSpPr>
          <p:cNvPr id="326" name="Google Shape;326;g2b3663f5c74_0_69"/>
          <p:cNvCxnSpPr/>
          <p:nvPr/>
        </p:nvCxnSpPr>
        <p:spPr>
          <a:xfrm rot="10800000" flipH="1">
            <a:off x="3336600" y="1108250"/>
            <a:ext cx="1201200" cy="433200"/>
          </a:xfrm>
          <a:prstGeom prst="straightConnector1">
            <a:avLst/>
          </a:prstGeom>
          <a:noFill/>
          <a:ln w="9525" cap="flat" cmpd="sng">
            <a:solidFill>
              <a:schemeClr val="dk2"/>
            </a:solidFill>
            <a:prstDash val="solid"/>
            <a:round/>
            <a:headEnd type="none" w="med" len="med"/>
            <a:tailEnd type="triangle" w="med" len="med"/>
          </a:ln>
        </p:spPr>
      </p:cxnSp>
      <p:cxnSp>
        <p:nvCxnSpPr>
          <p:cNvPr id="327" name="Google Shape;327;g2b3663f5c74_0_69"/>
          <p:cNvCxnSpPr/>
          <p:nvPr/>
        </p:nvCxnSpPr>
        <p:spPr>
          <a:xfrm rot="10800000" flipH="1">
            <a:off x="3336600" y="1524350"/>
            <a:ext cx="1386300" cy="169500"/>
          </a:xfrm>
          <a:prstGeom prst="straightConnector1">
            <a:avLst/>
          </a:prstGeom>
          <a:noFill/>
          <a:ln w="9525" cap="flat" cmpd="sng">
            <a:solidFill>
              <a:schemeClr val="dk2"/>
            </a:solidFill>
            <a:prstDash val="solid"/>
            <a:round/>
            <a:headEnd type="none" w="med" len="med"/>
            <a:tailEnd type="triangle" w="med" len="med"/>
          </a:ln>
        </p:spPr>
      </p:cxnSp>
      <p:cxnSp>
        <p:nvCxnSpPr>
          <p:cNvPr id="328" name="Google Shape;328;g2b3663f5c74_0_69"/>
          <p:cNvCxnSpPr/>
          <p:nvPr/>
        </p:nvCxnSpPr>
        <p:spPr>
          <a:xfrm>
            <a:off x="3336600" y="1998650"/>
            <a:ext cx="1478700" cy="3600"/>
          </a:xfrm>
          <a:prstGeom prst="straightConnector1">
            <a:avLst/>
          </a:prstGeom>
          <a:noFill/>
          <a:ln w="9525" cap="flat" cmpd="sng">
            <a:solidFill>
              <a:schemeClr val="dk2"/>
            </a:solidFill>
            <a:prstDash val="solid"/>
            <a:round/>
            <a:headEnd type="none" w="med" len="med"/>
            <a:tailEnd type="triangle" w="med" len="med"/>
          </a:ln>
        </p:spPr>
      </p:cxnSp>
      <p:sp>
        <p:nvSpPr>
          <p:cNvPr id="329" name="Google Shape;329;g2b3663f5c74_0_69"/>
          <p:cNvSpPr txBox="1"/>
          <p:nvPr/>
        </p:nvSpPr>
        <p:spPr>
          <a:xfrm>
            <a:off x="4559275" y="756350"/>
            <a:ext cx="1550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solidFill>
                  <a:schemeClr val="dk2"/>
                </a:solidFill>
                <a:latin typeface="Calibri"/>
                <a:ea typeface="Calibri"/>
                <a:cs typeface="Calibri"/>
                <a:sym typeface="Calibri"/>
              </a:rPr>
              <a:t>Missense</a:t>
            </a:r>
            <a:endParaRPr sz="1800" b="1">
              <a:solidFill>
                <a:schemeClr val="dk2"/>
              </a:solidFill>
              <a:latin typeface="Calibri"/>
              <a:ea typeface="Calibri"/>
              <a:cs typeface="Calibri"/>
              <a:sym typeface="Calibri"/>
            </a:endParaRPr>
          </a:p>
        </p:txBody>
      </p:sp>
      <p:sp>
        <p:nvSpPr>
          <p:cNvPr id="330" name="Google Shape;330;g2b3663f5c74_0_69"/>
          <p:cNvSpPr txBox="1"/>
          <p:nvPr/>
        </p:nvSpPr>
        <p:spPr>
          <a:xfrm>
            <a:off x="4711675" y="1289750"/>
            <a:ext cx="1550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solidFill>
                  <a:schemeClr val="dk2"/>
                </a:solidFill>
                <a:latin typeface="Calibri"/>
                <a:ea typeface="Calibri"/>
                <a:cs typeface="Calibri"/>
                <a:sym typeface="Calibri"/>
              </a:rPr>
              <a:t>Nonsense</a:t>
            </a:r>
            <a:endParaRPr sz="1800" b="1">
              <a:solidFill>
                <a:schemeClr val="dk2"/>
              </a:solidFill>
              <a:latin typeface="Calibri"/>
              <a:ea typeface="Calibri"/>
              <a:cs typeface="Calibri"/>
              <a:sym typeface="Calibri"/>
            </a:endParaRPr>
          </a:p>
        </p:txBody>
      </p:sp>
      <p:sp>
        <p:nvSpPr>
          <p:cNvPr id="331" name="Google Shape;331;g2b3663f5c74_0_69"/>
          <p:cNvSpPr txBox="1"/>
          <p:nvPr/>
        </p:nvSpPr>
        <p:spPr>
          <a:xfrm>
            <a:off x="4787875" y="1746950"/>
            <a:ext cx="1550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solidFill>
                  <a:schemeClr val="dk2"/>
                </a:solidFill>
                <a:latin typeface="Calibri"/>
                <a:ea typeface="Calibri"/>
                <a:cs typeface="Calibri"/>
                <a:sym typeface="Calibri"/>
              </a:rPr>
              <a:t>silent</a:t>
            </a:r>
            <a:endParaRPr sz="1800" b="1">
              <a:solidFill>
                <a:schemeClr val="dk2"/>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2b3663f5c74_0_73"/>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Genes get altered: Mutations</a:t>
            </a:r>
            <a:endParaRPr>
              <a:solidFill>
                <a:srgbClr val="0000FF"/>
              </a:solidFill>
              <a:latin typeface="Roboto Medium"/>
              <a:ea typeface="Roboto Medium"/>
              <a:cs typeface="Roboto Medium"/>
              <a:sym typeface="Roboto Medium"/>
            </a:endParaRPr>
          </a:p>
        </p:txBody>
      </p:sp>
      <p:sp>
        <p:nvSpPr>
          <p:cNvPr id="337" name="Google Shape;337;g2b3663f5c74_0_73"/>
          <p:cNvSpPr txBox="1"/>
          <p:nvPr/>
        </p:nvSpPr>
        <p:spPr>
          <a:xfrm>
            <a:off x="719325" y="837488"/>
            <a:ext cx="3597600" cy="493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sz="2800">
                <a:solidFill>
                  <a:srgbClr val="000000"/>
                </a:solidFill>
                <a:latin typeface="Calibri"/>
                <a:ea typeface="Calibri"/>
                <a:cs typeface="Calibri"/>
                <a:sym typeface="Calibri"/>
              </a:rPr>
              <a:t>Substitution mutations</a:t>
            </a:r>
            <a:endParaRPr sz="2800">
              <a:solidFill>
                <a:srgbClr val="000000"/>
              </a:solidFill>
              <a:latin typeface="Calibri"/>
              <a:ea typeface="Calibri"/>
              <a:cs typeface="Calibri"/>
              <a:sym typeface="Calibri"/>
            </a:endParaRPr>
          </a:p>
        </p:txBody>
      </p:sp>
      <p:pic>
        <p:nvPicPr>
          <p:cNvPr id="338" name="Google Shape;338;g2b3663f5c74_0_73"/>
          <p:cNvPicPr preferRelativeResize="0"/>
          <p:nvPr/>
        </p:nvPicPr>
        <p:blipFill rotWithShape="1">
          <a:blip r:embed="rId3">
            <a:alphaModFix/>
          </a:blip>
          <a:srcRect r="3456" b="32230"/>
          <a:stretch/>
        </p:blipFill>
        <p:spPr>
          <a:xfrm>
            <a:off x="252100" y="1415475"/>
            <a:ext cx="4162475" cy="3714325"/>
          </a:xfrm>
          <a:prstGeom prst="rect">
            <a:avLst/>
          </a:prstGeom>
          <a:noFill/>
          <a:ln>
            <a:noFill/>
          </a:ln>
        </p:spPr>
      </p:pic>
      <p:pic>
        <p:nvPicPr>
          <p:cNvPr id="339" name="Google Shape;339;g2b3663f5c74_0_73"/>
          <p:cNvPicPr preferRelativeResize="0"/>
          <p:nvPr/>
        </p:nvPicPr>
        <p:blipFill rotWithShape="1">
          <a:blip r:embed="rId3">
            <a:alphaModFix/>
          </a:blip>
          <a:srcRect t="70703" r="3157"/>
          <a:stretch/>
        </p:blipFill>
        <p:spPr>
          <a:xfrm>
            <a:off x="4594375" y="1402675"/>
            <a:ext cx="4268900" cy="1641501"/>
          </a:xfrm>
          <a:prstGeom prst="rect">
            <a:avLst/>
          </a:prstGeom>
          <a:noFill/>
          <a:ln>
            <a:noFill/>
          </a:ln>
        </p:spPr>
      </p:pic>
      <p:sp>
        <p:nvSpPr>
          <p:cNvPr id="340" name="Google Shape;340;g2b3663f5c74_0_73"/>
          <p:cNvSpPr txBox="1"/>
          <p:nvPr/>
        </p:nvSpPr>
        <p:spPr>
          <a:xfrm>
            <a:off x="5157750" y="837500"/>
            <a:ext cx="3597600" cy="493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sz="2800">
                <a:solidFill>
                  <a:srgbClr val="000000"/>
                </a:solidFill>
                <a:latin typeface="Calibri"/>
                <a:ea typeface="Calibri"/>
                <a:cs typeface="Calibri"/>
                <a:sym typeface="Calibri"/>
              </a:rPr>
              <a:t>Indels mutations</a:t>
            </a:r>
            <a:endParaRPr sz="280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g2b3663f5c74_0_77"/>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Why the change matter to us?</a:t>
            </a:r>
            <a:endParaRPr>
              <a:solidFill>
                <a:srgbClr val="0000FF"/>
              </a:solidFill>
              <a:latin typeface="Roboto Medium"/>
              <a:ea typeface="Roboto Medium"/>
              <a:cs typeface="Roboto Medium"/>
              <a:sym typeface="Roboto Medium"/>
            </a:endParaRPr>
          </a:p>
        </p:txBody>
      </p:sp>
      <p:pic>
        <p:nvPicPr>
          <p:cNvPr id="346" name="Google Shape;346;g2b3663f5c74_0_77"/>
          <p:cNvPicPr preferRelativeResize="0"/>
          <p:nvPr/>
        </p:nvPicPr>
        <p:blipFill>
          <a:blip r:embed="rId3">
            <a:alphaModFix/>
          </a:blip>
          <a:stretch>
            <a:fillRect/>
          </a:stretch>
        </p:blipFill>
        <p:spPr>
          <a:xfrm>
            <a:off x="1189350" y="859475"/>
            <a:ext cx="7664026" cy="5590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g267994c7a4b_0_13"/>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57142"/>
              <a:buFont typeface="Calibri"/>
              <a:buNone/>
            </a:pPr>
            <a:r>
              <a:rPr lang="en-US">
                <a:solidFill>
                  <a:srgbClr val="0000FF"/>
                </a:solidFill>
                <a:latin typeface="Roboto Medium"/>
                <a:ea typeface="Roboto Medium"/>
                <a:cs typeface="Roboto Medium"/>
                <a:sym typeface="Roboto Medium"/>
              </a:rPr>
              <a:t>Bio-macromolecules: DNA- Learning from the structure</a:t>
            </a:r>
            <a:endParaRPr>
              <a:solidFill>
                <a:srgbClr val="0000FF"/>
              </a:solidFill>
              <a:latin typeface="Roboto Medium"/>
              <a:ea typeface="Roboto Medium"/>
              <a:cs typeface="Roboto Medium"/>
              <a:sym typeface="Roboto Medium"/>
            </a:endParaRPr>
          </a:p>
        </p:txBody>
      </p:sp>
      <p:pic>
        <p:nvPicPr>
          <p:cNvPr id="352" name="Google Shape;352;g267994c7a4b_0_13"/>
          <p:cNvPicPr preferRelativeResize="0"/>
          <p:nvPr/>
        </p:nvPicPr>
        <p:blipFill rotWithShape="1">
          <a:blip r:embed="rId3">
            <a:alphaModFix/>
          </a:blip>
          <a:srcRect t="2905" r="10354" b="3056"/>
          <a:stretch/>
        </p:blipFill>
        <p:spPr>
          <a:xfrm>
            <a:off x="374925" y="875725"/>
            <a:ext cx="3515650" cy="4847500"/>
          </a:xfrm>
          <a:prstGeom prst="rect">
            <a:avLst/>
          </a:prstGeom>
          <a:noFill/>
          <a:ln>
            <a:noFill/>
          </a:ln>
        </p:spPr>
      </p:pic>
      <p:pic>
        <p:nvPicPr>
          <p:cNvPr id="353" name="Google Shape;353;g267994c7a4b_0_13"/>
          <p:cNvPicPr preferRelativeResize="0"/>
          <p:nvPr/>
        </p:nvPicPr>
        <p:blipFill rotWithShape="1">
          <a:blip r:embed="rId4">
            <a:alphaModFix/>
          </a:blip>
          <a:srcRect l="3623" t="5704"/>
          <a:stretch/>
        </p:blipFill>
        <p:spPr>
          <a:xfrm>
            <a:off x="4450500" y="1092825"/>
            <a:ext cx="4388699" cy="3094925"/>
          </a:xfrm>
          <a:prstGeom prst="rect">
            <a:avLst/>
          </a:prstGeom>
          <a:noFill/>
          <a:ln>
            <a:noFill/>
          </a:ln>
        </p:spPr>
      </p:pic>
      <p:sp>
        <p:nvSpPr>
          <p:cNvPr id="354" name="Google Shape;354;g267994c7a4b_0_13"/>
          <p:cNvSpPr txBox="1"/>
          <p:nvPr/>
        </p:nvSpPr>
        <p:spPr>
          <a:xfrm>
            <a:off x="4437975" y="4340150"/>
            <a:ext cx="43887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latin typeface="Calibri"/>
                <a:ea typeface="Calibri"/>
                <a:cs typeface="Calibri"/>
                <a:sym typeface="Calibri"/>
              </a:rPr>
              <a:t>Residential building in Taipei, Taiwan</a:t>
            </a:r>
            <a:endParaRPr sz="2200">
              <a:latin typeface="Calibri"/>
              <a:ea typeface="Calibri"/>
              <a:cs typeface="Calibri"/>
              <a:sym typeface="Calibri"/>
            </a:endParaRPr>
          </a:p>
        </p:txBody>
      </p:sp>
      <p:sp>
        <p:nvSpPr>
          <p:cNvPr id="355" name="Google Shape;355;g267994c7a4b_0_13"/>
          <p:cNvSpPr txBox="1"/>
          <p:nvPr/>
        </p:nvSpPr>
        <p:spPr>
          <a:xfrm>
            <a:off x="374925" y="5845650"/>
            <a:ext cx="43887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latin typeface="Calibri"/>
                <a:ea typeface="Calibri"/>
                <a:cs typeface="Calibri"/>
                <a:sym typeface="Calibri"/>
              </a:rPr>
              <a:t>Evolution Tower, Moscow</a:t>
            </a:r>
            <a:endParaRPr sz="22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2b3663f5c74_0_111"/>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Have you heard DNA??</a:t>
            </a:r>
            <a:endParaRPr>
              <a:solidFill>
                <a:srgbClr val="0000FF"/>
              </a:solidFill>
              <a:latin typeface="Roboto Medium"/>
              <a:ea typeface="Roboto Medium"/>
              <a:cs typeface="Roboto Medium"/>
              <a:sym typeface="Roboto Medium"/>
            </a:endParaRPr>
          </a:p>
        </p:txBody>
      </p:sp>
      <p:sp>
        <p:nvSpPr>
          <p:cNvPr id="361" name="Google Shape;361;g2b3663f5c74_0_111"/>
          <p:cNvSpPr txBox="1"/>
          <p:nvPr/>
        </p:nvSpPr>
        <p:spPr>
          <a:xfrm>
            <a:off x="366450" y="5415150"/>
            <a:ext cx="84969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i="1" u="sng">
                <a:solidFill>
                  <a:schemeClr val="hlink"/>
                </a:solidFill>
                <a:hlinkClick r:id="rId3"/>
              </a:rPr>
              <a:t>https://www.smithsonianmag.com/science-nature/why-scientists-are-turning-molecules-into-music-180980022/</a:t>
            </a:r>
            <a:endParaRPr i="1">
              <a:solidFill>
                <a:schemeClr val="accent6"/>
              </a:solidFill>
            </a:endParaRPr>
          </a:p>
          <a:p>
            <a:pPr marL="0" lvl="0" indent="0" algn="l" rtl="0">
              <a:spcBef>
                <a:spcPts val="0"/>
              </a:spcBef>
              <a:spcAft>
                <a:spcPts val="0"/>
              </a:spcAft>
              <a:buNone/>
            </a:pPr>
            <a:endParaRPr i="1">
              <a:solidFill>
                <a:schemeClr val="accent6"/>
              </a:solidFill>
            </a:endParaRPr>
          </a:p>
          <a:p>
            <a:pPr marL="0" lvl="0" indent="0" algn="l" rtl="0">
              <a:spcBef>
                <a:spcPts val="0"/>
              </a:spcBef>
              <a:spcAft>
                <a:spcPts val="0"/>
              </a:spcAft>
              <a:buNone/>
            </a:pPr>
            <a:r>
              <a:rPr lang="en-US" i="1" u="sng">
                <a:solidFill>
                  <a:schemeClr val="hlink"/>
                </a:solidFill>
                <a:hlinkClick r:id="rId4"/>
              </a:rPr>
              <a:t>https://www.youtube.com/watch?v=3nPK_O1dRmY</a:t>
            </a:r>
            <a:endParaRPr i="1">
              <a:solidFill>
                <a:schemeClr val="accent6"/>
              </a:solidFill>
            </a:endParaRPr>
          </a:p>
        </p:txBody>
      </p:sp>
      <p:pic>
        <p:nvPicPr>
          <p:cNvPr id="362" name="Google Shape;362;g2b3663f5c74_0_111"/>
          <p:cNvPicPr preferRelativeResize="0"/>
          <p:nvPr/>
        </p:nvPicPr>
        <p:blipFill>
          <a:blip r:embed="rId5">
            <a:alphaModFix/>
          </a:blip>
          <a:stretch>
            <a:fillRect/>
          </a:stretch>
        </p:blipFill>
        <p:spPr>
          <a:xfrm>
            <a:off x="741350" y="984225"/>
            <a:ext cx="7023565" cy="4357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267994c7a4b_0_21"/>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57142"/>
              <a:buFont typeface="Calibri"/>
              <a:buNone/>
            </a:pPr>
            <a:r>
              <a:rPr lang="en-US">
                <a:solidFill>
                  <a:srgbClr val="0000FF"/>
                </a:solidFill>
                <a:latin typeface="Roboto Medium"/>
                <a:ea typeface="Roboto Medium"/>
                <a:cs typeface="Roboto Medium"/>
                <a:sym typeface="Roboto Medium"/>
              </a:rPr>
              <a:t>How to take care of large amount of digital information?</a:t>
            </a:r>
            <a:endParaRPr>
              <a:solidFill>
                <a:srgbClr val="0000FF"/>
              </a:solidFill>
              <a:latin typeface="Roboto Medium"/>
              <a:ea typeface="Roboto Medium"/>
              <a:cs typeface="Roboto Medium"/>
              <a:sym typeface="Roboto Medium"/>
            </a:endParaRPr>
          </a:p>
        </p:txBody>
      </p:sp>
      <p:pic>
        <p:nvPicPr>
          <p:cNvPr id="368" name="Google Shape;368;g267994c7a4b_0_21"/>
          <p:cNvPicPr preferRelativeResize="0"/>
          <p:nvPr/>
        </p:nvPicPr>
        <p:blipFill>
          <a:blip r:embed="rId3">
            <a:alphaModFix/>
          </a:blip>
          <a:stretch>
            <a:fillRect/>
          </a:stretch>
        </p:blipFill>
        <p:spPr>
          <a:xfrm>
            <a:off x="5047200" y="3860900"/>
            <a:ext cx="3816075" cy="2129500"/>
          </a:xfrm>
          <a:prstGeom prst="rect">
            <a:avLst/>
          </a:prstGeom>
          <a:noFill/>
          <a:ln>
            <a:noFill/>
          </a:ln>
        </p:spPr>
      </p:pic>
      <p:pic>
        <p:nvPicPr>
          <p:cNvPr id="369" name="Google Shape;369;g267994c7a4b_0_21"/>
          <p:cNvPicPr preferRelativeResize="0"/>
          <p:nvPr/>
        </p:nvPicPr>
        <p:blipFill>
          <a:blip r:embed="rId4">
            <a:alphaModFix/>
          </a:blip>
          <a:stretch>
            <a:fillRect/>
          </a:stretch>
        </p:blipFill>
        <p:spPr>
          <a:xfrm>
            <a:off x="1809750" y="3860900"/>
            <a:ext cx="2990850" cy="2647950"/>
          </a:xfrm>
          <a:prstGeom prst="rect">
            <a:avLst/>
          </a:prstGeom>
          <a:noFill/>
          <a:ln>
            <a:noFill/>
          </a:ln>
        </p:spPr>
      </p:pic>
      <p:pic>
        <p:nvPicPr>
          <p:cNvPr id="370" name="Google Shape;370;g267994c7a4b_0_21"/>
          <p:cNvPicPr preferRelativeResize="0"/>
          <p:nvPr/>
        </p:nvPicPr>
        <p:blipFill>
          <a:blip r:embed="rId5">
            <a:alphaModFix/>
          </a:blip>
          <a:stretch>
            <a:fillRect/>
          </a:stretch>
        </p:blipFill>
        <p:spPr>
          <a:xfrm>
            <a:off x="6120075" y="1008063"/>
            <a:ext cx="2743200" cy="1924050"/>
          </a:xfrm>
          <a:prstGeom prst="rect">
            <a:avLst/>
          </a:prstGeom>
          <a:noFill/>
          <a:ln>
            <a:noFill/>
          </a:ln>
        </p:spPr>
      </p:pic>
      <p:pic>
        <p:nvPicPr>
          <p:cNvPr id="371" name="Google Shape;371;g267994c7a4b_0_21"/>
          <p:cNvPicPr preferRelativeResize="0"/>
          <p:nvPr/>
        </p:nvPicPr>
        <p:blipFill rotWithShape="1">
          <a:blip r:embed="rId6">
            <a:alphaModFix/>
          </a:blip>
          <a:srcRect t="4589"/>
          <a:stretch/>
        </p:blipFill>
        <p:spPr>
          <a:xfrm>
            <a:off x="250125" y="848374"/>
            <a:ext cx="2365750" cy="3088725"/>
          </a:xfrm>
          <a:prstGeom prst="rect">
            <a:avLst/>
          </a:prstGeom>
          <a:noFill/>
          <a:ln>
            <a:noFill/>
          </a:ln>
        </p:spPr>
      </p:pic>
      <p:pic>
        <p:nvPicPr>
          <p:cNvPr id="372" name="Google Shape;372;g267994c7a4b_0_21"/>
          <p:cNvPicPr preferRelativeResize="0"/>
          <p:nvPr/>
        </p:nvPicPr>
        <p:blipFill rotWithShape="1">
          <a:blip r:embed="rId7">
            <a:alphaModFix/>
          </a:blip>
          <a:srcRect t="7685" r="3119" b="7947"/>
          <a:stretch/>
        </p:blipFill>
        <p:spPr>
          <a:xfrm>
            <a:off x="2851100" y="1075126"/>
            <a:ext cx="2916000" cy="1857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267994c7a4b_0_36"/>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Science or Fiction</a:t>
            </a:r>
            <a:endParaRPr>
              <a:solidFill>
                <a:srgbClr val="0000FF"/>
              </a:solidFill>
              <a:latin typeface="Roboto Medium"/>
              <a:ea typeface="Roboto Medium"/>
              <a:cs typeface="Roboto Medium"/>
              <a:sym typeface="Roboto Medium"/>
            </a:endParaRPr>
          </a:p>
        </p:txBody>
      </p:sp>
      <p:sp>
        <p:nvSpPr>
          <p:cNvPr id="378" name="Google Shape;378;g267994c7a4b_0_36"/>
          <p:cNvSpPr txBox="1"/>
          <p:nvPr/>
        </p:nvSpPr>
        <p:spPr>
          <a:xfrm>
            <a:off x="260025" y="5664700"/>
            <a:ext cx="8251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a:latin typeface="Calibri"/>
                <a:ea typeface="Calibri"/>
                <a:cs typeface="Calibri"/>
                <a:sym typeface="Calibri"/>
              </a:rPr>
              <a:t>After IoT ------DoT is the Science of tomorrow!!!</a:t>
            </a:r>
            <a:endParaRPr sz="3200">
              <a:latin typeface="Calibri"/>
              <a:ea typeface="Calibri"/>
              <a:cs typeface="Calibri"/>
              <a:sym typeface="Calibri"/>
            </a:endParaRPr>
          </a:p>
        </p:txBody>
      </p:sp>
      <p:pic>
        <p:nvPicPr>
          <p:cNvPr id="379" name="Google Shape;379;g267994c7a4b_0_36"/>
          <p:cNvPicPr preferRelativeResize="0"/>
          <p:nvPr/>
        </p:nvPicPr>
        <p:blipFill rotWithShape="1">
          <a:blip r:embed="rId3">
            <a:alphaModFix/>
          </a:blip>
          <a:srcRect l="1932" r="3343"/>
          <a:stretch/>
        </p:blipFill>
        <p:spPr>
          <a:xfrm>
            <a:off x="323100" y="905700"/>
            <a:ext cx="8373075" cy="3826725"/>
          </a:xfrm>
          <a:prstGeom prst="rect">
            <a:avLst/>
          </a:prstGeom>
          <a:noFill/>
          <a:ln>
            <a:noFill/>
          </a:ln>
        </p:spPr>
      </p:pic>
      <p:sp>
        <p:nvSpPr>
          <p:cNvPr id="380" name="Google Shape;380;g267994c7a4b_0_36"/>
          <p:cNvSpPr txBox="1"/>
          <p:nvPr/>
        </p:nvSpPr>
        <p:spPr>
          <a:xfrm>
            <a:off x="524275" y="4884825"/>
            <a:ext cx="4491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i="1" u="sng" dirty="0">
                <a:solidFill>
                  <a:schemeClr val="hlink"/>
                </a:solidFill>
                <a:latin typeface="Calibri"/>
                <a:ea typeface="Calibri"/>
                <a:cs typeface="Calibri"/>
                <a:sym typeface="Calibri"/>
                <a:hlinkClick r:id="rId4"/>
              </a:rPr>
              <a:t>https://www.youtube.com/watch?v=Vky3h5_mFYY</a:t>
            </a:r>
            <a:endParaRPr sz="1600" i="1" dirty="0">
              <a:solidFill>
                <a:schemeClr val="accent6"/>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g267994c7a4b_0_30"/>
          <p:cNvSpPr txBox="1">
            <a:spLocks noGrp="1"/>
          </p:cNvSpPr>
          <p:nvPr>
            <p:ph type="title" idx="4294967295"/>
          </p:nvPr>
        </p:nvSpPr>
        <p:spPr>
          <a:xfrm>
            <a:off x="194775" y="2286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solidFill>
                  <a:srgbClr val="0000FF"/>
                </a:solidFill>
                <a:latin typeface="Roboto Medium"/>
                <a:ea typeface="Roboto Medium"/>
                <a:cs typeface="Roboto Medium"/>
                <a:sym typeface="Roboto Medium"/>
              </a:rPr>
              <a:t>DNA of things – DoT</a:t>
            </a:r>
            <a:endParaRPr>
              <a:solidFill>
                <a:srgbClr val="0000FF"/>
              </a:solidFill>
              <a:latin typeface="Roboto Medium"/>
              <a:ea typeface="Roboto Medium"/>
              <a:cs typeface="Roboto Medium"/>
              <a:sym typeface="Roboto Medium"/>
            </a:endParaRPr>
          </a:p>
        </p:txBody>
      </p:sp>
      <p:pic>
        <p:nvPicPr>
          <p:cNvPr id="386" name="Google Shape;386;g267994c7a4b_0_30"/>
          <p:cNvPicPr preferRelativeResize="0"/>
          <p:nvPr/>
        </p:nvPicPr>
        <p:blipFill>
          <a:blip r:embed="rId3">
            <a:alphaModFix/>
          </a:blip>
          <a:stretch>
            <a:fillRect/>
          </a:stretch>
        </p:blipFill>
        <p:spPr>
          <a:xfrm>
            <a:off x="466725" y="829500"/>
            <a:ext cx="8058150" cy="1866900"/>
          </a:xfrm>
          <a:prstGeom prst="rect">
            <a:avLst/>
          </a:prstGeom>
          <a:noFill/>
          <a:ln>
            <a:noFill/>
          </a:ln>
        </p:spPr>
      </p:pic>
      <p:pic>
        <p:nvPicPr>
          <p:cNvPr id="387" name="Google Shape;387;g267994c7a4b_0_30"/>
          <p:cNvPicPr preferRelativeResize="0"/>
          <p:nvPr/>
        </p:nvPicPr>
        <p:blipFill>
          <a:blip r:embed="rId4">
            <a:alphaModFix/>
          </a:blip>
          <a:stretch>
            <a:fillRect/>
          </a:stretch>
        </p:blipFill>
        <p:spPr>
          <a:xfrm>
            <a:off x="466725" y="2696400"/>
            <a:ext cx="5461200" cy="3843075"/>
          </a:xfrm>
          <a:prstGeom prst="rect">
            <a:avLst/>
          </a:prstGeom>
          <a:noFill/>
          <a:ln>
            <a:noFill/>
          </a:ln>
        </p:spPr>
      </p:pic>
      <p:sp>
        <p:nvSpPr>
          <p:cNvPr id="388" name="Google Shape;388;g267994c7a4b_0_30"/>
          <p:cNvSpPr txBox="1"/>
          <p:nvPr/>
        </p:nvSpPr>
        <p:spPr>
          <a:xfrm>
            <a:off x="5971000" y="281340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t>Nature Biotechnology volume 38, (2020)</a:t>
            </a:r>
            <a:endParaRPr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2656a8d398b_0_402"/>
          <p:cNvSpPr txBox="1">
            <a:spLocks noGrp="1"/>
          </p:cNvSpPr>
          <p:nvPr>
            <p:ph type="title" idx="4294967295"/>
          </p:nvPr>
        </p:nvSpPr>
        <p:spPr>
          <a:xfrm>
            <a:off x="194775" y="304800"/>
            <a:ext cx="8668500" cy="524700"/>
          </a:xfrm>
          <a:prstGeom prst="rect">
            <a:avLst/>
          </a:prstGeom>
          <a:solidFill>
            <a:srgbClr val="FCE5CD"/>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solidFill>
                  <a:srgbClr val="0000FF"/>
                </a:solidFill>
                <a:latin typeface="Roboto Medium"/>
                <a:ea typeface="Roboto Medium"/>
                <a:cs typeface="Roboto Medium"/>
                <a:sym typeface="Roboto Medium"/>
              </a:rPr>
              <a:t>Bibliography</a:t>
            </a:r>
            <a:endParaRPr>
              <a:solidFill>
                <a:srgbClr val="0000FF"/>
              </a:solidFill>
              <a:latin typeface="Roboto Medium"/>
              <a:ea typeface="Roboto Medium"/>
              <a:cs typeface="Roboto Medium"/>
              <a:sym typeface="Roboto Medium"/>
            </a:endParaRPr>
          </a:p>
        </p:txBody>
      </p:sp>
      <p:sp>
        <p:nvSpPr>
          <p:cNvPr id="394" name="Google Shape;394;g2656a8d398b_0_402"/>
          <p:cNvSpPr txBox="1"/>
          <p:nvPr/>
        </p:nvSpPr>
        <p:spPr>
          <a:xfrm>
            <a:off x="366175" y="948200"/>
            <a:ext cx="7212300" cy="661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100"/>
              <a:buFont typeface="Arial"/>
              <a:buNone/>
            </a:pPr>
            <a:r>
              <a:rPr lang="en-US" sz="3100" b="1" i="0" u="none" strike="noStrike" cap="none">
                <a:solidFill>
                  <a:schemeClr val="dk2"/>
                </a:solidFill>
                <a:latin typeface="Calibri"/>
                <a:ea typeface="Calibri"/>
                <a:cs typeface="Calibri"/>
                <a:sym typeface="Calibri"/>
              </a:rPr>
              <a:t>Biochemistry: Voet, Voet, Pratt</a:t>
            </a:r>
            <a:endParaRPr sz="3100" b="1" i="0" u="none" strike="noStrike" cap="none">
              <a:solidFill>
                <a:schemeClr val="dk2"/>
              </a:solidFill>
              <a:latin typeface="Calibri"/>
              <a:ea typeface="Calibri"/>
              <a:cs typeface="Calibri"/>
              <a:sym typeface="Calibri"/>
            </a:endParaRPr>
          </a:p>
        </p:txBody>
      </p:sp>
      <p:sp>
        <p:nvSpPr>
          <p:cNvPr id="395" name="Google Shape;395;g2656a8d398b_0_402"/>
          <p:cNvSpPr txBox="1"/>
          <p:nvPr/>
        </p:nvSpPr>
        <p:spPr>
          <a:xfrm>
            <a:off x="366175" y="1786400"/>
            <a:ext cx="7212300" cy="661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100"/>
              <a:buFont typeface="Arial"/>
              <a:buNone/>
            </a:pPr>
            <a:r>
              <a:rPr lang="en-US" sz="3100" b="1" i="0" u="none" strike="noStrike" cap="none">
                <a:solidFill>
                  <a:schemeClr val="dk2"/>
                </a:solidFill>
                <a:latin typeface="Calibri"/>
                <a:ea typeface="Calibri"/>
                <a:cs typeface="Calibri"/>
                <a:sym typeface="Calibri"/>
              </a:rPr>
              <a:t>Biology- A global Approach: Campbell </a:t>
            </a:r>
            <a:endParaRPr sz="3100" b="1" i="0" u="none" strike="noStrike" cap="none">
              <a:solidFill>
                <a:schemeClr val="dk2"/>
              </a:solidFill>
              <a:latin typeface="Calibri"/>
              <a:ea typeface="Calibri"/>
              <a:cs typeface="Calibri"/>
              <a:sym typeface="Calibri"/>
            </a:endParaRPr>
          </a:p>
        </p:txBody>
      </p:sp>
      <p:sp>
        <p:nvSpPr>
          <p:cNvPr id="396" name="Google Shape;396;g2656a8d398b_0_402"/>
          <p:cNvSpPr txBox="1"/>
          <p:nvPr/>
        </p:nvSpPr>
        <p:spPr>
          <a:xfrm>
            <a:off x="408025" y="2713900"/>
            <a:ext cx="7212300" cy="1139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100" b="1">
                <a:latin typeface="Calibri"/>
                <a:ea typeface="Calibri"/>
                <a:cs typeface="Calibri"/>
                <a:sym typeface="Calibri"/>
              </a:rPr>
              <a:t>Genomes. 2nd edition., Chapter 1: The Human Genome</a:t>
            </a:r>
            <a:endParaRPr sz="3100" b="1">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1241</Words>
  <Application>Microsoft Office PowerPoint</Application>
  <PresentationFormat>On-screen Show (4:3)</PresentationFormat>
  <Paragraphs>114</Paragraphs>
  <Slides>24</Slides>
  <Notes>23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Calibri</vt:lpstr>
      <vt:lpstr>Times</vt:lpstr>
      <vt:lpstr>Arial</vt:lpstr>
      <vt:lpstr>Roboto Medium</vt:lpstr>
      <vt:lpstr>Nunito</vt:lpstr>
      <vt:lpstr>Shift</vt:lpstr>
      <vt:lpstr>PowerPoint Presentation</vt:lpstr>
      <vt:lpstr>Bio-macromolecules: DNA- Building block of life</vt:lpstr>
      <vt:lpstr>Bio-macromolecules: DNA- Building block of life</vt:lpstr>
      <vt:lpstr>Bio-macromolecules: DNA- Building block of life</vt:lpstr>
      <vt:lpstr>Bio-macromolecules: Code- Computer or DNA</vt:lpstr>
      <vt:lpstr>Bio-macromolecules: Code- Computer or DNA</vt:lpstr>
      <vt:lpstr>Genome: The Book of Life</vt:lpstr>
      <vt:lpstr>Types of DNA</vt:lpstr>
      <vt:lpstr>Conditions Favoring A-form, B-form, and Z-form of DNA</vt:lpstr>
      <vt:lpstr>Brief history behind the discovery of DNA</vt:lpstr>
      <vt:lpstr>DNA as genetic material</vt:lpstr>
      <vt:lpstr>The human genome project</vt:lpstr>
      <vt:lpstr>Evolution of sequencing technologies</vt:lpstr>
      <vt:lpstr>Each genome has a unique story!</vt:lpstr>
      <vt:lpstr>PowerPoint Presentation</vt:lpstr>
      <vt:lpstr>Genes get altered: Mutations</vt:lpstr>
      <vt:lpstr>Genes get altered: Mutations</vt:lpstr>
      <vt:lpstr>Why the change matter to us?</vt:lpstr>
      <vt:lpstr>Bio-macromolecules: DNA- Learning from the structure</vt:lpstr>
      <vt:lpstr>Have you heard DNA??</vt:lpstr>
      <vt:lpstr>How to take care of large amount of digital information?</vt:lpstr>
      <vt:lpstr>Science or Fiction</vt:lpstr>
      <vt:lpstr>DNA of things – DoT</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EMBL</dc:creator>
  <cp:lastModifiedBy>AYAN SADHUKHAN</cp:lastModifiedBy>
  <cp:revision>6</cp:revision>
  <dcterms:created xsi:type="dcterms:W3CDTF">2008-02-05T04:18:24Z</dcterms:created>
  <dcterms:modified xsi:type="dcterms:W3CDTF">2025-09-09T10:01:34Z</dcterms:modified>
</cp:coreProperties>
</file>