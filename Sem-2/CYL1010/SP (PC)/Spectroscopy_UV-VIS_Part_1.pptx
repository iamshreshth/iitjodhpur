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90" r:id="rId2"/>
    <p:sldId id="291" r:id="rId3"/>
    <p:sldId id="295" r:id="rId4"/>
    <p:sldId id="292" r:id="rId5"/>
    <p:sldId id="257" r:id="rId6"/>
    <p:sldId id="294" r:id="rId7"/>
    <p:sldId id="293" r:id="rId8"/>
    <p:sldId id="256" r:id="rId9"/>
    <p:sldId id="258" r:id="rId10"/>
    <p:sldId id="259" r:id="rId11"/>
    <p:sldId id="260" r:id="rId12"/>
    <p:sldId id="266" r:id="rId13"/>
    <p:sldId id="267" r:id="rId14"/>
    <p:sldId id="268" r:id="rId15"/>
    <p:sldId id="263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FA4BC7-3A74-445F-9D87-DF8D58738629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71EEE-69DF-4F31-BBFA-ECD4D5EAC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58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71EEE-69DF-4F31-BBFA-ECD4D5EAC4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41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37522-C40B-4F2F-8DB3-E5DEA5FEC8B1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72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69315-64D3-450A-BBB4-A7E25CEC15F5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10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0F9EB-842C-4C29-9EED-E4A0664DE441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784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C55A-D395-4ED1-AD97-0C2DAF912A5D}" type="datetime1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92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38BC-CC30-45CA-AEF0-57FF1CD2BFB8}" type="datetime1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37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19D5E-A098-42A9-AF20-52C48D220154}" type="datetime1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3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2A0F-1672-4E9A-91BD-86604E2C80D2}" type="datetime1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002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2AB70-83C8-446E-95C7-EAC8AC7C30A4}" type="datetime1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89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9DCF-B9D7-42CD-9713-9388A3F1A930}" type="datetime1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952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EFD5-ABA2-49E7-9A66-3EDA98C75AA0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847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AF77-8324-4B93-BD5C-064C79DC200A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43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3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28560" y="1825560"/>
            <a:ext cx="7886430" cy="4350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2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5009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3B913-D065-4286-9EC4-54673DE836F7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91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amanwita@iitj.ac.in" TargetMode="External"/><Relationship Id="rId2" Type="http://schemas.openxmlformats.org/officeDocument/2006/relationships/hyperlink" Target="mailto:rks@iitj.ac.in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mailto:pmanikandan@iitj.ac.i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1918980" y="1600200"/>
            <a:ext cx="5091420" cy="106680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000" b="1" spc="-1" dirty="0">
                <a:solidFill>
                  <a:srgbClr val="000000"/>
                </a:solidFill>
                <a:latin typeface="Corbel Light"/>
                <a:ea typeface="Malgun Gothic Semilight"/>
              </a:rPr>
              <a:t>Chemistry (CYL1010)</a:t>
            </a:r>
            <a:br>
              <a:rPr sz="2000" dirty="0"/>
            </a:br>
            <a:br>
              <a:rPr sz="2000" dirty="0"/>
            </a:br>
            <a:r>
              <a:rPr lang="en-US" sz="2000" b="1" spc="-1" dirty="0">
                <a:solidFill>
                  <a:srgbClr val="000000"/>
                </a:solidFill>
                <a:latin typeface="Corbel Light" panose="020B0303020204020204" pitchFamily="34" charset="0"/>
                <a:ea typeface="Malgun Gothic Semilight"/>
              </a:rPr>
              <a:t>Slot: F (Mon 1 – 1:50, Tue 1- 1:50, Thu 1 – 1:50)</a:t>
            </a:r>
          </a:p>
          <a:p>
            <a:pPr algn="ctr">
              <a:lnSpc>
                <a:spcPct val="90000"/>
              </a:lnSpc>
            </a:pPr>
            <a:endParaRPr lang="en-US" sz="2000" b="1" spc="-1" dirty="0">
              <a:solidFill>
                <a:srgbClr val="000000"/>
              </a:solidFill>
              <a:latin typeface="Corbel Light" panose="020B0303020204020204" pitchFamily="34" charset="0"/>
              <a:ea typeface="Malgun Gothic Semilight"/>
            </a:endParaRPr>
          </a:p>
          <a:p>
            <a:pPr algn="ctr">
              <a:lnSpc>
                <a:spcPct val="90000"/>
              </a:lnSpc>
            </a:pPr>
            <a:endParaRPr lang="en-US" sz="2000" b="1" spc="-1" dirty="0">
              <a:solidFill>
                <a:srgbClr val="000000"/>
              </a:solidFill>
              <a:latin typeface="Corbel Light" panose="020B0303020204020204" pitchFamily="34" charset="0"/>
              <a:ea typeface="Malgun Gothic Semilight"/>
            </a:endParaRPr>
          </a:p>
          <a:p>
            <a:pPr algn="ctr">
              <a:lnSpc>
                <a:spcPct val="90000"/>
              </a:lnSpc>
            </a:pPr>
            <a:r>
              <a:rPr lang="en-US" sz="2000" b="1" spc="-1" dirty="0">
                <a:solidFill>
                  <a:srgbClr val="000000"/>
                </a:solidFill>
                <a:latin typeface="Corbel Light" panose="020B0303020204020204" pitchFamily="34" charset="0"/>
                <a:ea typeface="Malgun Gothic Semilight"/>
              </a:rPr>
              <a:t>Slot: N (Mon 4 – 4:50, Tue 8- 8:50, Thu 8 – 8:50)</a:t>
            </a:r>
            <a:br>
              <a:rPr sz="2000" dirty="0">
                <a:latin typeface="Corbel Light" panose="020B0303020204020204" pitchFamily="34" charset="0"/>
              </a:rPr>
            </a:br>
            <a:endParaRPr lang="en-US" sz="2000" spc="-1" dirty="0">
              <a:solidFill>
                <a:srgbClr val="000000"/>
              </a:solidFill>
              <a:latin typeface="Corbel Light" panose="020B0303020204020204" pitchFamily="34" charset="0"/>
            </a:endParaRPr>
          </a:p>
        </p:txBody>
      </p:sp>
      <p:sp>
        <p:nvSpPr>
          <p:cNvPr id="83" name="TextShape 2"/>
          <p:cNvSpPr txBox="1"/>
          <p:nvPr/>
        </p:nvSpPr>
        <p:spPr>
          <a:xfrm>
            <a:off x="1032300" y="3276600"/>
            <a:ext cx="7079400" cy="21832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  <a:spcBef>
                <a:spcPts val="751"/>
              </a:spcBef>
            </a:pPr>
            <a:r>
              <a:rPr lang="en-IN" sz="2000" b="1" u="sng" spc="-1" dirty="0">
                <a:solidFill>
                  <a:srgbClr val="000000"/>
                </a:solidFill>
                <a:latin typeface="Corbel Light"/>
              </a:rPr>
              <a:t>Dr. Rakesh K. Sharma (Email: </a:t>
            </a:r>
            <a:r>
              <a:rPr lang="en-IN" sz="2000" b="1" u="sng" spc="-1" dirty="0">
                <a:solidFill>
                  <a:srgbClr val="0563C1"/>
                </a:solidFill>
                <a:latin typeface="Corbel Light"/>
                <a:hlinkClick r:id="rId2"/>
              </a:rPr>
              <a:t>rks@iitj.ac.in</a:t>
            </a:r>
            <a:r>
              <a:rPr lang="en-IN" sz="2000" b="1" u="sng" spc="-1" dirty="0">
                <a:solidFill>
                  <a:srgbClr val="000000"/>
                </a:solidFill>
                <a:latin typeface="Corbel Light"/>
              </a:rPr>
              <a:t>) (Coordinator)</a:t>
            </a:r>
            <a:endParaRPr lang="en-IN" sz="2000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51"/>
              </a:spcBef>
            </a:pPr>
            <a:r>
              <a:rPr lang="en-IN" sz="2000" b="1" u="sng" spc="-1" dirty="0">
                <a:solidFill>
                  <a:srgbClr val="000000"/>
                </a:solidFill>
                <a:latin typeface="Corbel Light"/>
              </a:rPr>
              <a:t>Dr. Samanwita Pal (Email: </a:t>
            </a:r>
            <a:r>
              <a:rPr lang="en-IN" sz="2000" b="1" u="sng" spc="-1" dirty="0">
                <a:solidFill>
                  <a:srgbClr val="0563C1"/>
                </a:solidFill>
                <a:latin typeface="Corbel Light"/>
                <a:hlinkClick r:id="rId3"/>
              </a:rPr>
              <a:t>samanwita@iitj.ac.in</a:t>
            </a:r>
            <a:r>
              <a:rPr lang="en-IN" sz="2000" b="1" u="sng" spc="-1" dirty="0">
                <a:solidFill>
                  <a:srgbClr val="000000"/>
                </a:solidFill>
                <a:latin typeface="Corbel Light"/>
              </a:rPr>
              <a:t>) </a:t>
            </a:r>
            <a:endParaRPr lang="en-IN" sz="2000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51"/>
              </a:spcBef>
            </a:pPr>
            <a:r>
              <a:rPr lang="en-IN" sz="2000" b="1" u="sng" spc="-1" dirty="0">
                <a:solidFill>
                  <a:srgbClr val="000000"/>
                </a:solidFill>
                <a:latin typeface="Corbel Light"/>
              </a:rPr>
              <a:t>Dr. </a:t>
            </a:r>
            <a:r>
              <a:rPr lang="en-IN" sz="2000" b="1" u="sng" spc="-1" dirty="0" err="1">
                <a:solidFill>
                  <a:srgbClr val="000000"/>
                </a:solidFill>
                <a:latin typeface="Corbel Light"/>
              </a:rPr>
              <a:t>Koushambi</a:t>
            </a:r>
            <a:r>
              <a:rPr lang="en-IN" sz="2000" b="1" u="sng" spc="-1" dirty="0">
                <a:solidFill>
                  <a:srgbClr val="000000"/>
                </a:solidFill>
                <a:latin typeface="Corbel Light"/>
              </a:rPr>
              <a:t> Mitra (Email: kmitra</a:t>
            </a:r>
            <a:r>
              <a:rPr lang="en-IN" sz="2000" b="1" u="sng" spc="-1" dirty="0">
                <a:solidFill>
                  <a:srgbClr val="0563C1"/>
                </a:solidFill>
                <a:latin typeface="Corbel Light"/>
                <a:hlinkClick r:id="rId4"/>
              </a:rPr>
              <a:t>@iitj.ac.in</a:t>
            </a:r>
            <a:r>
              <a:rPr lang="en-IN" sz="2000" b="1" u="sng" spc="-1" dirty="0">
                <a:solidFill>
                  <a:srgbClr val="000000"/>
                </a:solidFill>
                <a:latin typeface="Corbel Light"/>
              </a:rPr>
              <a:t>) </a:t>
            </a:r>
            <a:endParaRPr lang="en-IN" sz="2000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51"/>
              </a:spcBef>
            </a:pPr>
            <a:endParaRPr lang="en-IN" sz="2000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51"/>
              </a:spcBef>
            </a:pPr>
            <a:r>
              <a:rPr lang="en-IN" sz="2000" spc="-1" dirty="0">
                <a:solidFill>
                  <a:srgbClr val="000000"/>
                </a:solidFill>
                <a:latin typeface="Corbel Light"/>
              </a:rPr>
              <a:t>Department of Chemistry, Indian Institute of Technology Jodhpur,</a:t>
            </a:r>
            <a:endParaRPr lang="en-IN" sz="2000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51"/>
              </a:spcBef>
            </a:pPr>
            <a:r>
              <a:rPr lang="en-IN" sz="2000" spc="-1" dirty="0">
                <a:solidFill>
                  <a:srgbClr val="000000"/>
                </a:solidFill>
                <a:latin typeface="Corbel Light"/>
              </a:rPr>
              <a:t>Jodhpur, Rajasthan, India – 342030.</a:t>
            </a:r>
            <a:endParaRPr lang="en-IN" sz="2000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51"/>
              </a:spcBef>
            </a:pPr>
            <a:endParaRPr lang="en-IN" sz="2000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0" y="857250"/>
            <a:ext cx="5752890" cy="5027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b="1" spc="-1" dirty="0">
                <a:solidFill>
                  <a:srgbClr val="000000"/>
                </a:solidFill>
                <a:latin typeface="Corbel Light"/>
              </a:rPr>
              <a:t>Course Plan</a:t>
            </a:r>
            <a:endParaRPr lang="en-US" sz="27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TextShape 2"/>
          <p:cNvSpPr txBox="1"/>
          <p:nvPr/>
        </p:nvSpPr>
        <p:spPr>
          <a:xfrm>
            <a:off x="628560" y="1594620"/>
            <a:ext cx="7601040" cy="244371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171450" indent="-17118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b="1" spc="-1">
                <a:solidFill>
                  <a:srgbClr val="000000"/>
                </a:solidFill>
                <a:latin typeface="Corbel Light"/>
              </a:rPr>
              <a:t>Evaluation Components</a:t>
            </a:r>
            <a:endParaRPr lang="en-US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751"/>
              </a:spcBef>
            </a:pPr>
            <a:endParaRPr lang="en-US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751"/>
              </a:spcBef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Line 3"/>
          <p:cNvSpPr/>
          <p:nvPr/>
        </p:nvSpPr>
        <p:spPr>
          <a:xfrm flipH="1">
            <a:off x="54000" y="1397250"/>
            <a:ext cx="8923500" cy="27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IN" sz="1350"/>
          </a:p>
        </p:txBody>
      </p:sp>
      <p:graphicFrame>
        <p:nvGraphicFramePr>
          <p:cNvPr id="88" name="Table 4"/>
          <p:cNvGraphicFramePr/>
          <p:nvPr>
            <p:extLst>
              <p:ext uri="{D42A27DB-BD31-4B8C-83A1-F6EECF244321}">
                <p14:modId xmlns:p14="http://schemas.microsoft.com/office/powerpoint/2010/main" val="3554914533"/>
              </p:ext>
            </p:extLst>
          </p:nvPr>
        </p:nvGraphicFramePr>
        <p:xfrm>
          <a:off x="1523880" y="2117340"/>
          <a:ext cx="6095790" cy="2659380"/>
        </p:xfrm>
        <a:graphic>
          <a:graphicData uri="http://schemas.openxmlformats.org/drawingml/2006/table">
            <a:tbl>
              <a:tblPr/>
              <a:tblGrid>
                <a:gridCol w="304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  <a:endParaRPr lang="en-IN" sz="1400" b="0" strike="noStrike" spc="-1">
                        <a:latin typeface="Arial"/>
                      </a:endParaRPr>
                    </a:p>
                  </a:txBody>
                  <a:tcPr marL="68580" marR="68580" marT="34290" marB="3429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r>
                        <a:rPr lang="en-IN" sz="14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ssignments</a:t>
                      </a:r>
                      <a:endParaRPr lang="en-IN" sz="1400" b="0" strike="noStrike" spc="-1" dirty="0">
                        <a:latin typeface="Arial"/>
                      </a:endParaRPr>
                    </a:p>
                  </a:txBody>
                  <a:tcPr marL="68580" marR="68580" marT="34290" marB="3429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strike="noStrike" spc="-1" dirty="0">
                          <a:latin typeface="Times New Roman"/>
                        </a:rPr>
                        <a:t>10 % </a:t>
                      </a:r>
                      <a:r>
                        <a:rPr lang="en-IN" sz="16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(3.33% from each instructors)</a:t>
                      </a:r>
                      <a:endParaRPr lang="en-IN" sz="1600" b="0" strike="noStrike" spc="-1" dirty="0">
                        <a:latin typeface="Times New Roman"/>
                      </a:endParaRPr>
                    </a:p>
                  </a:txBody>
                  <a:tcPr marL="68580" marR="68580" marT="34290" marB="3429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M</a:t>
                      </a:r>
                      <a:r>
                        <a:rPr lang="en-IN" sz="14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inor</a:t>
                      </a:r>
                      <a:endParaRPr lang="en-IN" sz="1400" b="0" strike="noStrike" spc="-1" dirty="0">
                        <a:latin typeface="Arial"/>
                      </a:endParaRPr>
                    </a:p>
                  </a:txBody>
                  <a:tcPr marL="68580" marR="68580" marT="34290" marB="3429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Times New Roman"/>
                        </a:rPr>
                        <a:t>3</a:t>
                      </a:r>
                      <a:r>
                        <a:rPr lang="en-IN" sz="1800" b="0" strike="noStrike" spc="-1" dirty="0">
                          <a:latin typeface="Times New Roman"/>
                        </a:rPr>
                        <a:t>0% </a:t>
                      </a:r>
                      <a:r>
                        <a:rPr lang="en-IN" sz="16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(KM 20% + SP 10%)</a:t>
                      </a:r>
                      <a:endParaRPr lang="en-IN" sz="1600" b="0" strike="noStrike" spc="-1" dirty="0">
                        <a:latin typeface="Times New Roman"/>
                      </a:endParaRPr>
                    </a:p>
                  </a:txBody>
                  <a:tcPr marL="68580" marR="68580" marT="34290" marB="3429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Major</a:t>
                      </a:r>
                      <a:endParaRPr lang="en-IN" sz="1400" b="0" strike="noStrike" spc="-1">
                        <a:latin typeface="Arial"/>
                      </a:endParaRPr>
                    </a:p>
                  </a:txBody>
                  <a:tcPr marL="68580" marR="68580" marT="34290" marB="3429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>
                          <a:latin typeface="Times New Roman"/>
                        </a:rPr>
                        <a:t>4</a:t>
                      </a:r>
                      <a:r>
                        <a:rPr lang="en-IN" sz="1800" b="0" strike="noStrike" spc="-1" dirty="0">
                          <a:latin typeface="Times New Roman"/>
                        </a:rPr>
                        <a:t>5% </a:t>
                      </a:r>
                      <a:r>
                        <a:rPr lang="en-IN" sz="16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(RKM 25% + SP 15% + KM 5%)</a:t>
                      </a:r>
                    </a:p>
                    <a:p>
                      <a:endParaRPr lang="en-IN" sz="1800" b="0" strike="noStrike" spc="-1" dirty="0">
                        <a:latin typeface="Times New Roman"/>
                      </a:endParaRPr>
                    </a:p>
                  </a:txBody>
                  <a:tcPr marL="68580" marR="68580" marT="34290" marB="3429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Continuous Evaluation</a:t>
                      </a:r>
                      <a:endParaRPr lang="en-IN" sz="1400" b="0" strike="noStrike" spc="-1">
                        <a:latin typeface="Arial"/>
                      </a:endParaRPr>
                    </a:p>
                  </a:txBody>
                  <a:tcPr marL="68580" marR="68580" marT="34290" marB="3429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strike="noStrike" spc="-1" dirty="0">
                          <a:latin typeface="Times New Roman"/>
                        </a:rPr>
                        <a:t>15 %(Quiz, etc.) </a:t>
                      </a:r>
                      <a:r>
                        <a:rPr lang="en-IN" sz="16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(RKM 5%, SP 5%, KM 5%)</a:t>
                      </a:r>
                      <a:endParaRPr lang="en-IN" sz="1600" b="0" strike="noStrike" spc="-1" dirty="0">
                        <a:latin typeface="Times New Roman"/>
                      </a:endParaRPr>
                    </a:p>
                  </a:txBody>
                  <a:tcPr marL="68580" marR="68580" marT="34290" marB="3429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DDF5A6-74E2-C929-1DA4-C35D80183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23104A-F138-A382-73EF-D715C2453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69" y="1359990"/>
            <a:ext cx="8398931" cy="2675766"/>
          </a:xfrm>
          <a:prstGeom prst="rect">
            <a:avLst/>
          </a:prstGeom>
        </p:spPr>
      </p:pic>
      <p:sp>
        <p:nvSpPr>
          <p:cNvPr id="5" name="TextShape 1">
            <a:extLst>
              <a:ext uri="{FF2B5EF4-FFF2-40B4-BE49-F238E27FC236}">
                <a16:creationId xmlns:a16="http://schemas.microsoft.com/office/drawing/2014/main" id="{30E51BF6-8E2E-F141-A1B8-7DDF269BD0CD}"/>
              </a:ext>
            </a:extLst>
          </p:cNvPr>
          <p:cNvSpPr txBox="1"/>
          <p:nvPr/>
        </p:nvSpPr>
        <p:spPr>
          <a:xfrm>
            <a:off x="0" y="857250"/>
            <a:ext cx="5752890" cy="5027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b="1" spc="-1" dirty="0">
                <a:solidFill>
                  <a:srgbClr val="000000"/>
                </a:solidFill>
                <a:latin typeface="Corbel Light"/>
              </a:rPr>
              <a:t>Course Content</a:t>
            </a:r>
            <a:endParaRPr lang="en-US" sz="2700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EF9EF2-2C6D-218A-1B5F-79AC608EC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343400"/>
            <a:ext cx="8686800" cy="1355784"/>
          </a:xfrm>
          <a:prstGeom prst="rect">
            <a:avLst/>
          </a:prstGeom>
          <a:solidFill>
            <a:schemeClr val="accent2"/>
          </a:solidFill>
        </p:spPr>
      </p:pic>
    </p:spTree>
    <p:extLst>
      <p:ext uri="{BB962C8B-B14F-4D97-AF65-F5344CB8AC3E}">
        <p14:creationId xmlns:p14="http://schemas.microsoft.com/office/powerpoint/2010/main" val="3490408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586F71-291B-881F-44D6-227541F4D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3E4E97-27FE-4817-CEFF-565AD4A49C45}"/>
              </a:ext>
            </a:extLst>
          </p:cNvPr>
          <p:cNvSpPr txBox="1"/>
          <p:nvPr/>
        </p:nvSpPr>
        <p:spPr>
          <a:xfrm>
            <a:off x="914400" y="1371600"/>
            <a:ext cx="73152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760">
              <a:tabLst>
                <a:tab pos="5648325" algn="l"/>
              </a:tabLst>
            </a:pPr>
            <a:r>
              <a:rPr lang="en-US" sz="2000" i="1" dirty="0">
                <a:effectLst/>
                <a:latin typeface="Candara" panose="020E0502030303020204" pitchFamily="34" charset="0"/>
                <a:ea typeface="Times New Roman" panose="02020603050405020304" pitchFamily="18" charset="0"/>
                <a:cs typeface="Candara" panose="020E0502030303020204" pitchFamily="34" charset="0"/>
              </a:rPr>
              <a:t>Basic Spectrosco</a:t>
            </a:r>
            <a:r>
              <a:rPr lang="en-US" sz="2000" dirty="0">
                <a:effectLst/>
                <a:latin typeface="Candara" panose="020E0502030303020204" pitchFamily="34" charset="0"/>
                <a:ea typeface="Times New Roman" panose="02020603050405020304" pitchFamily="18" charset="0"/>
                <a:cs typeface="Candara" panose="020E0502030303020204" pitchFamily="34" charset="0"/>
              </a:rPr>
              <a:t>py</a:t>
            </a:r>
            <a:r>
              <a:rPr lang="en-US" sz="2000" i="1" dirty="0">
                <a:effectLst/>
                <a:latin typeface="Candara" panose="020E0502030303020204" pitchFamily="34" charset="0"/>
                <a:ea typeface="Times New Roman" panose="02020603050405020304" pitchFamily="18" charset="0"/>
                <a:cs typeface="Candara" panose="020E0502030303020204" pitchFamily="34" charset="0"/>
              </a:rPr>
              <a:t>:</a:t>
            </a:r>
            <a:r>
              <a:rPr lang="en-US" sz="2000" dirty="0">
                <a:effectLst/>
                <a:latin typeface="Candara" panose="020E0502030303020204" pitchFamily="34" charset="0"/>
                <a:ea typeface="Times New Roman" panose="02020603050405020304" pitchFamily="18" charset="0"/>
                <a:cs typeface="Candara" panose="020E0502030303020204" pitchFamily="34" charset="0"/>
              </a:rPr>
              <a:t> Selection Rules, Fundamentals FTIR, Raman,</a:t>
            </a:r>
            <a:r>
              <a:rPr lang="en-US" sz="2000" dirty="0">
                <a:solidFill>
                  <a:srgbClr val="FF0000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  <a:cs typeface="Candara" panose="020E0502030303020204" pitchFamily="34" charset="0"/>
              </a:rPr>
              <a:t> UV-visible </a:t>
            </a:r>
            <a:r>
              <a:rPr lang="en-US" sz="2000" dirty="0">
                <a:effectLst/>
                <a:latin typeface="Candara" panose="020E0502030303020204" pitchFamily="34" charset="0"/>
                <a:ea typeface="Times New Roman" panose="02020603050405020304" pitchFamily="18" charset="0"/>
                <a:cs typeface="Candara" panose="020E0502030303020204" pitchFamily="34" charset="0"/>
              </a:rPr>
              <a:t>and Fluorescence spectroscopy, Examples from Organometallic chemistry (7-8 lectures)</a:t>
            </a:r>
          </a:p>
          <a:p>
            <a:pPr marL="111760">
              <a:tabLst>
                <a:tab pos="5648325" algn="l"/>
              </a:tabLst>
            </a:pPr>
            <a:endParaRPr lang="en-US" sz="2000" dirty="0">
              <a:latin typeface="Candara" panose="020E0502030303020204" pitchFamily="34" charset="0"/>
              <a:ea typeface="Times New Roman" panose="02020603050405020304" pitchFamily="18" charset="0"/>
            </a:endParaRPr>
          </a:p>
          <a:p>
            <a:pPr marL="111760">
              <a:tabLst>
                <a:tab pos="5648325" algn="l"/>
              </a:tabLst>
            </a:pPr>
            <a:r>
              <a:rPr lang="en-US" sz="2000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Text book: </a:t>
            </a:r>
          </a:p>
          <a:p>
            <a:pPr marL="111760">
              <a:tabLst>
                <a:tab pos="5648325" algn="l"/>
              </a:tabLst>
            </a:pPr>
            <a:endParaRPr lang="en-US" sz="2000" dirty="0">
              <a:effectLst/>
              <a:latin typeface="Candara" panose="020E0502030303020204" pitchFamily="34" charset="0"/>
              <a:ea typeface="Times New Roman" panose="02020603050405020304" pitchFamily="18" charset="0"/>
            </a:endParaRPr>
          </a:p>
          <a:p>
            <a:pPr marL="111760">
              <a:tabLst>
                <a:tab pos="5648325" algn="l"/>
              </a:tabLst>
            </a:pPr>
            <a:r>
              <a:rPr lang="en-US" sz="2000" b="0" strike="noStrike" spc="-1" baseline="30000" dirty="0" err="1">
                <a:solidFill>
                  <a:schemeClr val="tx2"/>
                </a:solidFill>
                <a:latin typeface="Candara" panose="020E0502030303020204" pitchFamily="34" charset="0"/>
              </a:rPr>
              <a:t>Banwell</a:t>
            </a:r>
            <a:r>
              <a:rPr lang="en-US" sz="2000" b="0" strike="noStrike" spc="-1" baseline="30000" dirty="0">
                <a:solidFill>
                  <a:schemeClr val="tx2"/>
                </a:solidFill>
                <a:latin typeface="Candara" panose="020E0502030303020204" pitchFamily="34" charset="0"/>
              </a:rPr>
              <a:t>, C. N., (2010) Fundamentals of Molecular Spectroscopy, Tata McGraw Hill</a:t>
            </a:r>
          </a:p>
          <a:p>
            <a:pPr marL="111760">
              <a:tabLst>
                <a:tab pos="5648325" algn="l"/>
              </a:tabLst>
            </a:pPr>
            <a:r>
              <a:rPr lang="en-US" sz="2000" b="0" strike="noStrike" spc="-1" baseline="30000" dirty="0">
                <a:solidFill>
                  <a:schemeClr val="tx2"/>
                </a:solidFill>
                <a:latin typeface="Candara" panose="020E0502030303020204" pitchFamily="34" charset="0"/>
              </a:rPr>
              <a:t>Pavia, D. L., et.al., (2015) Introduction to Spectroscopy, Cengage Learning</a:t>
            </a:r>
          </a:p>
          <a:p>
            <a:pPr marL="111760">
              <a:tabLst>
                <a:tab pos="5648325" algn="l"/>
              </a:tabLst>
            </a:pPr>
            <a:endParaRPr lang="en-US" sz="2000" b="0" strike="noStrike" spc="-1" baseline="30000" dirty="0">
              <a:solidFill>
                <a:schemeClr val="tx2"/>
              </a:solidFill>
              <a:latin typeface="Candara" panose="020E0502030303020204" pitchFamily="34" charset="0"/>
            </a:endParaRPr>
          </a:p>
          <a:p>
            <a:pPr algn="just">
              <a:tabLst>
                <a:tab pos="5648325" algn="l"/>
              </a:tabLst>
            </a:pPr>
            <a:r>
              <a:rPr lang="en-US" sz="2000" i="1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  </a:t>
            </a:r>
            <a:endParaRPr lang="en-IN" sz="2000" dirty="0">
              <a:effectLst/>
              <a:latin typeface="Candara" panose="020E0502030303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TextShape 1">
            <a:extLst>
              <a:ext uri="{FF2B5EF4-FFF2-40B4-BE49-F238E27FC236}">
                <a16:creationId xmlns:a16="http://schemas.microsoft.com/office/drawing/2014/main" id="{77C11836-0E5E-0DC3-17CA-E5346071E938}"/>
              </a:ext>
            </a:extLst>
          </p:cNvPr>
          <p:cNvSpPr txBox="1"/>
          <p:nvPr/>
        </p:nvSpPr>
        <p:spPr>
          <a:xfrm>
            <a:off x="152400" y="381000"/>
            <a:ext cx="5752890" cy="5027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b="1" spc="-1" dirty="0">
                <a:solidFill>
                  <a:srgbClr val="000000"/>
                </a:solidFill>
                <a:latin typeface="Corbel Light"/>
              </a:rPr>
              <a:t>Course Content to be discussed</a:t>
            </a:r>
            <a:endParaRPr lang="en-US" sz="2700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263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304800" y="609600"/>
            <a:ext cx="8534400" cy="5521035"/>
            <a:chOff x="304800" y="609600"/>
            <a:chExt cx="8534400" cy="552103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7" y="2444595"/>
              <a:ext cx="8534393" cy="18470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7" y="609600"/>
              <a:ext cx="8534393" cy="18470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" y="4293444"/>
              <a:ext cx="8534393" cy="1837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" name="TextBox 6"/>
          <p:cNvSpPr txBox="1"/>
          <p:nvPr/>
        </p:nvSpPr>
        <p:spPr>
          <a:xfrm>
            <a:off x="2133600" y="76200"/>
            <a:ext cx="5306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The electromagnetic spectrum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30635"/>
            <a:ext cx="2824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The energy unit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492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32C74-87E0-CD9B-AF00-221499D45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8FC58B0-6FF8-7586-461B-714FCBC60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987" y="1371600"/>
            <a:ext cx="6546026" cy="3233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BA0533-B76B-7D9C-F413-4D28D61DE68F}"/>
              </a:ext>
            </a:extLst>
          </p:cNvPr>
          <p:cNvSpPr txBox="1"/>
          <p:nvPr/>
        </p:nvSpPr>
        <p:spPr>
          <a:xfrm>
            <a:off x="2241073" y="609600"/>
            <a:ext cx="46618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Identification of Elements</a:t>
            </a:r>
          </a:p>
        </p:txBody>
      </p:sp>
    </p:spTree>
    <p:extLst>
      <p:ext uri="{BB962C8B-B14F-4D97-AF65-F5344CB8AC3E}">
        <p14:creationId xmlns:p14="http://schemas.microsoft.com/office/powerpoint/2010/main" val="918360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88AF9-E0AE-1CE3-138C-19F1796E5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 descr="A diagram of a chemical reaction&#10;&#10;Description automatically generated">
            <a:extLst>
              <a:ext uri="{FF2B5EF4-FFF2-40B4-BE49-F238E27FC236}">
                <a16:creationId xmlns:a16="http://schemas.microsoft.com/office/drawing/2014/main" id="{F4FBBDBB-CE20-F42D-0AD1-7911A28C0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204912"/>
            <a:ext cx="6096000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71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00200" y="1752600"/>
            <a:ext cx="678537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UV-</a:t>
            </a:r>
            <a:r>
              <a:rPr lang="en-US" sz="2800" dirty="0">
                <a:solidFill>
                  <a:srgbClr val="7030A0"/>
                </a:solidFill>
                <a:latin typeface="Comic Sans MS" pitchFamily="66" charset="0"/>
              </a:rPr>
              <a:t>V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I</a:t>
            </a:r>
            <a:r>
              <a:rPr lang="en-US" sz="2800" dirty="0">
                <a:solidFill>
                  <a:srgbClr val="00B0F0"/>
                </a:solidFill>
                <a:latin typeface="Comic Sans MS" pitchFamily="66" charset="0"/>
              </a:rPr>
              <a:t>S</a:t>
            </a:r>
            <a:r>
              <a:rPr lang="en-US" sz="2800" dirty="0">
                <a:solidFill>
                  <a:srgbClr val="00B050"/>
                </a:solidFill>
                <a:latin typeface="Comic Sans MS" pitchFamily="66" charset="0"/>
              </a:rPr>
              <a:t>I</a:t>
            </a:r>
            <a:r>
              <a:rPr lang="en-US" sz="2800" dirty="0">
                <a:solidFill>
                  <a:srgbClr val="FFFF00"/>
                </a:solidFill>
                <a:latin typeface="Comic Sans MS" pitchFamily="66" charset="0"/>
              </a:rPr>
              <a:t>B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</a:rPr>
              <a:t>L</a:t>
            </a:r>
            <a:r>
              <a:rPr lang="en-US" sz="2800" dirty="0">
                <a:solidFill>
                  <a:srgbClr val="FF0000"/>
                </a:solidFill>
                <a:latin typeface="Comic Sans MS" pitchFamily="66" charset="0"/>
              </a:rPr>
              <a:t>E</a:t>
            </a:r>
            <a:r>
              <a:rPr lang="en-US" sz="2800" dirty="0">
                <a:latin typeface="Comic Sans MS" pitchFamily="66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SPECTROSCOPY</a:t>
            </a:r>
          </a:p>
          <a:p>
            <a:pPr algn="ctr"/>
            <a:endParaRPr lang="en-US" sz="2800" dirty="0">
              <a:latin typeface="Comic Sans MS" pitchFamily="66" charset="0"/>
            </a:endParaRPr>
          </a:p>
          <a:p>
            <a:pPr algn="ctr"/>
            <a:endParaRPr lang="en-US" sz="2800" dirty="0">
              <a:latin typeface="Comic Sans MS" pitchFamily="66" charset="0"/>
            </a:endParaRPr>
          </a:p>
          <a:p>
            <a:pPr algn="ctr"/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-An Introductory lecture</a:t>
            </a:r>
          </a:p>
          <a:p>
            <a:pPr algn="ctr"/>
            <a:endParaRPr lang="en-US" sz="2800" dirty="0">
              <a:solidFill>
                <a:srgbClr val="0070C0"/>
              </a:solidFill>
              <a:latin typeface="Comic Sans MS" pitchFamily="66" charset="0"/>
            </a:endParaRPr>
          </a:p>
          <a:p>
            <a:pPr algn="ctr"/>
            <a:endParaRPr lang="en-US" sz="2800" dirty="0">
              <a:solidFill>
                <a:srgbClr val="0070C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152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32416" y="381000"/>
            <a:ext cx="69733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Principle of UV-VISIBLE spectroscopy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62000" y="1407616"/>
            <a:ext cx="8001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itchFamily="66" charset="0"/>
              </a:rPr>
              <a:t>Radiation and the molecule - Excitation of electronic transition</a:t>
            </a:r>
          </a:p>
          <a:p>
            <a:endParaRPr lang="en-US" sz="2400" dirty="0">
              <a:latin typeface="Comic Sans MS" pitchFamily="66" charset="0"/>
            </a:endParaRPr>
          </a:p>
          <a:p>
            <a:r>
              <a:rPr lang="en-US" sz="2400" dirty="0">
                <a:latin typeface="Comic Sans MS" pitchFamily="66" charset="0"/>
                <a:sym typeface="Symbol"/>
              </a:rPr>
              <a:t>Valence electrons – sigma (), pi () and non-bonded (n) </a:t>
            </a:r>
            <a:r>
              <a:rPr lang="en-US" sz="2400" dirty="0" err="1">
                <a:latin typeface="Comic Sans MS" pitchFamily="66" charset="0"/>
                <a:sym typeface="Symbol"/>
              </a:rPr>
              <a:t>orbitals</a:t>
            </a:r>
            <a:r>
              <a:rPr lang="en-US" sz="2400" dirty="0">
                <a:latin typeface="Comic Sans MS" pitchFamily="66" charset="0"/>
                <a:sym typeface="Symbol"/>
              </a:rPr>
              <a:t>.</a:t>
            </a:r>
          </a:p>
          <a:p>
            <a:endParaRPr lang="en-US" sz="2400" dirty="0">
              <a:latin typeface="Comic Sans MS" pitchFamily="66" charset="0"/>
              <a:sym typeface="Symbol"/>
            </a:endParaRPr>
          </a:p>
          <a:p>
            <a:endParaRPr lang="en-US" sz="2400" dirty="0">
              <a:latin typeface="Comic Sans MS" pitchFamily="66" charset="0"/>
              <a:sym typeface="Symbol"/>
            </a:endParaRPr>
          </a:p>
          <a:p>
            <a:endParaRPr lang="en-US" sz="2400" dirty="0">
              <a:latin typeface="Comic Sans MS" pitchFamily="66" charset="0"/>
              <a:sym typeface="Symbol"/>
            </a:endParaRPr>
          </a:p>
          <a:p>
            <a:endParaRPr lang="en-US" sz="2400" dirty="0">
              <a:latin typeface="Comic Sans MS" pitchFamily="66" charset="0"/>
              <a:sym typeface="Symbol"/>
            </a:endParaRPr>
          </a:p>
          <a:p>
            <a:r>
              <a:rPr lang="en-US" sz="2400" dirty="0">
                <a:latin typeface="Comic Sans MS" pitchFamily="66" charset="0"/>
                <a:sym typeface="Symbol"/>
              </a:rPr>
              <a:t>Formation of  and  </a:t>
            </a:r>
            <a:r>
              <a:rPr lang="en-US" sz="2400" dirty="0" err="1">
                <a:latin typeface="Comic Sans MS" pitchFamily="66" charset="0"/>
                <a:sym typeface="Symbol"/>
              </a:rPr>
              <a:t>orbitals</a:t>
            </a:r>
            <a:r>
              <a:rPr lang="en-US" sz="2400" dirty="0">
                <a:latin typeface="Comic Sans MS" pitchFamily="66" charset="0"/>
                <a:sym typeface="Symbol"/>
              </a:rPr>
              <a:t> – overlap of two atomic or hybrid </a:t>
            </a:r>
            <a:r>
              <a:rPr lang="en-US" sz="2400" dirty="0" err="1">
                <a:latin typeface="Comic Sans MS" pitchFamily="66" charset="0"/>
                <a:sym typeface="Symbol"/>
              </a:rPr>
              <a:t>orbitals</a:t>
            </a:r>
            <a:r>
              <a:rPr lang="en-US" sz="2400" dirty="0">
                <a:latin typeface="Comic Sans MS" pitchFamily="66" charset="0"/>
                <a:sym typeface="Symbol"/>
              </a:rPr>
              <a:t>. </a:t>
            </a:r>
            <a:endParaRPr lang="en-US" sz="2400" dirty="0">
              <a:latin typeface="Comic Sans MS" pitchFamily="66" charset="0"/>
            </a:endParaRP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3124200"/>
            <a:ext cx="3962400" cy="16419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33400" y="5867400"/>
            <a:ext cx="8079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mic Sans MS" pitchFamily="66" charset="0"/>
              </a:rPr>
              <a:t>What is the hybridization of carbon in formaldehyde?</a:t>
            </a:r>
          </a:p>
        </p:txBody>
      </p:sp>
    </p:spTree>
    <p:extLst>
      <p:ext uri="{BB962C8B-B14F-4D97-AF65-F5344CB8AC3E}">
        <p14:creationId xmlns:p14="http://schemas.microsoft.com/office/powerpoint/2010/main" val="3468471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160462"/>
            <a:ext cx="5791200" cy="44783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438400" y="5791200"/>
            <a:ext cx="1295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Comic Sans MS" pitchFamily="66" charset="0"/>
              </a:rPr>
              <a:t>Bonding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3853" y="5791200"/>
            <a:ext cx="1901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70C0"/>
                </a:solidFill>
                <a:latin typeface="Comic Sans MS" pitchFamily="66" charset="0"/>
              </a:rPr>
              <a:t>Antibonding</a:t>
            </a:r>
            <a:endParaRPr lang="en-US" sz="2400" dirty="0">
              <a:solidFill>
                <a:srgbClr val="0070C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81200" y="381000"/>
            <a:ext cx="5386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Sigma and pi molecular </a:t>
            </a:r>
            <a:r>
              <a:rPr lang="en-US" sz="2800" dirty="0" err="1">
                <a:solidFill>
                  <a:srgbClr val="0070C0"/>
                </a:solidFill>
                <a:latin typeface="Comic Sans MS" pitchFamily="66" charset="0"/>
              </a:rPr>
              <a:t>orbitals</a:t>
            </a:r>
            <a:endParaRPr lang="en-US" sz="2800" dirty="0">
              <a:solidFill>
                <a:srgbClr val="0070C0"/>
              </a:solidFill>
              <a:latin typeface="Comic Sans MS" pitchFamily="66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24200" y="647700"/>
            <a:ext cx="5943600" cy="5372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04800" y="152400"/>
            <a:ext cx="38138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Electronic transitions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54699" y="1752600"/>
            <a:ext cx="2969501" cy="4154984"/>
            <a:chOff x="154699" y="1344990"/>
            <a:chExt cx="2969501" cy="4154984"/>
          </a:xfrm>
        </p:grpSpPr>
        <p:sp>
          <p:nvSpPr>
            <p:cNvPr id="7" name="TextBox 6"/>
            <p:cNvSpPr txBox="1"/>
            <p:nvPr/>
          </p:nvSpPr>
          <p:spPr>
            <a:xfrm>
              <a:off x="154699" y="1344990"/>
              <a:ext cx="2969501" cy="4154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omic Sans MS" pitchFamily="66" charset="0"/>
                  <a:sym typeface="Symbol"/>
                </a:rPr>
                <a:t> </a:t>
              </a:r>
              <a:r>
                <a:rPr lang="en-US" sz="2400" dirty="0">
                  <a:solidFill>
                    <a:srgbClr val="0070C0"/>
                  </a:solidFill>
                  <a:latin typeface="Comic Sans MS" pitchFamily="66" charset="0"/>
                  <a:sym typeface="Symbol"/>
                </a:rPr>
                <a:t>n       </a:t>
              </a:r>
            </a:p>
            <a:p>
              <a:r>
                <a:rPr lang="en-US" sz="2400" dirty="0">
                  <a:solidFill>
                    <a:srgbClr val="0070C0"/>
                  </a:solidFill>
                  <a:latin typeface="Comic Sans MS" pitchFamily="66" charset="0"/>
                  <a:sym typeface="Symbol"/>
                </a:rPr>
                <a:t>&lt; 105kcal (&gt;270 nm) </a:t>
              </a:r>
            </a:p>
            <a:p>
              <a:endParaRPr lang="en-US" sz="2400" dirty="0">
                <a:solidFill>
                  <a:srgbClr val="0070C0"/>
                </a:solidFill>
                <a:latin typeface="Comic Sans MS" pitchFamily="66" charset="0"/>
                <a:sym typeface="Symbol"/>
              </a:endParaRPr>
            </a:p>
            <a:p>
              <a:r>
                <a:rPr lang="en-US" sz="2400" dirty="0">
                  <a:solidFill>
                    <a:srgbClr val="0070C0"/>
                  </a:solidFill>
                  <a:latin typeface="Comic Sans MS" pitchFamily="66" charset="0"/>
                  <a:sym typeface="Symbol"/>
                </a:rPr>
                <a:t> n       </a:t>
              </a:r>
            </a:p>
            <a:p>
              <a:r>
                <a:rPr lang="en-US" sz="2400" dirty="0">
                  <a:solidFill>
                    <a:srgbClr val="0070C0"/>
                  </a:solidFill>
                  <a:latin typeface="Comic Sans MS" pitchFamily="66" charset="0"/>
                  <a:sym typeface="Symbol"/>
                </a:rPr>
                <a:t>&lt; 150kcal (&gt; 185nm)</a:t>
              </a:r>
            </a:p>
            <a:p>
              <a:endParaRPr lang="en-US" sz="2400" dirty="0">
                <a:solidFill>
                  <a:srgbClr val="0070C0"/>
                </a:solidFill>
                <a:latin typeface="Comic Sans MS" pitchFamily="66" charset="0"/>
                <a:sym typeface="Symbol"/>
              </a:endParaRPr>
            </a:p>
            <a:p>
              <a:r>
                <a:rPr lang="en-US" sz="2400" dirty="0">
                  <a:solidFill>
                    <a:srgbClr val="0070C0"/>
                  </a:solidFill>
                  <a:latin typeface="Comic Sans MS" pitchFamily="66" charset="0"/>
                  <a:sym typeface="Symbol"/>
                </a:rPr>
                <a:t>       </a:t>
              </a:r>
            </a:p>
            <a:p>
              <a:r>
                <a:rPr lang="en-US" sz="2400" dirty="0">
                  <a:solidFill>
                    <a:srgbClr val="0070C0"/>
                  </a:solidFill>
                  <a:latin typeface="Comic Sans MS" pitchFamily="66" charset="0"/>
                  <a:sym typeface="Symbol"/>
                </a:rPr>
                <a:t>&lt; 170kcal (&gt; 165nm)</a:t>
              </a:r>
            </a:p>
            <a:p>
              <a:endParaRPr lang="en-US" sz="2400" dirty="0">
                <a:solidFill>
                  <a:srgbClr val="0070C0"/>
                </a:solidFill>
                <a:latin typeface="Comic Sans MS" pitchFamily="66" charset="0"/>
                <a:sym typeface="Symbol"/>
              </a:endParaRPr>
            </a:p>
            <a:p>
              <a:r>
                <a:rPr lang="en-US" sz="2400" dirty="0">
                  <a:solidFill>
                    <a:srgbClr val="0070C0"/>
                  </a:solidFill>
                  <a:latin typeface="Comic Sans MS" pitchFamily="66" charset="0"/>
                  <a:sym typeface="Symbol"/>
                </a:rPr>
                <a:t>       </a:t>
              </a:r>
            </a:p>
            <a:p>
              <a:r>
                <a:rPr lang="en-US" sz="2400" dirty="0">
                  <a:solidFill>
                    <a:srgbClr val="0070C0"/>
                  </a:solidFill>
                  <a:latin typeface="Comic Sans MS" pitchFamily="66" charset="0"/>
                  <a:sym typeface="Symbol"/>
                </a:rPr>
                <a:t>&gt; 170kcal (&lt; 165nm)</a:t>
              </a:r>
              <a:endParaRPr lang="en-US" sz="2400" b="1" dirty="0">
                <a:solidFill>
                  <a:srgbClr val="0070C0"/>
                </a:solidFill>
                <a:latin typeface="Comic Sans MS" pitchFamily="66" charset="0"/>
              </a:endParaRPr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533400" y="1600200"/>
              <a:ext cx="4572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>
              <a:off x="533400" y="2715002"/>
              <a:ext cx="4572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533400" y="4923832"/>
              <a:ext cx="457200" cy="255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533400" y="3810000"/>
              <a:ext cx="4572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Straight Arrow Connector 10"/>
          <p:cNvCxnSpPr/>
          <p:nvPr/>
        </p:nvCxnSpPr>
        <p:spPr>
          <a:xfrm>
            <a:off x="4038600" y="6172200"/>
            <a:ext cx="32766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07285" y="6173502"/>
            <a:ext cx="23793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Nuclear coordinates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660" y="152400"/>
            <a:ext cx="4399140" cy="3629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04800" y="152400"/>
            <a:ext cx="40030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The UV-VIS Spectrum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1722" y="5181600"/>
            <a:ext cx="321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omic Sans MS" pitchFamily="66" charset="0"/>
              </a:rPr>
              <a:t>No visible light absorption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5867400"/>
            <a:ext cx="8335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mic Sans MS" pitchFamily="66" charset="0"/>
              </a:rPr>
              <a:t>Can we make some critical comment about the spectrum?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117794"/>
            <a:ext cx="4548049" cy="2759006"/>
          </a:xfrm>
          <a:prstGeom prst="rect">
            <a:avLst/>
          </a:prstGeom>
          <a:noFill/>
          <a:ln w="9525">
            <a:solidFill>
              <a:schemeClr val="tx1">
                <a:alpha val="48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4557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ile:Franck-Condon-diagra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85800"/>
            <a:ext cx="4619625" cy="570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04800" y="152400"/>
            <a:ext cx="50481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The Franck-Condon Principle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14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 descr="http://www2.chemistry.msu.edu/faculty/reusch/VirtTxtJml/Spectrpy/Images/polyen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85800"/>
            <a:ext cx="5029200" cy="5799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562600" y="6089970"/>
            <a:ext cx="32678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http://www2.chemistry.msu.edu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12511" y="76200"/>
            <a:ext cx="3826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Effect of conjugation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383900"/>
              </p:ext>
            </p:extLst>
          </p:nvPr>
        </p:nvGraphicFramePr>
        <p:xfrm>
          <a:off x="5410200" y="1066800"/>
          <a:ext cx="350520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3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 gridSpan="2">
                  <a:txBody>
                    <a:bodyPr/>
                    <a:lstStyle/>
                    <a:p>
                      <a:r>
                        <a:rPr lang="en-US" dirty="0">
                          <a:latin typeface="Comic Sans MS" pitchFamily="66" charset="0"/>
                        </a:rPr>
                        <a:t>Nature</a:t>
                      </a:r>
                      <a:r>
                        <a:rPr lang="en-US" baseline="0" dirty="0">
                          <a:latin typeface="Comic Sans MS" pitchFamily="66" charset="0"/>
                        </a:rPr>
                        <a:t> of absorption shift</a:t>
                      </a:r>
                      <a:endParaRPr lang="en-US" dirty="0">
                        <a:latin typeface="Comic Sans MS" pitchFamily="66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r>
                        <a:rPr lang="en-US" dirty="0">
                          <a:latin typeface="Comic Sans MS" pitchFamily="66" charset="0"/>
                        </a:rPr>
                        <a:t>To longer wavelength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mic Sans MS" pitchFamily="66" charset="0"/>
                        </a:rPr>
                        <a:t>Bathochromic</a:t>
                      </a:r>
                      <a:r>
                        <a:rPr lang="en-US" baseline="0" dirty="0">
                          <a:latin typeface="Comic Sans MS" pitchFamily="66" charset="0"/>
                        </a:rPr>
                        <a:t> </a:t>
                      </a:r>
                      <a:endParaRPr lang="en-US" dirty="0">
                        <a:latin typeface="Comic Sans MS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r>
                        <a:rPr lang="en-US" dirty="0">
                          <a:latin typeface="Comic Sans MS" pitchFamily="66" charset="0"/>
                        </a:rPr>
                        <a:t>To shorter wavelength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mic Sans MS" pitchFamily="66" charset="0"/>
                        </a:rPr>
                        <a:t>Hypsochromic</a:t>
                      </a:r>
                      <a:r>
                        <a:rPr lang="en-US" dirty="0">
                          <a:latin typeface="Comic Sans MS" pitchFamily="66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r>
                        <a:rPr lang="en-US" dirty="0">
                          <a:latin typeface="Comic Sans MS" pitchFamily="66" charset="0"/>
                        </a:rPr>
                        <a:t>To higher absorbance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mic Sans MS" pitchFamily="66" charset="0"/>
                        </a:rPr>
                        <a:t>Hyperchromic</a:t>
                      </a:r>
                      <a:endParaRPr lang="en-US" dirty="0">
                        <a:latin typeface="Comic Sans MS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r>
                        <a:rPr lang="en-US" dirty="0">
                          <a:latin typeface="Comic Sans MS" pitchFamily="66" charset="0"/>
                        </a:rPr>
                        <a:t>To lower absorbance</a:t>
                      </a:r>
                      <a:r>
                        <a:rPr lang="en-US" baseline="0" dirty="0">
                          <a:latin typeface="Comic Sans MS" pitchFamily="66" charset="0"/>
                        </a:rPr>
                        <a:t> </a:t>
                      </a:r>
                      <a:endParaRPr lang="en-US" dirty="0">
                        <a:latin typeface="Comic Sans MS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mic Sans MS" pitchFamily="66" charset="0"/>
                        </a:rPr>
                        <a:t>Hypochromic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508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" y="152400"/>
            <a:ext cx="90460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Relation between absorbed light and observed colour</a:t>
            </a:r>
          </a:p>
        </p:txBody>
      </p:sp>
      <p:pic>
        <p:nvPicPr>
          <p:cNvPr id="3076" name="Picture 4" descr="http://www.sciencebuddies.org/Files/4261/5/Chem_img10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829" y="685800"/>
            <a:ext cx="4452771" cy="3638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4324350"/>
            <a:ext cx="8505825" cy="207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895600" y="6320135"/>
            <a:ext cx="3318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mic Sans MS" pitchFamily="66" charset="0"/>
              </a:rPr>
              <a:t>Can you predict </a:t>
            </a:r>
            <a:r>
              <a:rPr lang="en-US" sz="2400" dirty="0">
                <a:sym typeface="Symbol"/>
              </a:rPr>
              <a:t></a:t>
            </a:r>
            <a:r>
              <a:rPr lang="en-US" sz="2400" baseline="-25000" dirty="0">
                <a:sym typeface="Symbol"/>
              </a:rPr>
              <a:t>max  </a:t>
            </a:r>
            <a:r>
              <a:rPr lang="en-US" sz="2400" dirty="0">
                <a:solidFill>
                  <a:srgbClr val="FF0000"/>
                </a:solidFill>
                <a:sym typeface="Symbol"/>
              </a:rPr>
              <a:t>?</a:t>
            </a:r>
            <a:r>
              <a:rPr lang="en-US" sz="2400" dirty="0">
                <a:sym typeface="Symbol"/>
              </a:rPr>
              <a:t> </a:t>
            </a:r>
            <a:endParaRPr lang="en-US" sz="2400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44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2982" y="152400"/>
            <a:ext cx="3347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Laws of absorption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57200" y="1057497"/>
                <a:ext cx="8686800" cy="985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70C0"/>
                    </a:solidFill>
                    <a:latin typeface="Comic Sans MS" pitchFamily="66" charset="0"/>
                  </a:rPr>
                  <a:t>1) Lambert’s law: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𝐼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𝐼</m:t>
                        </m:r>
                        <m:r>
                          <a:rPr lang="en-US" sz="2400" i="1" baseline="-25000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den>
                    </m:f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𝑇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Comic Sans MS" pitchFamily="66" charset="0"/>
                </a:endParaRPr>
              </a:p>
              <a:p>
                <a:endParaRPr lang="en-US" sz="2400" dirty="0">
                  <a:solidFill>
                    <a:srgbClr val="0070C0"/>
                  </a:solidFill>
                  <a:latin typeface="Comic Sans MS" pitchFamily="66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57497"/>
                <a:ext cx="8686800" cy="985719"/>
              </a:xfrm>
              <a:prstGeom prst="rect">
                <a:avLst/>
              </a:prstGeom>
              <a:blipFill rotWithShape="1">
                <a:blip r:embed="rId2"/>
                <a:stretch>
                  <a:fillRect l="-1053" b="-13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95745" y="1752600"/>
            <a:ext cx="830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Comic Sans MS" pitchFamily="66" charset="0"/>
              </a:rPr>
              <a:t>I: Intensity of transmitted light; I</a:t>
            </a:r>
            <a:r>
              <a:rPr lang="en-US" sz="2000" baseline="-25000" dirty="0">
                <a:solidFill>
                  <a:srgbClr val="00B050"/>
                </a:solidFill>
                <a:latin typeface="Comic Sans MS" pitchFamily="66" charset="0"/>
              </a:rPr>
              <a:t>0</a:t>
            </a:r>
            <a:r>
              <a:rPr lang="en-US" sz="2000" dirty="0">
                <a:solidFill>
                  <a:srgbClr val="00B050"/>
                </a:solidFill>
                <a:latin typeface="Comic Sans MS" pitchFamily="66" charset="0"/>
              </a:rPr>
              <a:t> : Intensity of incident light</a:t>
            </a:r>
          </a:p>
          <a:p>
            <a:r>
              <a:rPr lang="en-US" sz="2000" dirty="0">
                <a:solidFill>
                  <a:srgbClr val="00B050"/>
                </a:solidFill>
                <a:latin typeface="Comic Sans MS" pitchFamily="66" charset="0"/>
              </a:rPr>
              <a:t>T: Transmittance</a:t>
            </a:r>
            <a:endParaRPr lang="en-US" sz="2000" baseline="-25000" dirty="0">
              <a:solidFill>
                <a:srgbClr val="00B050"/>
              </a:solidFill>
              <a:latin typeface="Comic Sans MS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36418" y="2667000"/>
                <a:ext cx="84582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70C0"/>
                    </a:solidFill>
                    <a:latin typeface="Comic Sans MS" pitchFamily="66" charset="0"/>
                  </a:rPr>
                  <a:t>2) Beer’s law: </a:t>
                </a:r>
                <a:r>
                  <a:rPr lang="en-US" sz="2400" dirty="0">
                    <a:solidFill>
                      <a:srgbClr val="00B050"/>
                    </a:solidFill>
                    <a:latin typeface="Comic Sans MS" pitchFamily="66" charset="0"/>
                  </a:rPr>
                  <a:t>Absorption of light is directly proportional to the concentration and thickness of the absorbing media.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sz="2400" dirty="0">
                  <a:solidFill>
                    <a:srgbClr val="00B050"/>
                  </a:solidFill>
                  <a:latin typeface="Comic Sans MS" pitchFamily="66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18" y="2667000"/>
                <a:ext cx="8458200" cy="1200329"/>
              </a:xfrm>
              <a:prstGeom prst="rect">
                <a:avLst/>
              </a:prstGeom>
              <a:blipFill rotWithShape="1">
                <a:blip r:embed="rId3"/>
                <a:stretch>
                  <a:fillRect l="-1154" t="-4082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36418" y="4328232"/>
                <a:ext cx="84582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70C0"/>
                    </a:solidFill>
                    <a:latin typeface="Comic Sans MS" pitchFamily="66" charset="0"/>
                  </a:rPr>
                  <a:t>3) Beer-Lambert law: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𝐴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𝜀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𝑐𝑙</m:t>
                    </m:r>
                  </m:oMath>
                </a14:m>
                <a:endParaRPr lang="en-US" sz="2400" b="0" dirty="0">
                  <a:solidFill>
                    <a:srgbClr val="0070C0"/>
                  </a:solidFill>
                  <a:latin typeface="Comic Sans MS" pitchFamily="66" charset="0"/>
                  <a:ea typeface="Cambria Math"/>
                </a:endParaRPr>
              </a:p>
              <a:p>
                <a:r>
                  <a:rPr lang="en-US" sz="2400" dirty="0">
                    <a:solidFill>
                      <a:srgbClr val="00B050"/>
                    </a:solidFill>
                    <a:latin typeface="Comic Sans MS" pitchFamily="66" charset="0"/>
                  </a:rPr>
                  <a:t>               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𝐴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=−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𝑙𝑜𝑔</m:t>
                    </m:r>
                    <m:f>
                      <m:fPr>
                        <m:type m:val="skw"/>
                        <m:ctrlP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𝐼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𝐼</m:t>
                        </m:r>
                        <m:r>
                          <a:rPr lang="en-US" sz="2400" b="0" i="1" baseline="-2500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den>
                    </m:f>
                  </m:oMath>
                </a14:m>
                <a:endParaRPr lang="en-US" sz="2400" dirty="0">
                  <a:solidFill>
                    <a:srgbClr val="00B050"/>
                  </a:solidFill>
                  <a:latin typeface="Comic Sans MS" pitchFamily="66" charset="0"/>
                </a:endParaRPr>
              </a:p>
              <a:p>
                <a:endParaRPr lang="en-US" sz="2400" dirty="0">
                  <a:solidFill>
                    <a:srgbClr val="00B050"/>
                  </a:solidFill>
                  <a:latin typeface="Comic Sans MS" pitchFamily="66" charset="0"/>
                </a:endParaRPr>
              </a:p>
              <a:p>
                <a:r>
                  <a:rPr lang="en-US" sz="2400" dirty="0">
                    <a:solidFill>
                      <a:srgbClr val="00B050"/>
                    </a:solidFill>
                    <a:latin typeface="Comic Sans MS" pitchFamily="66" charset="0"/>
                  </a:rPr>
                  <a:t> </a:t>
                </a:r>
                <a:r>
                  <a:rPr lang="en-US" sz="2400" i="1" dirty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US" sz="2400" dirty="0">
                    <a:solidFill>
                      <a:srgbClr val="00B050"/>
                    </a:solidFill>
                    <a:latin typeface="Comic Sans MS" pitchFamily="66" charset="0"/>
                  </a:rPr>
                  <a:t> = absorbance; </a:t>
                </a:r>
                <a:r>
                  <a:rPr lang="en-US" sz="2400" i="1" dirty="0">
                    <a:solidFill>
                      <a:srgbClr val="00B050"/>
                    </a:solidFill>
                    <a:latin typeface="Comic Sans MS" pitchFamily="66" charset="0"/>
                    <a:sym typeface="Symbol"/>
                  </a:rPr>
                  <a:t></a:t>
                </a:r>
                <a:r>
                  <a:rPr lang="en-US" sz="2400" dirty="0">
                    <a:solidFill>
                      <a:srgbClr val="00B050"/>
                    </a:solidFill>
                    <a:latin typeface="Comic Sans MS" pitchFamily="66" charset="0"/>
                    <a:sym typeface="Symbol"/>
                  </a:rPr>
                  <a:t> = molar absorptivity/molar extinction coefficient; </a:t>
                </a:r>
                <a:r>
                  <a:rPr lang="en-US" sz="2400" i="1" dirty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  <a:sym typeface="Symbol"/>
                  </a:rPr>
                  <a:t>c</a:t>
                </a:r>
                <a:r>
                  <a:rPr lang="en-US" sz="2400" dirty="0">
                    <a:solidFill>
                      <a:srgbClr val="00B050"/>
                    </a:solidFill>
                    <a:latin typeface="Comic Sans MS" pitchFamily="66" charset="0"/>
                    <a:sym typeface="Symbol"/>
                  </a:rPr>
                  <a:t> = concentration; </a:t>
                </a:r>
                <a:r>
                  <a:rPr lang="en-US" sz="2400" i="1" dirty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  <a:sym typeface="Symbol"/>
                  </a:rPr>
                  <a:t>l</a:t>
                </a:r>
                <a:r>
                  <a:rPr lang="en-US" sz="2400" dirty="0">
                    <a:solidFill>
                      <a:srgbClr val="00B050"/>
                    </a:solidFill>
                    <a:latin typeface="Comic Sans MS" pitchFamily="66" charset="0"/>
                    <a:sym typeface="Symbol"/>
                  </a:rPr>
                  <a:t> = path length</a:t>
                </a:r>
                <a:endParaRPr lang="en-US" sz="2400" dirty="0">
                  <a:solidFill>
                    <a:srgbClr val="00B050"/>
                  </a:solidFill>
                  <a:latin typeface="Comic Sans MS" pitchFamily="66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18" y="4328232"/>
                <a:ext cx="8458200" cy="1938992"/>
              </a:xfrm>
              <a:prstGeom prst="rect">
                <a:avLst/>
              </a:prstGeom>
              <a:blipFill rotWithShape="1">
                <a:blip r:embed="rId4"/>
                <a:stretch>
                  <a:fillRect l="-1154" t="-11006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30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12691</TotalTime>
  <Words>521</Words>
  <Application>Microsoft Office PowerPoint</Application>
  <PresentationFormat>On-screen Show (4:3)</PresentationFormat>
  <Paragraphs>104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Cambria Math</vt:lpstr>
      <vt:lpstr>Candara</vt:lpstr>
      <vt:lpstr>Comic Sans MS</vt:lpstr>
      <vt:lpstr>Corbel Light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iitj</dc:creator>
  <cp:lastModifiedBy>Samanwita pal</cp:lastModifiedBy>
  <cp:revision>135</cp:revision>
  <dcterms:created xsi:type="dcterms:W3CDTF">2013-02-05T09:27:55Z</dcterms:created>
  <dcterms:modified xsi:type="dcterms:W3CDTF">2026-01-12T06:29:01Z</dcterms:modified>
</cp:coreProperties>
</file>